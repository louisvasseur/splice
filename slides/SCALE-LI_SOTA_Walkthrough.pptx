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purpose, not the implementation. Say: I organized the existing approaches and their evidence so we can agree on a baseline before choosing a new contribution. The custom compressed map is one experimental control, not a replacement for the state of the art. Spend about 30 seconds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three labels once. Published means a number is taken from a paper in its own experimental setup. Teaching means independently written code that explains a mechanism, not an implementation of that paper. Local measurement means compiled code was actually executed on the bundled synthetic fixture. RadixSpline is source-derived but not an exact commit-pinned checkout. There is no complete upstream ALEX, PGM, NFL or CSV reproduction in this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history as parallel design choices. Early work learns rank; later work adds explicit error bounds and cheaper construction. Dynamic indexes change placement and maintenance. Another branch compresses representations. NFL and CSV change what the models see. Recent work strengthens robustness evaluation. Publication order is not a universal performance ranking.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use case is an ordered map over integer keys: find a record or scan its successors. The live fixture contains 16,384 synthetic, distinct uint64 keys. The plot shows only the first 1,024 records to expose local density changes. These are not Facebook or OpenStreetMap data. Lesson 01 loads this exact checksummed file. Rank is the position in sorted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lesson 01. A root prediction selects a leaf model, then the leaf predicts a rank and an exact expanding-window search resolves the answer. The capacity sweep changes the leaf count while keeping the keys fixed. The root is additional. It measures mean absolute fitting error, not throughput or total model memory. This is our teaching model, not the original RMI implementation. Every stored key and a selection of missing keys are checked against bisect.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FITing-Tree makes the error tolerance an explicit control. A tighter tolerance can require more segments but reduce final correction work. The paper also supplies a cost model for choosing the parameter. Do not imply that our two-stage model implements FITing-Tree. There is no local FITing-Tree executable in this pack. The next native demonstration uses RadixSpline to illustrate bounded final 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PGM recursively indexes the keys identifying its linear segments. The paper includes static, dynamic and compressed-model variants. The important distinction for this project is that compressing model parameters is not the same as compressing stored keys. The inherited Dynamic PGM adapter has not been compiled and tested against its upstream implementation here; it is an integration starting point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python3 walkthrough.py demo 02. The code is transcribed from three small MIT-licensed RadixSpline headers, with provenance disclosed. It is not a byte-identical, commit-pinned source checkout or a reproduction of the full SOSD experiment. There are 16,384 keys and 100,000 queries; epsilon is 32 and radix bits is 10. The largest returned search interval contains 66 keys in this implementation. All query results are checked against std::lower_bound. Five warmed repeats use the same process and trace, so they are not five independent performance trials. Memory here excludes payloads because the contract is keys-only lower_bound.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ALEX uses gapped data nodes and structural adaptation to accommodate writes. LIPP focuses on predicted placement and additional nodes for collisions. Explain the contrasting mechanisms, not a winner. Neither system is executed in this release. Our experimental sorted overlay and regional rebuild are not a reproduction of either. Ask how insertion order, initial sampling and domain growth should be included in later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lesson 03 and NFL Table 1 on page 3 of the supplied paper. ALEX on Facebook is reported at 4.13 Mops/s without NF and 9.16 with NF; maximum tree height is 11 versus 3. This is not the paper's overall NFL-versus-all-baselines comparison. Table 1 does not state its exact operation mix or batch size, so do not silently borrow settings from later experiments. The lesson recomputes source-table arithmetic; it does not train or execute a 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NFL Table 2 reports transformation-only average costs for its 2H2L model: 169.53 ns/key at batch size 1, and 8.38 at batch size 256. These are not complete query times. Separately, the paper defines its reported P99 as a batch-latency percentile divided by batch size. That is not the P99 of individual request latencies. The paper also reports cases where transformation overhead offsets improved indexing. This motivates measuring total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 to the parallel compression branch. LA-vector combines a learned compressed representation with exact rank/select. LeCo models serial relationships and stores lossless residuals with random access. Its reported up-to-16% Seek throughput gain comes from the RocksDB experiment against the second-best tested configuration: 900 million generated records, 20-byte keys, 400-byte values and 64 threads. It is not a predicted benefit for our small in-memory map. Neither LA-vector nor LeCo is reproduced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lesson 04. The custom map is useful as an attribution experiment: compare raw/rank with packed/rank, then packed/rank with packed/byte, and use packed/binary as a control. Keys, partitions and operation traces are matched. The new dataset is the bundled binary fixture, not the old C++-generated archive. Three seeds each run 10,000 read-only operations after a full load. Memory includes values and metadata. The compact layout is slower here; do not hide that. This is not a SOTA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CSV inserts virtual positions and refits models, then applies a cost condition to selected subtree reconstructions. Explain the single-model and hierarchical steps separately. Its reported up-to-34% query-time reduction concerns promoted keys; each queried key is repeated 100 times and averaged. ALEX preprocessing at alpha 0.1 ranges from 889 to 2,902 seconds across the four datasets. The maximum query improvement and these fixed-alpha costs are not claimed to be one matched setting. The attached paper's date labels are inconsistent; retain its supplied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python3 walkthrough.py demo 05. First say that these are our ten keys and a budget of three, not the paper's Figure 2 or Table 2. Greedy selection and exhaustive enumeration optimize augmented-set OLS SSE; original-key SSE is retained separately. Exhaustive enumeration checks 1,351 subsets. The greedy result is close to, but not equal to, the best result in that finite space. These are fitting errors, not query-time improvements. This is not the optimized CSV Algorithm 1 or hierarchical Algorithm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lesson 06's geometry table. Verify that rank-normalized error is identical across layouts for the same keys and partitions. The normalized byte error decreases, but initial block displacement gets worse on this fixture. The plot shows block displacement only, not a mixture of units. These numbers differ from the earlier archive because the binary fixture is different. The lesson is to optimize actual search cost rather than assume a smoother byte curve is sufficient.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separate update-control table in lesson 06. Both variants have the same trace, byte router, 75% initial load and 10,000 read-heavy operations. They each record 25 compactions here. Insert P99 is about 173.6 microseconds for raw and 273.5 for packed on the recorded Linux run. Your Mac timings will differ. Synchronous rebuilding is included in the triggering operation. Remaining maintenance is drained and reported separately. Profiling is still needed to allocate time among decoding, allocation, copying, fitting and rewriting.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Recent evaluations argue for stronger baselines and workload variation. The SEA 2025 comparison includes optimized traditional and compressed methods. RoBin varies initial sampling, initial size and insertion order; its article is dated September 2025 even though the linked filename refers to SIGMOD 2026. LINE is a June 2026 paper: group-enhanced leaves, a cache-optimized inner tree and group-wise migrations address local hardness and maintenance tails. These are literature coverage, not new local reproductions or a universal ranking.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status slide explicitly. The chronological meeting package, paper evidence and runnable lessons are ready. The full common-data, commit-pinned upstream SOTA comparison is not. The native RadixSpline-derived code and custom map have passed checks, but that does not stand in for reproducing all other systems. No real-data performance results have been produced in this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asking for concrete scope decisions: the common API contract, the mandatory implementations, and the first real datasets. Propose one commit-pinned static comparison with a strong conventional baseline before moving to mutable point/scan/update workloads. Agree on memory accounting, exactness, tail latency and maintenance debt. This is a proposed milestone, not a claim that the work has already been completed.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navigation appendix. The command for any stage is python3 walkthrough.py demo followed by its two-digit lesson ID. The report gives the figure, raw result, environment and a repeat command. Lesson 03 recomputes paper arithmetic. Lesson 07 audits archived data; neither is a new performance reproduction. Use the saved report instead of running everything during the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new scaleli_sota folder, not the older Downloads/scaleli folder. Before the meeting run prepare, then demo all, and open the local report. Prepare builds and runs three CTest entries plus twelve Python test methods. During the meeting limit live work to lessons 02, 05 and optionally 06. The deck charts reflect results/saved and do not automatically change after a Mac rerun. If setup fails, use the saved report and PDF. Do not debug a new dependency installation in front of the supervisor.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Foundation references. All URLs and bibliographic context are in sources/registry.json. The local runtime covers only the subset listed in the status matrix. Mentioning a source does not imply its implementation was run. The two uploaded papers are also preserved as PDFs for offline inspection.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Transformation, compression and robustness references. The original supplied NFL and CSV versions define the cited numeric results. Published timings must stay attached to their datasets, workload and machine. The new native numbers have their own raw results and validation logs. Do not combine them into a cross-paper leaderboard.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46888"/>
            <a:ext cx="10424160" cy="201168"/>
          </a:xfrm>
          <a:prstGeom prst="rect">
            <a:avLst/>
          </a:prstGeom>
          <a:noFill/>
          <a:ln/>
        </p:spPr>
        <p:txBody>
          <a:bodyPr wrap="square" lIns="0" tIns="0" rIns="0" bIns="0" rtlCol="0" anchor="ctr">
            <a:normAutofit/>
          </a:bodyPr>
          <a:lstStyle/>
          <a:p>
            <a:pPr indent="0" marL="0">
              <a:buNone/>
            </a:pPr>
            <a:r>
              <a:rPr lang="en-US" sz="1000" b="1" spc="110" kern="0" dirty="0">
                <a:solidFill>
                  <a:srgbClr val="11727B"/>
                </a:solidFill>
                <a:latin typeface="Aptos" pitchFamily="34" charset="0"/>
                <a:ea typeface="Aptos" pitchFamily="34" charset="-122"/>
                <a:cs typeface="Aptos" pitchFamily="34" charset="-120"/>
              </a:rPr>
              <a:t>FIRST SUPERVISOR MEETING</a:t>
            </a:r>
            <a:endParaRPr lang="en-US" sz="1000" dirty="0"/>
          </a:p>
        </p:txBody>
      </p:sp>
      <p:sp>
        <p:nvSpPr>
          <p:cNvPr id="3" name="Text 1"/>
          <p:cNvSpPr/>
          <p:nvPr/>
        </p:nvSpPr>
        <p:spPr>
          <a:xfrm>
            <a:off x="548640" y="640080"/>
            <a:ext cx="11064240" cy="603504"/>
          </a:xfrm>
          <a:prstGeom prst="rect">
            <a:avLst/>
          </a:prstGeom>
          <a:noFill/>
          <a:ln/>
        </p:spPr>
        <p:txBody>
          <a:bodyPr wrap="square" lIns="0" tIns="0" rIns="0" bIns="0" rtlCol="0" anchor="ctr">
            <a:normAutofit/>
          </a:bodyPr>
          <a:lstStyle/>
          <a:p>
            <a:pPr indent="0" marL="0">
              <a:buNone/>
            </a:pPr>
            <a:r>
              <a:rPr lang="en-US" sz="3000" b="1" dirty="0">
                <a:solidFill>
                  <a:srgbClr val="162733"/>
                </a:solidFill>
                <a:latin typeface="Aptos Display" pitchFamily="34" charset="0"/>
                <a:ea typeface="Aptos Display" pitchFamily="34" charset="-122"/>
                <a:cs typeface="Aptos Display" pitchFamily="34" charset="-120"/>
              </a:rPr>
              <a:t>Learned indexes: from positions to compressed layouts</a:t>
            </a:r>
            <a:endParaRPr lang="en-US" sz="3000" dirty="0"/>
          </a:p>
        </p:txBody>
      </p:sp>
      <p:sp>
        <p:nvSpPr>
          <p:cNvPr id="4" name="Text 2"/>
          <p:cNvSpPr/>
          <p:nvPr/>
        </p:nvSpPr>
        <p:spPr>
          <a:xfrm>
            <a:off x="548640" y="1280160"/>
            <a:ext cx="11064240" cy="420624"/>
          </a:xfrm>
          <a:prstGeom prst="rect">
            <a:avLst/>
          </a:prstGeom>
          <a:noFill/>
          <a:ln/>
        </p:spPr>
        <p:txBody>
          <a:bodyPr wrap="square" lIns="0" tIns="0" rIns="0" bIns="0" rtlCol="0" anchor="ctr">
            <a:normAutofit/>
          </a:bodyPr>
          <a:lstStyle/>
          <a:p>
            <a:pPr indent="0" marL="0">
              <a:buNone/>
            </a:pPr>
            <a:r>
              <a:rPr lang="en-US" sz="1600" dirty="0">
                <a:solidFill>
                  <a:srgbClr val="526571"/>
                </a:solidFill>
                <a:latin typeface="Aptos" pitchFamily="34" charset="0"/>
                <a:ea typeface="Aptos" pitchFamily="34" charset="-122"/>
                <a:cs typeface="Aptos" pitchFamily="34" charset="-120"/>
              </a:rPr>
              <a:t>A historical walkthrough with inspectable evidence and runnable experiments</a:t>
            </a:r>
            <a:endParaRPr lang="en-US" sz="1600" dirty="0"/>
          </a:p>
        </p:txBody>
      </p:sp>
      <p:sp>
        <p:nvSpPr>
          <p:cNvPr id="5" name="Shape 3"/>
          <p:cNvSpPr/>
          <p:nvPr/>
        </p:nvSpPr>
        <p:spPr>
          <a:xfrm>
            <a:off x="548640" y="6364224"/>
            <a:ext cx="11064240" cy="0"/>
          </a:xfrm>
          <a:prstGeom prst="line">
            <a:avLst/>
          </a:prstGeom>
          <a:noFill/>
          <a:ln w="12700">
            <a:solidFill>
              <a:srgbClr val="D9E3E6"/>
            </a:solidFill>
            <a:prstDash val="solid"/>
          </a:ln>
        </p:spPr>
      </p:sp>
      <p:sp>
        <p:nvSpPr>
          <p:cNvPr id="6" name="Text 4"/>
          <p:cNvSpPr/>
          <p:nvPr/>
        </p:nvSpPr>
        <p:spPr>
          <a:xfrm>
            <a:off x="548640" y="6464808"/>
            <a:ext cx="10607040" cy="192024"/>
          </a:xfrm>
          <a:prstGeom prst="rect">
            <a:avLst/>
          </a:prstGeom>
          <a:noFill/>
          <a:ln/>
        </p:spPr>
        <p:txBody>
          <a:bodyPr wrap="square" lIns="0" tIns="0" rIns="0" bIns="0" rtlCol="0" anchor="ctr">
            <a:normAutofit/>
          </a:bodyPr>
          <a:lstStyle/>
          <a:p>
            <a:pPr indent="0" marL="0">
              <a:buNone/>
            </a:pPr>
            <a:r>
              <a:rPr lang="en-US" sz="900" dirty="0">
                <a:solidFill>
                  <a:srgbClr val="526571"/>
                </a:solidFill>
                <a:latin typeface="Aptos" pitchFamily="34" charset="0"/>
                <a:ea typeface="Aptos" pitchFamily="34" charset="-122"/>
                <a:cs typeface="Aptos" pitchFamily="34" charset="-120"/>
              </a:rPr>
              <a:t>SCALE-LI research workspace • 8 September 2026</a:t>
            </a:r>
            <a:endParaRPr lang="en-US" sz="900" dirty="0"/>
          </a:p>
        </p:txBody>
      </p:sp>
      <p:sp>
        <p:nvSpPr>
          <p:cNvPr id="7" name="Text 5"/>
          <p:cNvSpPr/>
          <p:nvPr/>
        </p:nvSpPr>
        <p:spPr>
          <a:xfrm>
            <a:off x="11082528" y="6446520"/>
            <a:ext cx="548640" cy="228600"/>
          </a:xfrm>
          <a:prstGeom prst="rect">
            <a:avLst/>
          </a:prstGeom>
          <a:noFill/>
          <a:ln/>
        </p:spPr>
        <p:txBody>
          <a:bodyPr wrap="square" lIns="0" tIns="0" rIns="0" bIns="0" rtlCol="0" anchor="ctr">
            <a:normAutofit/>
          </a:bodyPr>
          <a:lstStyle/>
          <a:p>
            <a:pPr algn="r" indent="0" marL="0">
              <a:buNone/>
            </a:pPr>
            <a:r>
              <a:rPr lang="en-US" sz="1100" dirty="0">
                <a:solidFill>
                  <a:srgbClr val="526571"/>
                </a:solidFill>
                <a:latin typeface="Aptos" pitchFamily="34" charset="0"/>
                <a:ea typeface="Aptos" pitchFamily="34" charset="-122"/>
                <a:cs typeface="Aptos" pitchFamily="34" charset="-120"/>
              </a:rPr>
              <a:t>01</a:t>
            </a:r>
            <a:endParaRPr lang="en-US" sz="1100" dirty="0"/>
          </a:p>
        </p:txBody>
      </p:sp>
      <p:sp>
        <p:nvSpPr>
          <p:cNvPr id="9" name="Shape 6"/>
          <p:cNvSpPr/>
          <p:nvPr/>
        </p:nvSpPr>
        <p:spPr>
          <a:xfrm>
            <a:off x="548640" y="2286000"/>
            <a:ext cx="3529584" cy="1920240"/>
          </a:xfrm>
          <a:prstGeom prst="rect">
            <a:avLst/>
          </a:prstGeom>
          <a:solidFill>
            <a:srgbClr val="EFF5F6"/>
          </a:solidFill>
          <a:ln w="12700">
            <a:solidFill>
              <a:srgbClr val="EFF5F6"/>
            </a:solidFill>
            <a:prstDash val="solid"/>
          </a:ln>
        </p:spPr>
      </p:sp>
      <p:sp>
        <p:nvSpPr>
          <p:cNvPr id="10" name="Text 7"/>
          <p:cNvSpPr/>
          <p:nvPr/>
        </p:nvSpPr>
        <p:spPr>
          <a:xfrm>
            <a:off x="704088" y="2395728"/>
            <a:ext cx="3218688" cy="246888"/>
          </a:xfrm>
          <a:prstGeom prst="rect">
            <a:avLst/>
          </a:prstGeom>
          <a:noFill/>
          <a:ln/>
        </p:spPr>
        <p:txBody>
          <a:bodyPr wrap="square" lIns="0" tIns="0" rIns="0" bIns="0" rtlCol="0" anchor="ctr">
            <a:normAutofit/>
          </a:bodyPr>
          <a:lstStyle/>
          <a:p>
            <a:pPr indent="0" marL="0">
              <a:buNone/>
            </a:pPr>
            <a:r>
              <a:rPr lang="en-US" sz="1400" b="1" dirty="0">
                <a:solidFill>
                  <a:srgbClr val="11727B"/>
                </a:solidFill>
                <a:latin typeface="Aptos" pitchFamily="34" charset="0"/>
                <a:ea typeface="Aptos" pitchFamily="34" charset="-122"/>
                <a:cs typeface="Aptos" pitchFamily="34" charset="-120"/>
              </a:rPr>
              <a:t>UNDERSTAND</a:t>
            </a:r>
            <a:endParaRPr lang="en-US" sz="1400" dirty="0"/>
          </a:p>
        </p:txBody>
      </p:sp>
      <p:sp>
        <p:nvSpPr>
          <p:cNvPr id="11" name="Text 8"/>
          <p:cNvSpPr/>
          <p:nvPr/>
        </p:nvSpPr>
        <p:spPr>
          <a:xfrm>
            <a:off x="704088" y="2715768"/>
            <a:ext cx="3218688" cy="1426464"/>
          </a:xfrm>
          <a:prstGeom prst="rect">
            <a:avLst/>
          </a:prstGeom>
          <a:noFill/>
          <a:ln/>
        </p:spPr>
        <p:txBody>
          <a:bodyPr wrap="square" lIns="0" tIns="0" rIns="0" bIns="0" rtlCol="0" anchor="ctr">
            <a:normAutofit/>
          </a:bodyPr>
          <a:lstStyle/>
          <a:p>
            <a:pPr indent="0" marL="0">
              <a:buNone/>
            </a:pPr>
            <a:r>
              <a:rPr lang="en-US" sz="1700" dirty="0">
                <a:solidFill>
                  <a:srgbClr val="162733"/>
                </a:solidFill>
                <a:latin typeface="Aptos" pitchFamily="34" charset="0"/>
                <a:ea typeface="Aptos" pitchFamily="34" charset="-122"/>
                <a:cs typeface="Aptos" pitchFamily="34" charset="-120"/>
              </a:rPr>
              <a:t>What changed at each stage of the literature?</a:t>
            </a:r>
            <a:endParaRPr lang="en-US" sz="1700" dirty="0"/>
          </a:p>
        </p:txBody>
      </p:sp>
      <p:sp>
        <p:nvSpPr>
          <p:cNvPr id="12" name="Shape 9"/>
          <p:cNvSpPr/>
          <p:nvPr/>
        </p:nvSpPr>
        <p:spPr>
          <a:xfrm>
            <a:off x="4334256" y="2286000"/>
            <a:ext cx="3529584" cy="1920240"/>
          </a:xfrm>
          <a:prstGeom prst="rect">
            <a:avLst/>
          </a:prstGeom>
          <a:solidFill>
            <a:srgbClr val="EFF5F6"/>
          </a:solidFill>
          <a:ln w="12700">
            <a:solidFill>
              <a:srgbClr val="EFF5F6"/>
            </a:solidFill>
            <a:prstDash val="solid"/>
          </a:ln>
        </p:spPr>
      </p:sp>
      <p:sp>
        <p:nvSpPr>
          <p:cNvPr id="13" name="Text 10"/>
          <p:cNvSpPr/>
          <p:nvPr/>
        </p:nvSpPr>
        <p:spPr>
          <a:xfrm>
            <a:off x="4489704" y="2395728"/>
            <a:ext cx="3218688" cy="246888"/>
          </a:xfrm>
          <a:prstGeom prst="rect">
            <a:avLst/>
          </a:prstGeom>
          <a:noFill/>
          <a:ln/>
        </p:spPr>
        <p:txBody>
          <a:bodyPr wrap="square" lIns="0" tIns="0" rIns="0" bIns="0" rtlCol="0" anchor="ctr">
            <a:normAutofit/>
          </a:bodyPr>
          <a:lstStyle/>
          <a:p>
            <a:pPr indent="0" marL="0">
              <a:buNone/>
            </a:pPr>
            <a:r>
              <a:rPr lang="en-US" sz="1400" b="1" dirty="0">
                <a:solidFill>
                  <a:srgbClr val="11727B"/>
                </a:solidFill>
                <a:latin typeface="Aptos" pitchFamily="34" charset="0"/>
                <a:ea typeface="Aptos" pitchFamily="34" charset="-122"/>
                <a:cs typeface="Aptos" pitchFamily="34" charset="-120"/>
              </a:rPr>
              <a:t>RUN</a:t>
            </a:r>
            <a:endParaRPr lang="en-US" sz="1400" dirty="0"/>
          </a:p>
        </p:txBody>
      </p:sp>
      <p:sp>
        <p:nvSpPr>
          <p:cNvPr id="14" name="Text 11"/>
          <p:cNvSpPr/>
          <p:nvPr/>
        </p:nvSpPr>
        <p:spPr>
          <a:xfrm>
            <a:off x="4489704" y="2715768"/>
            <a:ext cx="3218688" cy="1426464"/>
          </a:xfrm>
          <a:prstGeom prst="rect">
            <a:avLst/>
          </a:prstGeom>
          <a:noFill/>
          <a:ln/>
        </p:spPr>
        <p:txBody>
          <a:bodyPr wrap="square" lIns="0" tIns="0" rIns="0" bIns="0" rtlCol="0" anchor="ctr">
            <a:normAutofit/>
          </a:bodyPr>
          <a:lstStyle/>
          <a:p>
            <a:pPr indent="0" marL="0">
              <a:buNone/>
            </a:pPr>
            <a:r>
              <a:rPr lang="en-US" sz="1700" dirty="0">
                <a:solidFill>
                  <a:srgbClr val="162733"/>
                </a:solidFill>
                <a:latin typeface="Aptos" pitchFamily="34" charset="0"/>
                <a:ea typeface="Aptos" pitchFamily="34" charset="-122"/>
                <a:cs typeface="Aptos" pitchFamily="34" charset="-120"/>
              </a:rPr>
              <a:t>Small offline experiments linked by lesson ID.</a:t>
            </a:r>
            <a:endParaRPr lang="en-US" sz="1700" dirty="0"/>
          </a:p>
        </p:txBody>
      </p:sp>
      <p:sp>
        <p:nvSpPr>
          <p:cNvPr id="15" name="Shape 12"/>
          <p:cNvSpPr/>
          <p:nvPr/>
        </p:nvSpPr>
        <p:spPr>
          <a:xfrm>
            <a:off x="8119872" y="2286000"/>
            <a:ext cx="3529584" cy="1920240"/>
          </a:xfrm>
          <a:prstGeom prst="rect">
            <a:avLst/>
          </a:prstGeom>
          <a:solidFill>
            <a:srgbClr val="EFF5F6"/>
          </a:solidFill>
          <a:ln w="12700">
            <a:solidFill>
              <a:srgbClr val="EFF5F6"/>
            </a:solidFill>
            <a:prstDash val="solid"/>
          </a:ln>
        </p:spPr>
      </p:sp>
      <p:sp>
        <p:nvSpPr>
          <p:cNvPr id="16" name="Text 13"/>
          <p:cNvSpPr/>
          <p:nvPr/>
        </p:nvSpPr>
        <p:spPr>
          <a:xfrm>
            <a:off x="8275320" y="2395728"/>
            <a:ext cx="3218688" cy="246888"/>
          </a:xfrm>
          <a:prstGeom prst="rect">
            <a:avLst/>
          </a:prstGeom>
          <a:noFill/>
          <a:ln/>
        </p:spPr>
        <p:txBody>
          <a:bodyPr wrap="square" lIns="0" tIns="0" rIns="0" bIns="0" rtlCol="0" anchor="ctr">
            <a:normAutofit/>
          </a:bodyPr>
          <a:lstStyle/>
          <a:p>
            <a:pPr indent="0" marL="0">
              <a:buNone/>
            </a:pPr>
            <a:r>
              <a:rPr lang="en-US" sz="1400" b="1" dirty="0">
                <a:solidFill>
                  <a:srgbClr val="11727B"/>
                </a:solidFill>
                <a:latin typeface="Aptos" pitchFamily="34" charset="0"/>
                <a:ea typeface="Aptos" pitchFamily="34" charset="-122"/>
                <a:cs typeface="Aptos" pitchFamily="34" charset="-120"/>
              </a:rPr>
              <a:t>DECIDE</a:t>
            </a:r>
            <a:endParaRPr lang="en-US" sz="1400" dirty="0"/>
          </a:p>
        </p:txBody>
      </p:sp>
      <p:sp>
        <p:nvSpPr>
          <p:cNvPr id="17" name="Text 14"/>
          <p:cNvSpPr/>
          <p:nvPr/>
        </p:nvSpPr>
        <p:spPr>
          <a:xfrm>
            <a:off x="8275320" y="2715768"/>
            <a:ext cx="3218688" cy="1426464"/>
          </a:xfrm>
          <a:prstGeom prst="rect">
            <a:avLst/>
          </a:prstGeom>
          <a:noFill/>
          <a:ln/>
        </p:spPr>
        <p:txBody>
          <a:bodyPr wrap="square" lIns="0" tIns="0" rIns="0" bIns="0" rtlCol="0" anchor="ctr">
            <a:normAutofit/>
          </a:bodyPr>
          <a:lstStyle/>
          <a:p>
            <a:pPr indent="0" marL="0">
              <a:buNone/>
            </a:pPr>
            <a:r>
              <a:rPr lang="en-US" sz="1700" dirty="0">
                <a:solidFill>
                  <a:srgbClr val="162733"/>
                </a:solidFill>
                <a:latin typeface="Aptos" pitchFamily="34" charset="0"/>
                <a:ea typeface="Aptos" pitchFamily="34" charset="-122"/>
                <a:cs typeface="Aptos" pitchFamily="34" charset="-120"/>
              </a:rPr>
              <a:t>Agree on the next common-data reproduction milestone.</a:t>
            </a:r>
            <a:endParaRPr lang="en-US" sz="1700" dirty="0"/>
          </a:p>
        </p:txBody>
      </p:sp>
      <p:sp>
        <p:nvSpPr>
          <p:cNvPr id="18" name="Text 15"/>
          <p:cNvSpPr/>
          <p:nvPr/>
        </p:nvSpPr>
        <p:spPr>
          <a:xfrm>
            <a:off x="594360" y="4800600"/>
            <a:ext cx="10789920" cy="457200"/>
          </a:xfrm>
          <a:prstGeom prst="rect">
            <a:avLst/>
          </a:prstGeom>
          <a:noFill/>
          <a:ln/>
        </p:spPr>
        <p:txBody>
          <a:bodyPr wrap="square" lIns="0" tIns="0" rIns="0" bIns="0" rtlCol="0" anchor="ctr">
            <a:normAutofit/>
          </a:bodyPr>
          <a:lstStyle/>
          <a:p>
            <a:pPr indent="0" marL="0">
              <a:buNone/>
            </a:pPr>
            <a:r>
              <a:rPr lang="en-US" sz="2400" b="1" dirty="0">
                <a:solidFill>
                  <a:srgbClr val="162733"/>
                </a:solidFill>
                <a:latin typeface="Aptos" pitchFamily="34" charset="0"/>
                <a:ea typeface="Aptos" pitchFamily="34" charset="-122"/>
                <a:cs typeface="Aptos" pitchFamily="34" charset="-120"/>
              </a:rPr>
              <a:t>Existing work first. A new contribution comes after the baseline.</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46888"/>
            <a:ext cx="10424160" cy="201168"/>
          </a:xfrm>
          <a:prstGeom prst="rect">
            <a:avLst/>
          </a:prstGeom>
          <a:noFill/>
          <a:ln/>
        </p:spPr>
        <p:txBody>
          <a:bodyPr wrap="square" lIns="0" tIns="0" rIns="0" bIns="0" rtlCol="0" anchor="ctr">
            <a:normAutofit/>
          </a:bodyPr>
          <a:lstStyle/>
          <a:p>
            <a:pPr indent="0" marL="0">
              <a:buNone/>
            </a:pPr>
            <a:r>
              <a:rPr lang="en-US" sz="1000" b="1" spc="110" kern="0" dirty="0">
                <a:solidFill>
                  <a:srgbClr val="11727B"/>
                </a:solidFill>
                <a:latin typeface="Aptos" pitchFamily="34" charset="0"/>
                <a:ea typeface="Aptos" pitchFamily="34" charset="-122"/>
                <a:cs typeface="Aptos" pitchFamily="34" charset="-120"/>
              </a:rPr>
              <a:t>HOW TO READ THIS DECK</a:t>
            </a:r>
            <a:endParaRPr lang="en-US" sz="1000" dirty="0"/>
          </a:p>
        </p:txBody>
      </p:sp>
      <p:sp>
        <p:nvSpPr>
          <p:cNvPr id="3" name="Text 1"/>
          <p:cNvSpPr/>
          <p:nvPr/>
        </p:nvSpPr>
        <p:spPr>
          <a:xfrm>
            <a:off x="548640" y="640080"/>
            <a:ext cx="11064240" cy="603504"/>
          </a:xfrm>
          <a:prstGeom prst="rect">
            <a:avLst/>
          </a:prstGeom>
          <a:noFill/>
          <a:ln/>
        </p:spPr>
        <p:txBody>
          <a:bodyPr wrap="square" lIns="0" tIns="0" rIns="0" bIns="0" rtlCol="0" anchor="ctr">
            <a:normAutofit/>
          </a:bodyPr>
          <a:lstStyle/>
          <a:p>
            <a:pPr indent="0" marL="0">
              <a:buNone/>
            </a:pPr>
            <a:r>
              <a:rPr lang="en-US" sz="3000" b="1" dirty="0">
                <a:solidFill>
                  <a:srgbClr val="162733"/>
                </a:solidFill>
                <a:latin typeface="Aptos Display" pitchFamily="34" charset="0"/>
                <a:ea typeface="Aptos Display" pitchFamily="34" charset="-122"/>
                <a:cs typeface="Aptos Display" pitchFamily="34" charset="-120"/>
              </a:rPr>
              <a:t>Three evidence labels — three different claims</a:t>
            </a:r>
            <a:endParaRPr lang="en-US" sz="3000" dirty="0"/>
          </a:p>
        </p:txBody>
      </p:sp>
      <p:sp>
        <p:nvSpPr>
          <p:cNvPr id="4" name="Text 2"/>
          <p:cNvSpPr/>
          <p:nvPr/>
        </p:nvSpPr>
        <p:spPr>
          <a:xfrm>
            <a:off x="548640" y="1280160"/>
            <a:ext cx="11064240" cy="420624"/>
          </a:xfrm>
          <a:prstGeom prst="rect">
            <a:avLst/>
          </a:prstGeom>
          <a:noFill/>
          <a:ln/>
        </p:spPr>
        <p:txBody>
          <a:bodyPr wrap="square" lIns="0" tIns="0" rIns="0" bIns="0" rtlCol="0" anchor="ctr">
            <a:normAutofit/>
          </a:bodyPr>
          <a:lstStyle/>
          <a:p>
            <a:pPr indent="0" marL="0">
              <a:buNone/>
            </a:pPr>
            <a:r>
              <a:rPr lang="en-US" sz="1600" dirty="0">
                <a:solidFill>
                  <a:srgbClr val="526571"/>
                </a:solidFill>
                <a:latin typeface="Aptos" pitchFamily="34" charset="0"/>
                <a:ea typeface="Aptos" pitchFamily="34" charset="-122"/>
                <a:cs typeface="Aptos" pitchFamily="34" charset="-120"/>
              </a:rPr>
              <a:t>A rerun of arithmetic is not a reproduction of a published system.</a:t>
            </a:r>
            <a:endParaRPr lang="en-US" sz="1600" dirty="0"/>
          </a:p>
        </p:txBody>
      </p:sp>
      <p:sp>
        <p:nvSpPr>
          <p:cNvPr id="5" name="Shape 3"/>
          <p:cNvSpPr/>
          <p:nvPr/>
        </p:nvSpPr>
        <p:spPr>
          <a:xfrm>
            <a:off x="548640" y="6364224"/>
            <a:ext cx="11064240" cy="0"/>
          </a:xfrm>
          <a:prstGeom prst="line">
            <a:avLst/>
          </a:prstGeom>
          <a:noFill/>
          <a:ln w="12700">
            <a:solidFill>
              <a:srgbClr val="D9E3E6"/>
            </a:solidFill>
            <a:prstDash val="solid"/>
          </a:ln>
        </p:spPr>
      </p:sp>
      <p:sp>
        <p:nvSpPr>
          <p:cNvPr id="6" name="Text 4"/>
          <p:cNvSpPr/>
          <p:nvPr/>
        </p:nvSpPr>
        <p:spPr>
          <a:xfrm>
            <a:off x="548640" y="6464808"/>
            <a:ext cx="10607040" cy="192024"/>
          </a:xfrm>
          <a:prstGeom prst="rect">
            <a:avLst/>
          </a:prstGeom>
          <a:noFill/>
          <a:ln/>
        </p:spPr>
        <p:txBody>
          <a:bodyPr wrap="square" lIns="0" tIns="0" rIns="0" bIns="0" rtlCol="0" anchor="ctr">
            <a:normAutofit/>
          </a:bodyPr>
          <a:lstStyle/>
          <a:p>
            <a:pPr indent="0" marL="0">
              <a:buNone/>
            </a:pPr>
            <a:r>
              <a:rPr lang="en-US" sz="900" dirty="0">
                <a:solidFill>
                  <a:srgbClr val="526571"/>
                </a:solidFill>
                <a:latin typeface="Aptos" pitchFamily="34" charset="0"/>
                <a:ea typeface="Aptos" pitchFamily="34" charset="-122"/>
                <a:cs typeface="Aptos" pitchFamily="34" charset="-120"/>
              </a:rPr>
              <a:t>Coverage: docs/APPROACHES.md • Raw evidence: results/saved/</a:t>
            </a:r>
            <a:endParaRPr lang="en-US" sz="900" dirty="0"/>
          </a:p>
        </p:txBody>
      </p:sp>
      <p:sp>
        <p:nvSpPr>
          <p:cNvPr id="7" name="Text 5"/>
          <p:cNvSpPr/>
          <p:nvPr/>
        </p:nvSpPr>
        <p:spPr>
          <a:xfrm>
            <a:off x="11082528" y="6446520"/>
            <a:ext cx="548640" cy="228600"/>
          </a:xfrm>
          <a:prstGeom prst="rect">
            <a:avLst/>
          </a:prstGeom>
          <a:noFill/>
          <a:ln/>
        </p:spPr>
        <p:txBody>
          <a:bodyPr wrap="square" lIns="0" tIns="0" rIns="0" bIns="0" rtlCol="0" anchor="ctr">
            <a:normAutofit/>
          </a:bodyPr>
          <a:lstStyle/>
          <a:p>
            <a:pPr algn="r" indent="0" marL="0">
              <a:buNone/>
            </a:pPr>
            <a:r>
              <a:rPr lang="en-US" sz="1100" dirty="0">
                <a:solidFill>
                  <a:srgbClr val="526571"/>
                </a:solidFill>
                <a:latin typeface="Aptos" pitchFamily="34" charset="0"/>
                <a:ea typeface="Aptos" pitchFamily="34" charset="-122"/>
                <a:cs typeface="Aptos" pitchFamily="34" charset="-120"/>
              </a:rPr>
              <a:t>02</a:t>
            </a:r>
            <a:endParaRPr lang="en-US" sz="1100" dirty="0"/>
          </a:p>
        </p:txBody>
      </p:sp>
      <p:sp>
        <p:nvSpPr>
          <p:cNvPr id="9" name="Shape 6"/>
          <p:cNvSpPr/>
          <p:nvPr/>
        </p:nvSpPr>
        <p:spPr>
          <a:xfrm>
            <a:off x="548640" y="1920240"/>
            <a:ext cx="2423160" cy="749808"/>
          </a:xfrm>
          <a:prstGeom prst="rect">
            <a:avLst/>
          </a:prstGeom>
          <a:solidFill>
            <a:srgbClr val="112C39"/>
          </a:solidFill>
          <a:ln w="12700">
            <a:solidFill>
              <a:srgbClr val="FFFFFF"/>
            </a:solidFill>
            <a:prstDash val="solid"/>
          </a:ln>
        </p:spPr>
      </p:sp>
      <p:sp>
        <p:nvSpPr>
          <p:cNvPr id="10" name="Text 7"/>
          <p:cNvSpPr/>
          <p:nvPr/>
        </p:nvSpPr>
        <p:spPr>
          <a:xfrm>
            <a:off x="658368" y="2029968"/>
            <a:ext cx="2203704" cy="612648"/>
          </a:xfrm>
          <a:prstGeom prst="rect">
            <a:avLst/>
          </a:prstGeom>
          <a:noFill/>
          <a:ln/>
        </p:spPr>
        <p:txBody>
          <a:bodyPr wrap="square" lIns="0" tIns="0" rIns="0" bIns="0" rtlCol="0" anchor="ctr">
            <a:normAutofit/>
          </a:bodyPr>
          <a:lstStyle/>
          <a:p>
            <a:pPr indent="0" marL="0">
              <a:buNone/>
            </a:pPr>
            <a:r>
              <a:rPr lang="en-US" sz="1700" b="1" dirty="0">
                <a:solidFill>
                  <a:srgbClr val="FFFFFF"/>
                </a:solidFill>
                <a:latin typeface="Aptos" pitchFamily="34" charset="0"/>
                <a:ea typeface="Aptos" pitchFamily="34" charset="-122"/>
                <a:cs typeface="Aptos" pitchFamily="34" charset="-120"/>
              </a:rPr>
              <a:t>Label</a:t>
            </a:r>
            <a:endParaRPr lang="en-US" sz="1700" dirty="0"/>
          </a:p>
        </p:txBody>
      </p:sp>
      <p:sp>
        <p:nvSpPr>
          <p:cNvPr id="11" name="Shape 8"/>
          <p:cNvSpPr/>
          <p:nvPr/>
        </p:nvSpPr>
        <p:spPr>
          <a:xfrm>
            <a:off x="2971800" y="1920240"/>
            <a:ext cx="4069080" cy="749808"/>
          </a:xfrm>
          <a:prstGeom prst="rect">
            <a:avLst/>
          </a:prstGeom>
          <a:solidFill>
            <a:srgbClr val="112C39"/>
          </a:solidFill>
          <a:ln w="12700">
            <a:solidFill>
              <a:srgbClr val="FFFFFF"/>
            </a:solidFill>
            <a:prstDash val="solid"/>
          </a:ln>
        </p:spPr>
      </p:sp>
      <p:sp>
        <p:nvSpPr>
          <p:cNvPr id="12" name="Text 9"/>
          <p:cNvSpPr/>
          <p:nvPr/>
        </p:nvSpPr>
        <p:spPr>
          <a:xfrm>
            <a:off x="3081528" y="2029968"/>
            <a:ext cx="3849624" cy="612648"/>
          </a:xfrm>
          <a:prstGeom prst="rect">
            <a:avLst/>
          </a:prstGeom>
          <a:noFill/>
          <a:ln/>
        </p:spPr>
        <p:txBody>
          <a:bodyPr wrap="square" lIns="0" tIns="0" rIns="0" bIns="0" rtlCol="0" anchor="ctr">
            <a:normAutofit/>
          </a:bodyPr>
          <a:lstStyle/>
          <a:p>
            <a:pPr indent="0" marL="0">
              <a:buNone/>
            </a:pPr>
            <a:r>
              <a:rPr lang="en-US" sz="1700" b="1" dirty="0">
                <a:solidFill>
                  <a:srgbClr val="FFFFFF"/>
                </a:solidFill>
                <a:latin typeface="Aptos" pitchFamily="34" charset="0"/>
                <a:ea typeface="Aptos" pitchFamily="34" charset="-122"/>
                <a:cs typeface="Aptos" pitchFamily="34" charset="-120"/>
              </a:rPr>
              <a:t>What it supports</a:t>
            </a:r>
            <a:endParaRPr lang="en-US" sz="1700" dirty="0"/>
          </a:p>
        </p:txBody>
      </p:sp>
      <p:sp>
        <p:nvSpPr>
          <p:cNvPr id="13" name="Shape 10"/>
          <p:cNvSpPr/>
          <p:nvPr/>
        </p:nvSpPr>
        <p:spPr>
          <a:xfrm>
            <a:off x="7040880" y="1920240"/>
            <a:ext cx="4572000" cy="749808"/>
          </a:xfrm>
          <a:prstGeom prst="rect">
            <a:avLst/>
          </a:prstGeom>
          <a:solidFill>
            <a:srgbClr val="112C39"/>
          </a:solidFill>
          <a:ln w="12700">
            <a:solidFill>
              <a:srgbClr val="FFFFFF"/>
            </a:solidFill>
            <a:prstDash val="solid"/>
          </a:ln>
        </p:spPr>
      </p:sp>
      <p:sp>
        <p:nvSpPr>
          <p:cNvPr id="14" name="Text 11"/>
          <p:cNvSpPr/>
          <p:nvPr/>
        </p:nvSpPr>
        <p:spPr>
          <a:xfrm>
            <a:off x="7150608" y="2029968"/>
            <a:ext cx="4352544" cy="612648"/>
          </a:xfrm>
          <a:prstGeom prst="rect">
            <a:avLst/>
          </a:prstGeom>
          <a:noFill/>
          <a:ln/>
        </p:spPr>
        <p:txBody>
          <a:bodyPr wrap="square" lIns="0" tIns="0" rIns="0" bIns="0" rtlCol="0" anchor="ctr">
            <a:normAutofit/>
          </a:bodyPr>
          <a:lstStyle/>
          <a:p>
            <a:pPr indent="0" marL="0">
              <a:buNone/>
            </a:pPr>
            <a:r>
              <a:rPr lang="en-US" sz="1700" b="1" dirty="0">
                <a:solidFill>
                  <a:srgbClr val="FFFFFF"/>
                </a:solidFill>
                <a:latin typeface="Aptos" pitchFamily="34" charset="0"/>
                <a:ea typeface="Aptos" pitchFamily="34" charset="-122"/>
                <a:cs typeface="Aptos" pitchFamily="34" charset="-120"/>
              </a:rPr>
              <a:t>Example</a:t>
            </a:r>
            <a:endParaRPr lang="en-US" sz="1700" dirty="0"/>
          </a:p>
        </p:txBody>
      </p:sp>
      <p:sp>
        <p:nvSpPr>
          <p:cNvPr id="15" name="Shape 12"/>
          <p:cNvSpPr/>
          <p:nvPr/>
        </p:nvSpPr>
        <p:spPr>
          <a:xfrm>
            <a:off x="548640" y="2670048"/>
            <a:ext cx="2423160" cy="749808"/>
          </a:xfrm>
          <a:prstGeom prst="rect">
            <a:avLst/>
          </a:prstGeom>
          <a:solidFill>
            <a:srgbClr val="EFF5F6"/>
          </a:solidFill>
          <a:ln w="6350">
            <a:solidFill>
              <a:srgbClr val="D9E3E6"/>
            </a:solidFill>
            <a:prstDash val="solid"/>
          </a:ln>
        </p:spPr>
      </p:sp>
      <p:sp>
        <p:nvSpPr>
          <p:cNvPr id="16" name="Text 13"/>
          <p:cNvSpPr/>
          <p:nvPr/>
        </p:nvSpPr>
        <p:spPr>
          <a:xfrm>
            <a:off x="658368" y="2770632"/>
            <a:ext cx="2203704" cy="594360"/>
          </a:xfrm>
          <a:prstGeom prst="rect">
            <a:avLst/>
          </a:prstGeom>
          <a:noFill/>
          <a:ln/>
        </p:spPr>
        <p:txBody>
          <a:bodyPr wrap="square" lIns="0" tIns="0" rIns="0" bIns="0" rtlCol="0" anchor="ctr">
            <a:normAutofit/>
          </a:bodyPr>
          <a:lstStyle/>
          <a:p>
            <a:pPr indent="0" marL="0">
              <a:buNone/>
            </a:pPr>
            <a:r>
              <a:rPr lang="en-US" sz="1700" dirty="0">
                <a:solidFill>
                  <a:srgbClr val="162733"/>
                </a:solidFill>
                <a:latin typeface="Aptos" pitchFamily="34" charset="0"/>
                <a:ea typeface="Aptos" pitchFamily="34" charset="-122"/>
                <a:cs typeface="Aptos" pitchFamily="34" charset="-120"/>
              </a:rPr>
              <a:t>PUBLISHED</a:t>
            </a:r>
            <a:endParaRPr lang="en-US" sz="1700" dirty="0"/>
          </a:p>
        </p:txBody>
      </p:sp>
      <p:sp>
        <p:nvSpPr>
          <p:cNvPr id="17" name="Shape 14"/>
          <p:cNvSpPr/>
          <p:nvPr/>
        </p:nvSpPr>
        <p:spPr>
          <a:xfrm>
            <a:off x="2971800" y="2670048"/>
            <a:ext cx="4069080" cy="749808"/>
          </a:xfrm>
          <a:prstGeom prst="rect">
            <a:avLst/>
          </a:prstGeom>
          <a:solidFill>
            <a:srgbClr val="EFF5F6"/>
          </a:solidFill>
          <a:ln w="6350">
            <a:solidFill>
              <a:srgbClr val="D9E3E6"/>
            </a:solidFill>
            <a:prstDash val="solid"/>
          </a:ln>
        </p:spPr>
      </p:sp>
      <p:sp>
        <p:nvSpPr>
          <p:cNvPr id="18" name="Text 15"/>
          <p:cNvSpPr/>
          <p:nvPr/>
        </p:nvSpPr>
        <p:spPr>
          <a:xfrm>
            <a:off x="3081528" y="2770632"/>
            <a:ext cx="3849624" cy="594360"/>
          </a:xfrm>
          <a:prstGeom prst="rect">
            <a:avLst/>
          </a:prstGeom>
          <a:noFill/>
          <a:ln/>
        </p:spPr>
        <p:txBody>
          <a:bodyPr wrap="square" lIns="0" tIns="0" rIns="0" bIns="0" rtlCol="0" anchor="ctr">
            <a:normAutofit/>
          </a:bodyPr>
          <a:lstStyle/>
          <a:p>
            <a:pPr indent="0" marL="0">
              <a:buNone/>
            </a:pPr>
            <a:r>
              <a:rPr lang="en-US" sz="1700" dirty="0">
                <a:solidFill>
                  <a:srgbClr val="162733"/>
                </a:solidFill>
                <a:latin typeface="Aptos" pitchFamily="34" charset="0"/>
                <a:ea typeface="Aptos" pitchFamily="34" charset="-122"/>
                <a:cs typeface="Aptos" pitchFamily="34" charset="-120"/>
              </a:rPr>
              <a:t>What the paper reports in its setup</a:t>
            </a:r>
            <a:endParaRPr lang="en-US" sz="1700" dirty="0"/>
          </a:p>
        </p:txBody>
      </p:sp>
      <p:sp>
        <p:nvSpPr>
          <p:cNvPr id="19" name="Shape 16"/>
          <p:cNvSpPr/>
          <p:nvPr/>
        </p:nvSpPr>
        <p:spPr>
          <a:xfrm>
            <a:off x="7040880" y="2670048"/>
            <a:ext cx="4572000" cy="749808"/>
          </a:xfrm>
          <a:prstGeom prst="rect">
            <a:avLst/>
          </a:prstGeom>
          <a:solidFill>
            <a:srgbClr val="EFF5F6"/>
          </a:solidFill>
          <a:ln w="6350">
            <a:solidFill>
              <a:srgbClr val="D9E3E6"/>
            </a:solidFill>
            <a:prstDash val="solid"/>
          </a:ln>
        </p:spPr>
      </p:sp>
      <p:sp>
        <p:nvSpPr>
          <p:cNvPr id="20" name="Text 17"/>
          <p:cNvSpPr/>
          <p:nvPr/>
        </p:nvSpPr>
        <p:spPr>
          <a:xfrm>
            <a:off x="7150608" y="2770632"/>
            <a:ext cx="4352544" cy="594360"/>
          </a:xfrm>
          <a:prstGeom prst="rect">
            <a:avLst/>
          </a:prstGeom>
          <a:noFill/>
          <a:ln/>
        </p:spPr>
        <p:txBody>
          <a:bodyPr wrap="square" lIns="0" tIns="0" rIns="0" bIns="0" rtlCol="0" anchor="ctr">
            <a:normAutofit/>
          </a:bodyPr>
          <a:lstStyle/>
          <a:p>
            <a:pPr indent="0" marL="0">
              <a:buNone/>
            </a:pPr>
            <a:r>
              <a:rPr lang="en-US" sz="1700" dirty="0">
                <a:solidFill>
                  <a:srgbClr val="162733"/>
                </a:solidFill>
                <a:latin typeface="Aptos" pitchFamily="34" charset="0"/>
                <a:ea typeface="Aptos" pitchFamily="34" charset="-122"/>
                <a:cs typeface="Aptos" pitchFamily="34" charset="-120"/>
              </a:rPr>
              <a:t>NFL Tables 1–2; CSV promoted keys</a:t>
            </a:r>
            <a:endParaRPr lang="en-US" sz="1700" dirty="0"/>
          </a:p>
        </p:txBody>
      </p:sp>
      <p:sp>
        <p:nvSpPr>
          <p:cNvPr id="21" name="Shape 18"/>
          <p:cNvSpPr/>
          <p:nvPr/>
        </p:nvSpPr>
        <p:spPr>
          <a:xfrm>
            <a:off x="548640" y="3419856"/>
            <a:ext cx="2423160" cy="749808"/>
          </a:xfrm>
          <a:prstGeom prst="rect">
            <a:avLst/>
          </a:prstGeom>
          <a:solidFill>
            <a:srgbClr val="FFFFFF"/>
          </a:solidFill>
          <a:ln w="6350">
            <a:solidFill>
              <a:srgbClr val="D9E3E6"/>
            </a:solidFill>
            <a:prstDash val="solid"/>
          </a:ln>
        </p:spPr>
      </p:sp>
      <p:sp>
        <p:nvSpPr>
          <p:cNvPr id="22" name="Text 19"/>
          <p:cNvSpPr/>
          <p:nvPr/>
        </p:nvSpPr>
        <p:spPr>
          <a:xfrm>
            <a:off x="658368" y="3520440"/>
            <a:ext cx="2203704" cy="594360"/>
          </a:xfrm>
          <a:prstGeom prst="rect">
            <a:avLst/>
          </a:prstGeom>
          <a:noFill/>
          <a:ln/>
        </p:spPr>
        <p:txBody>
          <a:bodyPr wrap="square" lIns="0" tIns="0" rIns="0" bIns="0" rtlCol="0" anchor="ctr">
            <a:normAutofit/>
          </a:bodyPr>
          <a:lstStyle/>
          <a:p>
            <a:pPr indent="0" marL="0">
              <a:buNone/>
            </a:pPr>
            <a:r>
              <a:rPr lang="en-US" sz="1700" dirty="0">
                <a:solidFill>
                  <a:srgbClr val="162733"/>
                </a:solidFill>
                <a:latin typeface="Aptos" pitchFamily="34" charset="0"/>
                <a:ea typeface="Aptos" pitchFamily="34" charset="-122"/>
                <a:cs typeface="Aptos" pitchFamily="34" charset="-120"/>
              </a:rPr>
              <a:t>TEACHING DEMO</a:t>
            </a:r>
            <a:endParaRPr lang="en-US" sz="1700" dirty="0"/>
          </a:p>
        </p:txBody>
      </p:sp>
      <p:sp>
        <p:nvSpPr>
          <p:cNvPr id="23" name="Shape 20"/>
          <p:cNvSpPr/>
          <p:nvPr/>
        </p:nvSpPr>
        <p:spPr>
          <a:xfrm>
            <a:off x="2971800" y="3419856"/>
            <a:ext cx="4069080" cy="749808"/>
          </a:xfrm>
          <a:prstGeom prst="rect">
            <a:avLst/>
          </a:prstGeom>
          <a:solidFill>
            <a:srgbClr val="FFFFFF"/>
          </a:solidFill>
          <a:ln w="6350">
            <a:solidFill>
              <a:srgbClr val="D9E3E6"/>
            </a:solidFill>
            <a:prstDash val="solid"/>
          </a:ln>
        </p:spPr>
      </p:sp>
      <p:sp>
        <p:nvSpPr>
          <p:cNvPr id="24" name="Text 21"/>
          <p:cNvSpPr/>
          <p:nvPr/>
        </p:nvSpPr>
        <p:spPr>
          <a:xfrm>
            <a:off x="3081528" y="3520440"/>
            <a:ext cx="3849624" cy="594360"/>
          </a:xfrm>
          <a:prstGeom prst="rect">
            <a:avLst/>
          </a:prstGeom>
          <a:noFill/>
          <a:ln/>
        </p:spPr>
        <p:txBody>
          <a:bodyPr wrap="square" lIns="0" tIns="0" rIns="0" bIns="0" rtlCol="0" anchor="ctr">
            <a:normAutofit/>
          </a:bodyPr>
          <a:lstStyle/>
          <a:p>
            <a:pPr indent="0" marL="0">
              <a:buNone/>
            </a:pPr>
            <a:r>
              <a:rPr lang="en-US" sz="1700" dirty="0">
                <a:solidFill>
                  <a:srgbClr val="162733"/>
                </a:solidFill>
                <a:latin typeface="Aptos" pitchFamily="34" charset="0"/>
                <a:ea typeface="Aptos" pitchFamily="34" charset="-122"/>
                <a:cs typeface="Aptos" pitchFamily="34" charset="-120"/>
              </a:rPr>
              <a:t>Inspect a mechanism and its objective</a:t>
            </a:r>
            <a:endParaRPr lang="en-US" sz="1700" dirty="0"/>
          </a:p>
        </p:txBody>
      </p:sp>
      <p:sp>
        <p:nvSpPr>
          <p:cNvPr id="25" name="Shape 22"/>
          <p:cNvSpPr/>
          <p:nvPr/>
        </p:nvSpPr>
        <p:spPr>
          <a:xfrm>
            <a:off x="7040880" y="3419856"/>
            <a:ext cx="4572000" cy="749808"/>
          </a:xfrm>
          <a:prstGeom prst="rect">
            <a:avLst/>
          </a:prstGeom>
          <a:solidFill>
            <a:srgbClr val="FFFFFF"/>
          </a:solidFill>
          <a:ln w="6350">
            <a:solidFill>
              <a:srgbClr val="D9E3E6"/>
            </a:solidFill>
            <a:prstDash val="solid"/>
          </a:ln>
        </p:spPr>
      </p:sp>
      <p:sp>
        <p:nvSpPr>
          <p:cNvPr id="26" name="Text 23"/>
          <p:cNvSpPr/>
          <p:nvPr/>
        </p:nvSpPr>
        <p:spPr>
          <a:xfrm>
            <a:off x="7150608" y="3520440"/>
            <a:ext cx="4352544" cy="594360"/>
          </a:xfrm>
          <a:prstGeom prst="rect">
            <a:avLst/>
          </a:prstGeom>
          <a:noFill/>
          <a:ln/>
        </p:spPr>
        <p:txBody>
          <a:bodyPr wrap="square" lIns="0" tIns="0" rIns="0" bIns="0" rtlCol="0" anchor="ctr">
            <a:normAutofit/>
          </a:bodyPr>
          <a:lstStyle/>
          <a:p>
            <a:pPr indent="0" marL="0">
              <a:buNone/>
            </a:pPr>
            <a:r>
              <a:rPr lang="en-US" sz="1700" dirty="0">
                <a:solidFill>
                  <a:srgbClr val="162733"/>
                </a:solidFill>
                <a:latin typeface="Aptos" pitchFamily="34" charset="0"/>
                <a:ea typeface="Aptos" pitchFamily="34" charset="-122"/>
                <a:cs typeface="Aptos" pitchFamily="34" charset="-120"/>
              </a:rPr>
              <a:t>Two-stage fitting; virtual points</a:t>
            </a:r>
            <a:endParaRPr lang="en-US" sz="1700" dirty="0"/>
          </a:p>
        </p:txBody>
      </p:sp>
      <p:sp>
        <p:nvSpPr>
          <p:cNvPr id="27" name="Shape 24"/>
          <p:cNvSpPr/>
          <p:nvPr/>
        </p:nvSpPr>
        <p:spPr>
          <a:xfrm>
            <a:off x="548640" y="4169664"/>
            <a:ext cx="2423160" cy="749808"/>
          </a:xfrm>
          <a:prstGeom prst="rect">
            <a:avLst/>
          </a:prstGeom>
          <a:solidFill>
            <a:srgbClr val="EFF5F6"/>
          </a:solidFill>
          <a:ln w="6350">
            <a:solidFill>
              <a:srgbClr val="D9E3E6"/>
            </a:solidFill>
            <a:prstDash val="solid"/>
          </a:ln>
        </p:spPr>
      </p:sp>
      <p:sp>
        <p:nvSpPr>
          <p:cNvPr id="28" name="Text 25"/>
          <p:cNvSpPr/>
          <p:nvPr/>
        </p:nvSpPr>
        <p:spPr>
          <a:xfrm>
            <a:off x="658368" y="4270248"/>
            <a:ext cx="2203704" cy="594360"/>
          </a:xfrm>
          <a:prstGeom prst="rect">
            <a:avLst/>
          </a:prstGeom>
          <a:noFill/>
          <a:ln/>
        </p:spPr>
        <p:txBody>
          <a:bodyPr wrap="square" lIns="0" tIns="0" rIns="0" bIns="0" rtlCol="0" anchor="ctr">
            <a:normAutofit/>
          </a:bodyPr>
          <a:lstStyle/>
          <a:p>
            <a:pPr indent="0" marL="0">
              <a:buNone/>
            </a:pPr>
            <a:r>
              <a:rPr lang="en-US" sz="1700" dirty="0">
                <a:solidFill>
                  <a:srgbClr val="162733"/>
                </a:solidFill>
                <a:latin typeface="Aptos" pitchFamily="34" charset="0"/>
                <a:ea typeface="Aptos" pitchFamily="34" charset="-122"/>
                <a:cs typeface="Aptos" pitchFamily="34" charset="-120"/>
              </a:rPr>
              <a:t>LOCAL MEASUREMENT</a:t>
            </a:r>
            <a:endParaRPr lang="en-US" sz="1700" dirty="0"/>
          </a:p>
        </p:txBody>
      </p:sp>
      <p:sp>
        <p:nvSpPr>
          <p:cNvPr id="29" name="Shape 26"/>
          <p:cNvSpPr/>
          <p:nvPr/>
        </p:nvSpPr>
        <p:spPr>
          <a:xfrm>
            <a:off x="2971800" y="4169664"/>
            <a:ext cx="4069080" cy="749808"/>
          </a:xfrm>
          <a:prstGeom prst="rect">
            <a:avLst/>
          </a:prstGeom>
          <a:solidFill>
            <a:srgbClr val="EFF5F6"/>
          </a:solidFill>
          <a:ln w="6350">
            <a:solidFill>
              <a:srgbClr val="D9E3E6"/>
            </a:solidFill>
            <a:prstDash val="solid"/>
          </a:ln>
        </p:spPr>
      </p:sp>
      <p:sp>
        <p:nvSpPr>
          <p:cNvPr id="30" name="Text 27"/>
          <p:cNvSpPr/>
          <p:nvPr/>
        </p:nvSpPr>
        <p:spPr>
          <a:xfrm>
            <a:off x="3081528" y="4270248"/>
            <a:ext cx="3849624" cy="594360"/>
          </a:xfrm>
          <a:prstGeom prst="rect">
            <a:avLst/>
          </a:prstGeom>
          <a:noFill/>
          <a:ln/>
        </p:spPr>
        <p:txBody>
          <a:bodyPr wrap="square" lIns="0" tIns="0" rIns="0" bIns="0" rtlCol="0" anchor="ctr">
            <a:normAutofit/>
          </a:bodyPr>
          <a:lstStyle/>
          <a:p>
            <a:pPr indent="0" marL="0">
              <a:buNone/>
            </a:pPr>
            <a:r>
              <a:rPr lang="en-US" sz="1700" dirty="0">
                <a:solidFill>
                  <a:srgbClr val="162733"/>
                </a:solidFill>
                <a:latin typeface="Aptos" pitchFamily="34" charset="0"/>
                <a:ea typeface="Aptos" pitchFamily="34" charset="-122"/>
                <a:cs typeface="Aptos" pitchFamily="34" charset="-120"/>
              </a:rPr>
              <a:t>What tested code does on this fixture</a:t>
            </a:r>
            <a:endParaRPr lang="en-US" sz="1700" dirty="0"/>
          </a:p>
        </p:txBody>
      </p:sp>
      <p:sp>
        <p:nvSpPr>
          <p:cNvPr id="31" name="Shape 28"/>
          <p:cNvSpPr/>
          <p:nvPr/>
        </p:nvSpPr>
        <p:spPr>
          <a:xfrm>
            <a:off x="7040880" y="4169664"/>
            <a:ext cx="4572000" cy="749808"/>
          </a:xfrm>
          <a:prstGeom prst="rect">
            <a:avLst/>
          </a:prstGeom>
          <a:solidFill>
            <a:srgbClr val="EFF5F6"/>
          </a:solidFill>
          <a:ln w="6350">
            <a:solidFill>
              <a:srgbClr val="D9E3E6"/>
            </a:solidFill>
            <a:prstDash val="solid"/>
          </a:ln>
        </p:spPr>
      </p:sp>
      <p:sp>
        <p:nvSpPr>
          <p:cNvPr id="32" name="Text 29"/>
          <p:cNvSpPr/>
          <p:nvPr/>
        </p:nvSpPr>
        <p:spPr>
          <a:xfrm>
            <a:off x="7150608" y="4270248"/>
            <a:ext cx="4352544" cy="594360"/>
          </a:xfrm>
          <a:prstGeom prst="rect">
            <a:avLst/>
          </a:prstGeom>
          <a:noFill/>
          <a:ln/>
        </p:spPr>
        <p:txBody>
          <a:bodyPr wrap="square" lIns="0" tIns="0" rIns="0" bIns="0" rtlCol="0" anchor="ctr">
            <a:normAutofit/>
          </a:bodyPr>
          <a:lstStyle/>
          <a:p>
            <a:pPr indent="0" marL="0">
              <a:buNone/>
            </a:pPr>
            <a:r>
              <a:rPr lang="en-US" sz="1700" dirty="0">
                <a:solidFill>
                  <a:srgbClr val="162733"/>
                </a:solidFill>
                <a:latin typeface="Aptos" pitchFamily="34" charset="0"/>
                <a:ea typeface="Aptos" pitchFamily="34" charset="-122"/>
                <a:cs typeface="Aptos" pitchFamily="34" charset="-120"/>
              </a:rPr>
              <a:t>RadixSpline-derived; custom map</a:t>
            </a:r>
            <a:endParaRPr lang="en-US" sz="1700" dirty="0"/>
          </a:p>
        </p:txBody>
      </p:sp>
      <p:sp>
        <p:nvSpPr>
          <p:cNvPr id="33" name="Text 30"/>
          <p:cNvSpPr/>
          <p:nvPr/>
        </p:nvSpPr>
        <p:spPr>
          <a:xfrm>
            <a:off x="594360" y="5349240"/>
            <a:ext cx="10789920" cy="411480"/>
          </a:xfrm>
          <a:prstGeom prst="rect">
            <a:avLst/>
          </a:prstGeom>
          <a:noFill/>
          <a:ln/>
        </p:spPr>
        <p:txBody>
          <a:bodyPr wrap="square" lIns="0" tIns="0" rIns="0" bIns="0" rtlCol="0" anchor="ctr">
            <a:normAutofit/>
          </a:bodyPr>
          <a:lstStyle/>
          <a:p>
            <a:pPr indent="0" marL="0">
              <a:buNone/>
            </a:pPr>
            <a:r>
              <a:rPr lang="en-US" sz="1900" b="1" dirty="0">
                <a:solidFill>
                  <a:srgbClr val="945E22"/>
                </a:solidFill>
                <a:latin typeface="Aptos" pitchFamily="34" charset="0"/>
                <a:ea typeface="Aptos" pitchFamily="34" charset="-122"/>
                <a:cs typeface="Aptos" pitchFamily="34" charset="-120"/>
              </a:rPr>
              <a:t>No full ALEX / PGM / NFL / CSV upstream reproduction is claimed.</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46888"/>
            <a:ext cx="10424160" cy="201168"/>
          </a:xfrm>
          <a:prstGeom prst="rect">
            <a:avLst/>
          </a:prstGeom>
          <a:noFill/>
          <a:ln/>
        </p:spPr>
        <p:txBody>
          <a:bodyPr wrap="square" lIns="0" tIns="0" rIns="0" bIns="0" rtlCol="0" anchor="ctr">
            <a:normAutofit/>
          </a:bodyPr>
          <a:lstStyle/>
          <a:p>
            <a:pPr indent="0" marL="0">
              <a:buNone/>
            </a:pPr>
            <a:r>
              <a:rPr lang="en-US" sz="1000" b="1" spc="110" kern="0" dirty="0">
                <a:solidFill>
                  <a:srgbClr val="11727B"/>
                </a:solidFill>
                <a:latin typeface="Aptos" pitchFamily="34" charset="0"/>
                <a:ea typeface="Aptos" pitchFamily="34" charset="-122"/>
                <a:cs typeface="Aptos" pitchFamily="34" charset="-120"/>
              </a:rPr>
              <a:t>2018 → 2026</a:t>
            </a:r>
            <a:endParaRPr lang="en-US" sz="1000" dirty="0"/>
          </a:p>
        </p:txBody>
      </p:sp>
      <p:sp>
        <p:nvSpPr>
          <p:cNvPr id="3" name="Text 1"/>
          <p:cNvSpPr/>
          <p:nvPr/>
        </p:nvSpPr>
        <p:spPr>
          <a:xfrm>
            <a:off x="548640" y="640080"/>
            <a:ext cx="11064240" cy="603504"/>
          </a:xfrm>
          <a:prstGeom prst="rect">
            <a:avLst/>
          </a:prstGeom>
          <a:noFill/>
          <a:ln/>
        </p:spPr>
        <p:txBody>
          <a:bodyPr wrap="square" lIns="0" tIns="0" rIns="0" bIns="0" rtlCol="0" anchor="ctr">
            <a:normAutofit/>
          </a:bodyPr>
          <a:lstStyle/>
          <a:p>
            <a:pPr indent="0" marL="0">
              <a:buNone/>
            </a:pPr>
            <a:r>
              <a:rPr lang="en-US" sz="3000" b="1" dirty="0">
                <a:solidFill>
                  <a:srgbClr val="162733"/>
                </a:solidFill>
                <a:latin typeface="Aptos Display" pitchFamily="34" charset="0"/>
                <a:ea typeface="Aptos Display" pitchFamily="34" charset="-122"/>
                <a:cs typeface="Aptos Display" pitchFamily="34" charset="-120"/>
              </a:rPr>
              <a:t>The history is branching, not a single leaderboard</a:t>
            </a:r>
            <a:endParaRPr lang="en-US" sz="3000" dirty="0"/>
          </a:p>
        </p:txBody>
      </p:sp>
      <p:sp>
        <p:nvSpPr>
          <p:cNvPr id="4" name="Text 2"/>
          <p:cNvSpPr/>
          <p:nvPr/>
        </p:nvSpPr>
        <p:spPr>
          <a:xfrm>
            <a:off x="548640" y="1280160"/>
            <a:ext cx="11064240" cy="420624"/>
          </a:xfrm>
          <a:prstGeom prst="rect">
            <a:avLst/>
          </a:prstGeom>
          <a:noFill/>
          <a:ln/>
        </p:spPr>
        <p:txBody>
          <a:bodyPr wrap="square" lIns="0" tIns="0" rIns="0" bIns="0" rtlCol="0" anchor="ctr">
            <a:normAutofit/>
          </a:bodyPr>
          <a:lstStyle/>
          <a:p>
            <a:pPr indent="0" marL="0">
              <a:buNone/>
            </a:pPr>
            <a:r>
              <a:rPr lang="en-US" sz="1600" dirty="0">
                <a:solidFill>
                  <a:srgbClr val="526571"/>
                </a:solidFill>
                <a:latin typeface="Aptos" pitchFamily="34" charset="0"/>
                <a:ea typeface="Aptos" pitchFamily="34" charset="-122"/>
                <a:cs typeface="Aptos" pitchFamily="34" charset="-120"/>
              </a:rPr>
              <a:t>The papers improve different parts of the same access path.</a:t>
            </a:r>
            <a:endParaRPr lang="en-US" sz="1600" dirty="0"/>
          </a:p>
        </p:txBody>
      </p:sp>
      <p:sp>
        <p:nvSpPr>
          <p:cNvPr id="5" name="Shape 3"/>
          <p:cNvSpPr/>
          <p:nvPr/>
        </p:nvSpPr>
        <p:spPr>
          <a:xfrm>
            <a:off x="548640" y="6364224"/>
            <a:ext cx="11064240" cy="0"/>
          </a:xfrm>
          <a:prstGeom prst="line">
            <a:avLst/>
          </a:prstGeom>
          <a:noFill/>
          <a:ln w="12700">
            <a:solidFill>
              <a:srgbClr val="D9E3E6"/>
            </a:solidFill>
            <a:prstDash val="solid"/>
          </a:ln>
        </p:spPr>
      </p:sp>
      <p:sp>
        <p:nvSpPr>
          <p:cNvPr id="6" name="Text 4"/>
          <p:cNvSpPr/>
          <p:nvPr/>
        </p:nvSpPr>
        <p:spPr>
          <a:xfrm>
            <a:off x="548640" y="6464808"/>
            <a:ext cx="10607040" cy="192024"/>
          </a:xfrm>
          <a:prstGeom prst="rect">
            <a:avLst/>
          </a:prstGeom>
          <a:noFill/>
          <a:ln/>
        </p:spPr>
        <p:txBody>
          <a:bodyPr wrap="square" lIns="0" tIns="0" rIns="0" bIns="0" rtlCol="0" anchor="ctr">
            <a:normAutofit/>
          </a:bodyPr>
          <a:lstStyle/>
          <a:p>
            <a:pPr indent="0" marL="0">
              <a:buNone/>
            </a:pPr>
            <a:r>
              <a:rPr lang="en-US" sz="900" dirty="0">
                <a:solidFill>
                  <a:srgbClr val="526571"/>
                </a:solidFill>
                <a:latin typeface="Aptos" pitchFamily="34" charset="0"/>
                <a:ea typeface="Aptos" pitchFamily="34" charset="-122"/>
                <a:cs typeface="Aptos" pitchFamily="34" charset="-120"/>
              </a:rPr>
              <a:t>Primary-source registry: sources/registry.json</a:t>
            </a:r>
            <a:endParaRPr lang="en-US" sz="900" dirty="0"/>
          </a:p>
        </p:txBody>
      </p:sp>
      <p:sp>
        <p:nvSpPr>
          <p:cNvPr id="7" name="Text 5"/>
          <p:cNvSpPr/>
          <p:nvPr/>
        </p:nvSpPr>
        <p:spPr>
          <a:xfrm>
            <a:off x="11082528" y="6446520"/>
            <a:ext cx="548640" cy="228600"/>
          </a:xfrm>
          <a:prstGeom prst="rect">
            <a:avLst/>
          </a:prstGeom>
          <a:noFill/>
          <a:ln/>
        </p:spPr>
        <p:txBody>
          <a:bodyPr wrap="square" lIns="0" tIns="0" rIns="0" bIns="0" rtlCol="0" anchor="ctr">
            <a:normAutofit/>
          </a:bodyPr>
          <a:lstStyle/>
          <a:p>
            <a:pPr algn="r" indent="0" marL="0">
              <a:buNone/>
            </a:pPr>
            <a:r>
              <a:rPr lang="en-US" sz="1100" dirty="0">
                <a:solidFill>
                  <a:srgbClr val="526571"/>
                </a:solidFill>
                <a:latin typeface="Aptos" pitchFamily="34" charset="0"/>
                <a:ea typeface="Aptos" pitchFamily="34" charset="-122"/>
                <a:cs typeface="Aptos" pitchFamily="34" charset="-120"/>
              </a:rPr>
              <a:t>03</a:t>
            </a:r>
            <a:endParaRPr lang="en-US" sz="1100" dirty="0"/>
          </a:p>
        </p:txBody>
      </p:sp>
      <p:sp>
        <p:nvSpPr>
          <p:cNvPr id="9" name="Shape 6"/>
          <p:cNvSpPr/>
          <p:nvPr/>
        </p:nvSpPr>
        <p:spPr>
          <a:xfrm>
            <a:off x="548640" y="1847088"/>
            <a:ext cx="1508760" cy="630936"/>
          </a:xfrm>
          <a:prstGeom prst="rect">
            <a:avLst/>
          </a:prstGeom>
          <a:solidFill>
            <a:srgbClr val="112C39"/>
          </a:solidFill>
          <a:ln w="12700">
            <a:solidFill>
              <a:srgbClr val="FFFFFF"/>
            </a:solidFill>
            <a:prstDash val="solid"/>
          </a:ln>
        </p:spPr>
      </p:sp>
      <p:sp>
        <p:nvSpPr>
          <p:cNvPr id="10" name="Text 7"/>
          <p:cNvSpPr/>
          <p:nvPr/>
        </p:nvSpPr>
        <p:spPr>
          <a:xfrm>
            <a:off x="658368" y="1956816"/>
            <a:ext cx="1289304" cy="493776"/>
          </a:xfrm>
          <a:prstGeom prst="rect">
            <a:avLst/>
          </a:prstGeom>
          <a:noFill/>
          <a:ln/>
        </p:spPr>
        <p:txBody>
          <a:bodyPr wrap="square" lIns="0" tIns="0" rIns="0" bIns="0" rtlCol="0" anchor="ctr">
            <a:normAutofit/>
          </a:bodyPr>
          <a:lstStyle/>
          <a:p>
            <a:pPr indent="0" marL="0">
              <a:buNone/>
            </a:pPr>
            <a:r>
              <a:rPr lang="en-US" sz="1600" b="1" dirty="0">
                <a:solidFill>
                  <a:srgbClr val="FFFFFF"/>
                </a:solidFill>
                <a:latin typeface="Aptos" pitchFamily="34" charset="0"/>
                <a:ea typeface="Aptos" pitchFamily="34" charset="-122"/>
                <a:cs typeface="Aptos" pitchFamily="34" charset="-120"/>
              </a:rPr>
              <a:t>Period</a:t>
            </a:r>
            <a:endParaRPr lang="en-US" sz="1600" dirty="0"/>
          </a:p>
        </p:txBody>
      </p:sp>
      <p:sp>
        <p:nvSpPr>
          <p:cNvPr id="11" name="Shape 8"/>
          <p:cNvSpPr/>
          <p:nvPr/>
        </p:nvSpPr>
        <p:spPr>
          <a:xfrm>
            <a:off x="2057400" y="1847088"/>
            <a:ext cx="4389120" cy="630936"/>
          </a:xfrm>
          <a:prstGeom prst="rect">
            <a:avLst/>
          </a:prstGeom>
          <a:solidFill>
            <a:srgbClr val="112C39"/>
          </a:solidFill>
          <a:ln w="12700">
            <a:solidFill>
              <a:srgbClr val="FFFFFF"/>
            </a:solidFill>
            <a:prstDash val="solid"/>
          </a:ln>
        </p:spPr>
      </p:sp>
      <p:sp>
        <p:nvSpPr>
          <p:cNvPr id="12" name="Text 9"/>
          <p:cNvSpPr/>
          <p:nvPr/>
        </p:nvSpPr>
        <p:spPr>
          <a:xfrm>
            <a:off x="2167128" y="1956816"/>
            <a:ext cx="4169664" cy="493776"/>
          </a:xfrm>
          <a:prstGeom prst="rect">
            <a:avLst/>
          </a:prstGeom>
          <a:noFill/>
          <a:ln/>
        </p:spPr>
        <p:txBody>
          <a:bodyPr wrap="square" lIns="0" tIns="0" rIns="0" bIns="0" rtlCol="0" anchor="ctr">
            <a:normAutofit/>
          </a:bodyPr>
          <a:lstStyle/>
          <a:p>
            <a:pPr indent="0" marL="0">
              <a:buNone/>
            </a:pPr>
            <a:r>
              <a:rPr lang="en-US" sz="1600" b="1" dirty="0">
                <a:solidFill>
                  <a:srgbClr val="FFFFFF"/>
                </a:solidFill>
                <a:latin typeface="Aptos" pitchFamily="34" charset="0"/>
                <a:ea typeface="Aptos" pitchFamily="34" charset="-122"/>
                <a:cs typeface="Aptos" pitchFamily="34" charset="-120"/>
              </a:rPr>
              <a:t>Main idea</a:t>
            </a:r>
            <a:endParaRPr lang="en-US" sz="1600" dirty="0"/>
          </a:p>
        </p:txBody>
      </p:sp>
      <p:sp>
        <p:nvSpPr>
          <p:cNvPr id="13" name="Shape 10"/>
          <p:cNvSpPr/>
          <p:nvPr/>
        </p:nvSpPr>
        <p:spPr>
          <a:xfrm>
            <a:off x="6446520" y="1847088"/>
            <a:ext cx="5166360" cy="630936"/>
          </a:xfrm>
          <a:prstGeom prst="rect">
            <a:avLst/>
          </a:prstGeom>
          <a:solidFill>
            <a:srgbClr val="112C39"/>
          </a:solidFill>
          <a:ln w="12700">
            <a:solidFill>
              <a:srgbClr val="FFFFFF"/>
            </a:solidFill>
            <a:prstDash val="solid"/>
          </a:ln>
        </p:spPr>
      </p:sp>
      <p:sp>
        <p:nvSpPr>
          <p:cNvPr id="14" name="Text 11"/>
          <p:cNvSpPr/>
          <p:nvPr/>
        </p:nvSpPr>
        <p:spPr>
          <a:xfrm>
            <a:off x="6556248" y="1956816"/>
            <a:ext cx="4946904" cy="493776"/>
          </a:xfrm>
          <a:prstGeom prst="rect">
            <a:avLst/>
          </a:prstGeom>
          <a:noFill/>
          <a:ln/>
        </p:spPr>
        <p:txBody>
          <a:bodyPr wrap="square" lIns="0" tIns="0" rIns="0" bIns="0" rtlCol="0" anchor="ctr">
            <a:normAutofit/>
          </a:bodyPr>
          <a:lstStyle/>
          <a:p>
            <a:pPr indent="0" marL="0">
              <a:buNone/>
            </a:pPr>
            <a:r>
              <a:rPr lang="en-US" sz="1600" b="1" dirty="0">
                <a:solidFill>
                  <a:srgbClr val="FFFFFF"/>
                </a:solidFill>
                <a:latin typeface="Aptos" pitchFamily="34" charset="0"/>
                <a:ea typeface="Aptos" pitchFamily="34" charset="-122"/>
                <a:cs typeface="Aptos" pitchFamily="34" charset="-120"/>
              </a:rPr>
              <a:t>Representative approaches</a:t>
            </a:r>
            <a:endParaRPr lang="en-US" sz="1600" dirty="0"/>
          </a:p>
        </p:txBody>
      </p:sp>
      <p:sp>
        <p:nvSpPr>
          <p:cNvPr id="15" name="Shape 12"/>
          <p:cNvSpPr/>
          <p:nvPr/>
        </p:nvSpPr>
        <p:spPr>
          <a:xfrm>
            <a:off x="548640" y="2478024"/>
            <a:ext cx="1508760" cy="630936"/>
          </a:xfrm>
          <a:prstGeom prst="rect">
            <a:avLst/>
          </a:prstGeom>
          <a:solidFill>
            <a:srgbClr val="EFF5F6"/>
          </a:solidFill>
          <a:ln w="6350">
            <a:solidFill>
              <a:srgbClr val="D9E3E6"/>
            </a:solidFill>
            <a:prstDash val="solid"/>
          </a:ln>
        </p:spPr>
      </p:sp>
      <p:sp>
        <p:nvSpPr>
          <p:cNvPr id="16" name="Text 13"/>
          <p:cNvSpPr/>
          <p:nvPr/>
        </p:nvSpPr>
        <p:spPr>
          <a:xfrm>
            <a:off x="658368" y="2578608"/>
            <a:ext cx="1289304" cy="475488"/>
          </a:xfrm>
          <a:prstGeom prst="rect">
            <a:avLst/>
          </a:prstGeom>
          <a:noFill/>
          <a:ln/>
        </p:spPr>
        <p:txBody>
          <a:bodyPr wrap="square" lIns="0" tIns="0" rIns="0" bIns="0" rtlCol="0" anchor="ctr">
            <a:normAutofit/>
          </a:bodyPr>
          <a:lstStyle/>
          <a:p>
            <a:pPr indent="0" marL="0">
              <a:buNone/>
            </a:pPr>
            <a:r>
              <a:rPr lang="en-US" sz="1600" dirty="0">
                <a:solidFill>
                  <a:srgbClr val="162733"/>
                </a:solidFill>
                <a:latin typeface="Aptos" pitchFamily="34" charset="0"/>
                <a:ea typeface="Aptos" pitchFamily="34" charset="-122"/>
                <a:cs typeface="Aptos" pitchFamily="34" charset="-120"/>
              </a:rPr>
              <a:t>2018–20</a:t>
            </a:r>
            <a:endParaRPr lang="en-US" sz="1600" dirty="0"/>
          </a:p>
        </p:txBody>
      </p:sp>
      <p:sp>
        <p:nvSpPr>
          <p:cNvPr id="17" name="Shape 14"/>
          <p:cNvSpPr/>
          <p:nvPr/>
        </p:nvSpPr>
        <p:spPr>
          <a:xfrm>
            <a:off x="2057400" y="2478024"/>
            <a:ext cx="4389120" cy="630936"/>
          </a:xfrm>
          <a:prstGeom prst="rect">
            <a:avLst/>
          </a:prstGeom>
          <a:solidFill>
            <a:srgbClr val="EFF5F6"/>
          </a:solidFill>
          <a:ln w="6350">
            <a:solidFill>
              <a:srgbClr val="D9E3E6"/>
            </a:solidFill>
            <a:prstDash val="solid"/>
          </a:ln>
        </p:spPr>
      </p:sp>
      <p:sp>
        <p:nvSpPr>
          <p:cNvPr id="18" name="Text 15"/>
          <p:cNvSpPr/>
          <p:nvPr/>
        </p:nvSpPr>
        <p:spPr>
          <a:xfrm>
            <a:off x="2167128" y="2578608"/>
            <a:ext cx="4169664" cy="475488"/>
          </a:xfrm>
          <a:prstGeom prst="rect">
            <a:avLst/>
          </a:prstGeom>
          <a:noFill/>
          <a:ln/>
        </p:spPr>
        <p:txBody>
          <a:bodyPr wrap="square" lIns="0" tIns="0" rIns="0" bIns="0" rtlCol="0" anchor="ctr">
            <a:normAutofit/>
          </a:bodyPr>
          <a:lstStyle/>
          <a:p>
            <a:pPr indent="0" marL="0">
              <a:buNone/>
            </a:pPr>
            <a:r>
              <a:rPr lang="en-US" sz="1600" dirty="0">
                <a:solidFill>
                  <a:srgbClr val="162733"/>
                </a:solidFill>
                <a:latin typeface="Aptos" pitchFamily="34" charset="0"/>
                <a:ea typeface="Aptos" pitchFamily="34" charset="-122"/>
                <a:cs typeface="Aptos" pitchFamily="34" charset="-120"/>
              </a:rPr>
              <a:t>Predict positions; bound error; build cheaply</a:t>
            </a:r>
            <a:endParaRPr lang="en-US" sz="1600" dirty="0"/>
          </a:p>
        </p:txBody>
      </p:sp>
      <p:sp>
        <p:nvSpPr>
          <p:cNvPr id="19" name="Shape 16"/>
          <p:cNvSpPr/>
          <p:nvPr/>
        </p:nvSpPr>
        <p:spPr>
          <a:xfrm>
            <a:off x="6446520" y="2478024"/>
            <a:ext cx="5166360" cy="630936"/>
          </a:xfrm>
          <a:prstGeom prst="rect">
            <a:avLst/>
          </a:prstGeom>
          <a:solidFill>
            <a:srgbClr val="EFF5F6"/>
          </a:solidFill>
          <a:ln w="6350">
            <a:solidFill>
              <a:srgbClr val="D9E3E6"/>
            </a:solidFill>
            <a:prstDash val="solid"/>
          </a:ln>
        </p:spPr>
      </p:sp>
      <p:sp>
        <p:nvSpPr>
          <p:cNvPr id="20" name="Text 17"/>
          <p:cNvSpPr/>
          <p:nvPr/>
        </p:nvSpPr>
        <p:spPr>
          <a:xfrm>
            <a:off x="6556248" y="2578608"/>
            <a:ext cx="4946904" cy="475488"/>
          </a:xfrm>
          <a:prstGeom prst="rect">
            <a:avLst/>
          </a:prstGeom>
          <a:noFill/>
          <a:ln/>
        </p:spPr>
        <p:txBody>
          <a:bodyPr wrap="square" lIns="0" tIns="0" rIns="0" bIns="0" rtlCol="0" anchor="ctr">
            <a:normAutofit/>
          </a:bodyPr>
          <a:lstStyle/>
          <a:p>
            <a:pPr indent="0" marL="0">
              <a:buNone/>
            </a:pPr>
            <a:r>
              <a:rPr lang="en-US" sz="1600" dirty="0">
                <a:solidFill>
                  <a:srgbClr val="162733"/>
                </a:solidFill>
                <a:latin typeface="Aptos" pitchFamily="34" charset="0"/>
                <a:ea typeface="Aptos" pitchFamily="34" charset="-122"/>
                <a:cs typeface="Aptos" pitchFamily="34" charset="-120"/>
              </a:rPr>
              <a:t>RMI → FITing-Tree → PGM / RadixSpline</a:t>
            </a:r>
            <a:endParaRPr lang="en-US" sz="1600" dirty="0"/>
          </a:p>
        </p:txBody>
      </p:sp>
      <p:sp>
        <p:nvSpPr>
          <p:cNvPr id="21" name="Shape 18"/>
          <p:cNvSpPr/>
          <p:nvPr/>
        </p:nvSpPr>
        <p:spPr>
          <a:xfrm>
            <a:off x="548640" y="3108960"/>
            <a:ext cx="1508760" cy="630936"/>
          </a:xfrm>
          <a:prstGeom prst="rect">
            <a:avLst/>
          </a:prstGeom>
          <a:solidFill>
            <a:srgbClr val="FFFFFF"/>
          </a:solidFill>
          <a:ln w="6350">
            <a:solidFill>
              <a:srgbClr val="D9E3E6"/>
            </a:solidFill>
            <a:prstDash val="solid"/>
          </a:ln>
        </p:spPr>
      </p:sp>
      <p:sp>
        <p:nvSpPr>
          <p:cNvPr id="22" name="Text 19"/>
          <p:cNvSpPr/>
          <p:nvPr/>
        </p:nvSpPr>
        <p:spPr>
          <a:xfrm>
            <a:off x="658368" y="3209544"/>
            <a:ext cx="1289304" cy="475488"/>
          </a:xfrm>
          <a:prstGeom prst="rect">
            <a:avLst/>
          </a:prstGeom>
          <a:noFill/>
          <a:ln/>
        </p:spPr>
        <p:txBody>
          <a:bodyPr wrap="square" lIns="0" tIns="0" rIns="0" bIns="0" rtlCol="0" anchor="ctr">
            <a:normAutofit/>
          </a:bodyPr>
          <a:lstStyle/>
          <a:p>
            <a:pPr indent="0" marL="0">
              <a:buNone/>
            </a:pPr>
            <a:r>
              <a:rPr lang="en-US" sz="1600" dirty="0">
                <a:solidFill>
                  <a:srgbClr val="162733"/>
                </a:solidFill>
                <a:latin typeface="Aptos" pitchFamily="34" charset="0"/>
                <a:ea typeface="Aptos" pitchFamily="34" charset="-122"/>
                <a:cs typeface="Aptos" pitchFamily="34" charset="-120"/>
              </a:rPr>
              <a:t>2020–23</a:t>
            </a:r>
            <a:endParaRPr lang="en-US" sz="1600" dirty="0"/>
          </a:p>
        </p:txBody>
      </p:sp>
      <p:sp>
        <p:nvSpPr>
          <p:cNvPr id="23" name="Shape 20"/>
          <p:cNvSpPr/>
          <p:nvPr/>
        </p:nvSpPr>
        <p:spPr>
          <a:xfrm>
            <a:off x="2057400" y="3108960"/>
            <a:ext cx="4389120" cy="630936"/>
          </a:xfrm>
          <a:prstGeom prst="rect">
            <a:avLst/>
          </a:prstGeom>
          <a:solidFill>
            <a:srgbClr val="FFFFFF"/>
          </a:solidFill>
          <a:ln w="6350">
            <a:solidFill>
              <a:srgbClr val="D9E3E6"/>
            </a:solidFill>
            <a:prstDash val="solid"/>
          </a:ln>
        </p:spPr>
      </p:sp>
      <p:sp>
        <p:nvSpPr>
          <p:cNvPr id="24" name="Text 21"/>
          <p:cNvSpPr/>
          <p:nvPr/>
        </p:nvSpPr>
        <p:spPr>
          <a:xfrm>
            <a:off x="2167128" y="3209544"/>
            <a:ext cx="4169664" cy="475488"/>
          </a:xfrm>
          <a:prstGeom prst="rect">
            <a:avLst/>
          </a:prstGeom>
          <a:noFill/>
          <a:ln/>
        </p:spPr>
        <p:txBody>
          <a:bodyPr wrap="square" lIns="0" tIns="0" rIns="0" bIns="0" rtlCol="0" anchor="ctr">
            <a:normAutofit/>
          </a:bodyPr>
          <a:lstStyle/>
          <a:p>
            <a:pPr indent="0" marL="0">
              <a:buNone/>
            </a:pPr>
            <a:r>
              <a:rPr lang="en-US" sz="1600" dirty="0">
                <a:solidFill>
                  <a:srgbClr val="162733"/>
                </a:solidFill>
                <a:latin typeface="Aptos" pitchFamily="34" charset="0"/>
                <a:ea typeface="Aptos" pitchFamily="34" charset="-122"/>
                <a:cs typeface="Aptos" pitchFamily="34" charset="-120"/>
              </a:rPr>
              <a:t>Maintain learned structure under updates</a:t>
            </a:r>
            <a:endParaRPr lang="en-US" sz="1600" dirty="0"/>
          </a:p>
        </p:txBody>
      </p:sp>
      <p:sp>
        <p:nvSpPr>
          <p:cNvPr id="25" name="Shape 22"/>
          <p:cNvSpPr/>
          <p:nvPr/>
        </p:nvSpPr>
        <p:spPr>
          <a:xfrm>
            <a:off x="6446520" y="3108960"/>
            <a:ext cx="5166360" cy="630936"/>
          </a:xfrm>
          <a:prstGeom prst="rect">
            <a:avLst/>
          </a:prstGeom>
          <a:solidFill>
            <a:srgbClr val="FFFFFF"/>
          </a:solidFill>
          <a:ln w="6350">
            <a:solidFill>
              <a:srgbClr val="D9E3E6"/>
            </a:solidFill>
            <a:prstDash val="solid"/>
          </a:ln>
        </p:spPr>
      </p:sp>
      <p:sp>
        <p:nvSpPr>
          <p:cNvPr id="26" name="Text 23"/>
          <p:cNvSpPr/>
          <p:nvPr/>
        </p:nvSpPr>
        <p:spPr>
          <a:xfrm>
            <a:off x="6556248" y="3209544"/>
            <a:ext cx="4946904" cy="475488"/>
          </a:xfrm>
          <a:prstGeom prst="rect">
            <a:avLst/>
          </a:prstGeom>
          <a:noFill/>
          <a:ln/>
        </p:spPr>
        <p:txBody>
          <a:bodyPr wrap="square" lIns="0" tIns="0" rIns="0" bIns="0" rtlCol="0" anchor="ctr">
            <a:normAutofit/>
          </a:bodyPr>
          <a:lstStyle/>
          <a:p>
            <a:pPr indent="0" marL="0">
              <a:buNone/>
            </a:pPr>
            <a:r>
              <a:rPr lang="en-US" sz="1600" dirty="0">
                <a:solidFill>
                  <a:srgbClr val="162733"/>
                </a:solidFill>
                <a:latin typeface="Aptos" pitchFamily="34" charset="0"/>
                <a:ea typeface="Aptos" pitchFamily="34" charset="-122"/>
                <a:cs typeface="Aptos" pitchFamily="34" charset="-120"/>
              </a:rPr>
              <a:t>ALEX → LIPP → SALI</a:t>
            </a:r>
            <a:endParaRPr lang="en-US" sz="1600" dirty="0"/>
          </a:p>
        </p:txBody>
      </p:sp>
      <p:sp>
        <p:nvSpPr>
          <p:cNvPr id="27" name="Shape 24"/>
          <p:cNvSpPr/>
          <p:nvPr/>
        </p:nvSpPr>
        <p:spPr>
          <a:xfrm>
            <a:off x="548640" y="3739896"/>
            <a:ext cx="1508760" cy="630936"/>
          </a:xfrm>
          <a:prstGeom prst="rect">
            <a:avLst/>
          </a:prstGeom>
          <a:solidFill>
            <a:srgbClr val="EFF5F6"/>
          </a:solidFill>
          <a:ln w="6350">
            <a:solidFill>
              <a:srgbClr val="D9E3E6"/>
            </a:solidFill>
            <a:prstDash val="solid"/>
          </a:ln>
        </p:spPr>
      </p:sp>
      <p:sp>
        <p:nvSpPr>
          <p:cNvPr id="28" name="Text 25"/>
          <p:cNvSpPr/>
          <p:nvPr/>
        </p:nvSpPr>
        <p:spPr>
          <a:xfrm>
            <a:off x="658368" y="3840480"/>
            <a:ext cx="1289304" cy="475488"/>
          </a:xfrm>
          <a:prstGeom prst="rect">
            <a:avLst/>
          </a:prstGeom>
          <a:noFill/>
          <a:ln/>
        </p:spPr>
        <p:txBody>
          <a:bodyPr wrap="square" lIns="0" tIns="0" rIns="0" bIns="0" rtlCol="0" anchor="ctr">
            <a:normAutofit/>
          </a:bodyPr>
          <a:lstStyle/>
          <a:p>
            <a:pPr indent="0" marL="0">
              <a:buNone/>
            </a:pPr>
            <a:r>
              <a:rPr lang="en-US" sz="1600" dirty="0">
                <a:solidFill>
                  <a:srgbClr val="162733"/>
                </a:solidFill>
                <a:latin typeface="Aptos" pitchFamily="34" charset="0"/>
                <a:ea typeface="Aptos" pitchFamily="34" charset="-122"/>
                <a:cs typeface="Aptos" pitchFamily="34" charset="-120"/>
              </a:rPr>
              <a:t>2021–24</a:t>
            </a:r>
            <a:endParaRPr lang="en-US" sz="1600" dirty="0"/>
          </a:p>
        </p:txBody>
      </p:sp>
      <p:sp>
        <p:nvSpPr>
          <p:cNvPr id="29" name="Shape 26"/>
          <p:cNvSpPr/>
          <p:nvPr/>
        </p:nvSpPr>
        <p:spPr>
          <a:xfrm>
            <a:off x="2057400" y="3739896"/>
            <a:ext cx="4389120" cy="630936"/>
          </a:xfrm>
          <a:prstGeom prst="rect">
            <a:avLst/>
          </a:prstGeom>
          <a:solidFill>
            <a:srgbClr val="EFF5F6"/>
          </a:solidFill>
          <a:ln w="6350">
            <a:solidFill>
              <a:srgbClr val="D9E3E6"/>
            </a:solidFill>
            <a:prstDash val="solid"/>
          </a:ln>
        </p:spPr>
      </p:sp>
      <p:sp>
        <p:nvSpPr>
          <p:cNvPr id="30" name="Text 27"/>
          <p:cNvSpPr/>
          <p:nvPr/>
        </p:nvSpPr>
        <p:spPr>
          <a:xfrm>
            <a:off x="2167128" y="3840480"/>
            <a:ext cx="4169664" cy="475488"/>
          </a:xfrm>
          <a:prstGeom prst="rect">
            <a:avLst/>
          </a:prstGeom>
          <a:noFill/>
          <a:ln/>
        </p:spPr>
        <p:txBody>
          <a:bodyPr wrap="square" lIns="0" tIns="0" rIns="0" bIns="0" rtlCol="0" anchor="ctr">
            <a:normAutofit/>
          </a:bodyPr>
          <a:lstStyle/>
          <a:p>
            <a:pPr indent="0" marL="0">
              <a:buNone/>
            </a:pPr>
            <a:r>
              <a:rPr lang="en-US" sz="1600" dirty="0">
                <a:solidFill>
                  <a:srgbClr val="162733"/>
                </a:solidFill>
                <a:latin typeface="Aptos" pitchFamily="34" charset="0"/>
                <a:ea typeface="Aptos" pitchFamily="34" charset="-122"/>
                <a:cs typeface="Aptos" pitchFamily="34" charset="-120"/>
              </a:rPr>
              <a:t>Compress while retaining direct access</a:t>
            </a:r>
            <a:endParaRPr lang="en-US" sz="1600" dirty="0"/>
          </a:p>
        </p:txBody>
      </p:sp>
      <p:sp>
        <p:nvSpPr>
          <p:cNvPr id="31" name="Shape 28"/>
          <p:cNvSpPr/>
          <p:nvPr/>
        </p:nvSpPr>
        <p:spPr>
          <a:xfrm>
            <a:off x="6446520" y="3739896"/>
            <a:ext cx="5166360" cy="630936"/>
          </a:xfrm>
          <a:prstGeom prst="rect">
            <a:avLst/>
          </a:prstGeom>
          <a:solidFill>
            <a:srgbClr val="EFF5F6"/>
          </a:solidFill>
          <a:ln w="6350">
            <a:solidFill>
              <a:srgbClr val="D9E3E6"/>
            </a:solidFill>
            <a:prstDash val="solid"/>
          </a:ln>
        </p:spPr>
      </p:sp>
      <p:sp>
        <p:nvSpPr>
          <p:cNvPr id="32" name="Text 29"/>
          <p:cNvSpPr/>
          <p:nvPr/>
        </p:nvSpPr>
        <p:spPr>
          <a:xfrm>
            <a:off x="6556248" y="3840480"/>
            <a:ext cx="4946904" cy="475488"/>
          </a:xfrm>
          <a:prstGeom prst="rect">
            <a:avLst/>
          </a:prstGeom>
          <a:noFill/>
          <a:ln/>
        </p:spPr>
        <p:txBody>
          <a:bodyPr wrap="square" lIns="0" tIns="0" rIns="0" bIns="0" rtlCol="0" anchor="ctr">
            <a:normAutofit/>
          </a:bodyPr>
          <a:lstStyle/>
          <a:p>
            <a:pPr indent="0" marL="0">
              <a:buNone/>
            </a:pPr>
            <a:r>
              <a:rPr lang="en-US" sz="1600" dirty="0">
                <a:solidFill>
                  <a:srgbClr val="162733"/>
                </a:solidFill>
                <a:latin typeface="Aptos" pitchFamily="34" charset="0"/>
                <a:ea typeface="Aptos" pitchFamily="34" charset="-122"/>
                <a:cs typeface="Aptos" pitchFamily="34" charset="-120"/>
              </a:rPr>
              <a:t>LA-vector → LeCo</a:t>
            </a:r>
            <a:endParaRPr lang="en-US" sz="1600" dirty="0"/>
          </a:p>
        </p:txBody>
      </p:sp>
      <p:sp>
        <p:nvSpPr>
          <p:cNvPr id="33" name="Shape 30"/>
          <p:cNvSpPr/>
          <p:nvPr/>
        </p:nvSpPr>
        <p:spPr>
          <a:xfrm>
            <a:off x="548640" y="4370832"/>
            <a:ext cx="1508760" cy="630936"/>
          </a:xfrm>
          <a:prstGeom prst="rect">
            <a:avLst/>
          </a:prstGeom>
          <a:solidFill>
            <a:srgbClr val="FFFFFF"/>
          </a:solidFill>
          <a:ln w="6350">
            <a:solidFill>
              <a:srgbClr val="D9E3E6"/>
            </a:solidFill>
            <a:prstDash val="solid"/>
          </a:ln>
        </p:spPr>
      </p:sp>
      <p:sp>
        <p:nvSpPr>
          <p:cNvPr id="34" name="Text 31"/>
          <p:cNvSpPr/>
          <p:nvPr/>
        </p:nvSpPr>
        <p:spPr>
          <a:xfrm>
            <a:off x="658368" y="4471416"/>
            <a:ext cx="1289304" cy="475488"/>
          </a:xfrm>
          <a:prstGeom prst="rect">
            <a:avLst/>
          </a:prstGeom>
          <a:noFill/>
          <a:ln/>
        </p:spPr>
        <p:txBody>
          <a:bodyPr wrap="square" lIns="0" tIns="0" rIns="0" bIns="0" rtlCol="0" anchor="ctr">
            <a:normAutofit/>
          </a:bodyPr>
          <a:lstStyle/>
          <a:p>
            <a:pPr indent="0" marL="0">
              <a:buNone/>
            </a:pPr>
            <a:r>
              <a:rPr lang="en-US" sz="1600" dirty="0">
                <a:solidFill>
                  <a:srgbClr val="162733"/>
                </a:solidFill>
                <a:latin typeface="Aptos" pitchFamily="34" charset="0"/>
                <a:ea typeface="Aptos" pitchFamily="34" charset="-122"/>
                <a:cs typeface="Aptos" pitchFamily="34" charset="-120"/>
              </a:rPr>
              <a:t>2022–25</a:t>
            </a:r>
            <a:endParaRPr lang="en-US" sz="1600" dirty="0"/>
          </a:p>
        </p:txBody>
      </p:sp>
      <p:sp>
        <p:nvSpPr>
          <p:cNvPr id="35" name="Shape 32"/>
          <p:cNvSpPr/>
          <p:nvPr/>
        </p:nvSpPr>
        <p:spPr>
          <a:xfrm>
            <a:off x="2057400" y="4370832"/>
            <a:ext cx="4389120" cy="630936"/>
          </a:xfrm>
          <a:prstGeom prst="rect">
            <a:avLst/>
          </a:prstGeom>
          <a:solidFill>
            <a:srgbClr val="FFFFFF"/>
          </a:solidFill>
          <a:ln w="6350">
            <a:solidFill>
              <a:srgbClr val="D9E3E6"/>
            </a:solidFill>
            <a:prstDash val="solid"/>
          </a:ln>
        </p:spPr>
      </p:sp>
      <p:sp>
        <p:nvSpPr>
          <p:cNvPr id="36" name="Text 33"/>
          <p:cNvSpPr/>
          <p:nvPr/>
        </p:nvSpPr>
        <p:spPr>
          <a:xfrm>
            <a:off x="2167128" y="4471416"/>
            <a:ext cx="4169664" cy="475488"/>
          </a:xfrm>
          <a:prstGeom prst="rect">
            <a:avLst/>
          </a:prstGeom>
          <a:noFill/>
          <a:ln/>
        </p:spPr>
        <p:txBody>
          <a:bodyPr wrap="square" lIns="0" tIns="0" rIns="0" bIns="0" rtlCol="0" anchor="ctr">
            <a:normAutofit/>
          </a:bodyPr>
          <a:lstStyle/>
          <a:p>
            <a:pPr indent="0" marL="0">
              <a:buNone/>
            </a:pPr>
            <a:r>
              <a:rPr lang="en-US" sz="1600" dirty="0">
                <a:solidFill>
                  <a:srgbClr val="162733"/>
                </a:solidFill>
                <a:latin typeface="Aptos" pitchFamily="34" charset="0"/>
                <a:ea typeface="Aptos" pitchFamily="34" charset="-122"/>
                <a:cs typeface="Aptos" pitchFamily="34" charset="-120"/>
              </a:rPr>
              <a:t>Change the distribution / positions</a:t>
            </a:r>
            <a:endParaRPr lang="en-US" sz="1600" dirty="0"/>
          </a:p>
        </p:txBody>
      </p:sp>
      <p:sp>
        <p:nvSpPr>
          <p:cNvPr id="37" name="Shape 34"/>
          <p:cNvSpPr/>
          <p:nvPr/>
        </p:nvSpPr>
        <p:spPr>
          <a:xfrm>
            <a:off x="6446520" y="4370832"/>
            <a:ext cx="5166360" cy="630936"/>
          </a:xfrm>
          <a:prstGeom prst="rect">
            <a:avLst/>
          </a:prstGeom>
          <a:solidFill>
            <a:srgbClr val="FFFFFF"/>
          </a:solidFill>
          <a:ln w="6350">
            <a:solidFill>
              <a:srgbClr val="D9E3E6"/>
            </a:solidFill>
            <a:prstDash val="solid"/>
          </a:ln>
        </p:spPr>
      </p:sp>
      <p:sp>
        <p:nvSpPr>
          <p:cNvPr id="38" name="Text 35"/>
          <p:cNvSpPr/>
          <p:nvPr/>
        </p:nvSpPr>
        <p:spPr>
          <a:xfrm>
            <a:off x="6556248" y="4471416"/>
            <a:ext cx="4946904" cy="475488"/>
          </a:xfrm>
          <a:prstGeom prst="rect">
            <a:avLst/>
          </a:prstGeom>
          <a:noFill/>
          <a:ln/>
        </p:spPr>
        <p:txBody>
          <a:bodyPr wrap="square" lIns="0" tIns="0" rIns="0" bIns="0" rtlCol="0" anchor="ctr">
            <a:normAutofit/>
          </a:bodyPr>
          <a:lstStyle/>
          <a:p>
            <a:pPr indent="0" marL="0">
              <a:buNone/>
            </a:pPr>
            <a:r>
              <a:rPr lang="en-US" sz="1600" dirty="0">
                <a:solidFill>
                  <a:srgbClr val="162733"/>
                </a:solidFill>
                <a:latin typeface="Aptos" pitchFamily="34" charset="0"/>
                <a:ea typeface="Aptos" pitchFamily="34" charset="-122"/>
                <a:cs typeface="Aptos" pitchFamily="34" charset="-120"/>
              </a:rPr>
              <a:t>NFL → CSV</a:t>
            </a:r>
            <a:endParaRPr lang="en-US" sz="1600" dirty="0"/>
          </a:p>
        </p:txBody>
      </p:sp>
      <p:sp>
        <p:nvSpPr>
          <p:cNvPr id="39" name="Shape 36"/>
          <p:cNvSpPr/>
          <p:nvPr/>
        </p:nvSpPr>
        <p:spPr>
          <a:xfrm>
            <a:off x="548640" y="5001768"/>
            <a:ext cx="1508760" cy="630936"/>
          </a:xfrm>
          <a:prstGeom prst="rect">
            <a:avLst/>
          </a:prstGeom>
          <a:solidFill>
            <a:srgbClr val="EFF5F6"/>
          </a:solidFill>
          <a:ln w="6350">
            <a:solidFill>
              <a:srgbClr val="D9E3E6"/>
            </a:solidFill>
            <a:prstDash val="solid"/>
          </a:ln>
        </p:spPr>
      </p:sp>
      <p:sp>
        <p:nvSpPr>
          <p:cNvPr id="40" name="Text 37"/>
          <p:cNvSpPr/>
          <p:nvPr/>
        </p:nvSpPr>
        <p:spPr>
          <a:xfrm>
            <a:off x="658368" y="5102352"/>
            <a:ext cx="1289304" cy="475488"/>
          </a:xfrm>
          <a:prstGeom prst="rect">
            <a:avLst/>
          </a:prstGeom>
          <a:noFill/>
          <a:ln/>
        </p:spPr>
        <p:txBody>
          <a:bodyPr wrap="square" lIns="0" tIns="0" rIns="0" bIns="0" rtlCol="0" anchor="ctr">
            <a:normAutofit/>
          </a:bodyPr>
          <a:lstStyle/>
          <a:p>
            <a:pPr indent="0" marL="0">
              <a:buNone/>
            </a:pPr>
            <a:r>
              <a:rPr lang="en-US" sz="1600" dirty="0">
                <a:solidFill>
                  <a:srgbClr val="162733"/>
                </a:solidFill>
                <a:latin typeface="Aptos" pitchFamily="34" charset="0"/>
                <a:ea typeface="Aptos" pitchFamily="34" charset="-122"/>
                <a:cs typeface="Aptos" pitchFamily="34" charset="-120"/>
              </a:rPr>
              <a:t>2025–26</a:t>
            </a:r>
            <a:endParaRPr lang="en-US" sz="1600" dirty="0"/>
          </a:p>
        </p:txBody>
      </p:sp>
      <p:sp>
        <p:nvSpPr>
          <p:cNvPr id="41" name="Shape 38"/>
          <p:cNvSpPr/>
          <p:nvPr/>
        </p:nvSpPr>
        <p:spPr>
          <a:xfrm>
            <a:off x="2057400" y="5001768"/>
            <a:ext cx="4389120" cy="630936"/>
          </a:xfrm>
          <a:prstGeom prst="rect">
            <a:avLst/>
          </a:prstGeom>
          <a:solidFill>
            <a:srgbClr val="EFF5F6"/>
          </a:solidFill>
          <a:ln w="6350">
            <a:solidFill>
              <a:srgbClr val="D9E3E6"/>
            </a:solidFill>
            <a:prstDash val="solid"/>
          </a:ln>
        </p:spPr>
      </p:sp>
      <p:sp>
        <p:nvSpPr>
          <p:cNvPr id="42" name="Text 39"/>
          <p:cNvSpPr/>
          <p:nvPr/>
        </p:nvSpPr>
        <p:spPr>
          <a:xfrm>
            <a:off x="2167128" y="5102352"/>
            <a:ext cx="4169664" cy="475488"/>
          </a:xfrm>
          <a:prstGeom prst="rect">
            <a:avLst/>
          </a:prstGeom>
          <a:noFill/>
          <a:ln/>
        </p:spPr>
        <p:txBody>
          <a:bodyPr wrap="square" lIns="0" tIns="0" rIns="0" bIns="0" rtlCol="0" anchor="ctr">
            <a:normAutofit/>
          </a:bodyPr>
          <a:lstStyle/>
          <a:p>
            <a:pPr indent="0" marL="0">
              <a:buNone/>
            </a:pPr>
            <a:r>
              <a:rPr lang="en-US" sz="1600" dirty="0">
                <a:solidFill>
                  <a:srgbClr val="162733"/>
                </a:solidFill>
                <a:latin typeface="Aptos" pitchFamily="34" charset="0"/>
                <a:ea typeface="Aptos" pitchFamily="34" charset="-122"/>
                <a:cs typeface="Aptos" pitchFamily="34" charset="-120"/>
              </a:rPr>
              <a:t>Evaluate robustness and maintenance tails</a:t>
            </a:r>
            <a:endParaRPr lang="en-US" sz="1600" dirty="0"/>
          </a:p>
        </p:txBody>
      </p:sp>
      <p:sp>
        <p:nvSpPr>
          <p:cNvPr id="43" name="Shape 40"/>
          <p:cNvSpPr/>
          <p:nvPr/>
        </p:nvSpPr>
        <p:spPr>
          <a:xfrm>
            <a:off x="6446520" y="5001768"/>
            <a:ext cx="5166360" cy="630936"/>
          </a:xfrm>
          <a:prstGeom prst="rect">
            <a:avLst/>
          </a:prstGeom>
          <a:solidFill>
            <a:srgbClr val="EFF5F6"/>
          </a:solidFill>
          <a:ln w="6350">
            <a:solidFill>
              <a:srgbClr val="D9E3E6"/>
            </a:solidFill>
            <a:prstDash val="solid"/>
          </a:ln>
        </p:spPr>
      </p:sp>
      <p:sp>
        <p:nvSpPr>
          <p:cNvPr id="44" name="Text 41"/>
          <p:cNvSpPr/>
          <p:nvPr/>
        </p:nvSpPr>
        <p:spPr>
          <a:xfrm>
            <a:off x="6556248" y="5102352"/>
            <a:ext cx="4946904" cy="475488"/>
          </a:xfrm>
          <a:prstGeom prst="rect">
            <a:avLst/>
          </a:prstGeom>
          <a:noFill/>
          <a:ln/>
        </p:spPr>
        <p:txBody>
          <a:bodyPr wrap="square" lIns="0" tIns="0" rIns="0" bIns="0" rtlCol="0" anchor="ctr">
            <a:normAutofit/>
          </a:bodyPr>
          <a:lstStyle/>
          <a:p>
            <a:pPr indent="0" marL="0">
              <a:buNone/>
            </a:pPr>
            <a:r>
              <a:rPr lang="en-US" sz="1600" dirty="0">
                <a:solidFill>
                  <a:srgbClr val="162733"/>
                </a:solidFill>
                <a:latin typeface="Aptos" pitchFamily="34" charset="0"/>
                <a:ea typeface="Aptos" pitchFamily="34" charset="-122"/>
                <a:cs typeface="Aptos" pitchFamily="34" charset="-120"/>
              </a:rPr>
              <a:t>SEA comparison / RoBin / LINE</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46888"/>
            <a:ext cx="10424160" cy="201168"/>
          </a:xfrm>
          <a:prstGeom prst="rect">
            <a:avLst/>
          </a:prstGeom>
          <a:noFill/>
          <a:ln/>
        </p:spPr>
        <p:txBody>
          <a:bodyPr wrap="square" lIns="0" tIns="0" rIns="0" bIns="0" rtlCol="0" anchor="ctr">
            <a:normAutofit/>
          </a:bodyPr>
          <a:lstStyle/>
          <a:p>
            <a:pPr indent="0" marL="0">
              <a:buNone/>
            </a:pPr>
            <a:r>
              <a:rPr lang="en-US" sz="1000" b="1" spc="110" kern="0" dirty="0">
                <a:solidFill>
                  <a:srgbClr val="11727B"/>
                </a:solidFill>
                <a:latin typeface="Aptos" pitchFamily="34" charset="0"/>
                <a:ea typeface="Aptos" pitchFamily="34" charset="-122"/>
                <a:cs typeface="Aptos" pitchFamily="34" charset="-120"/>
              </a:rPr>
              <a:t>L01 • SYNTHETIC DATASET</a:t>
            </a:r>
            <a:endParaRPr lang="en-US" sz="1000" dirty="0"/>
          </a:p>
        </p:txBody>
      </p:sp>
      <p:sp>
        <p:nvSpPr>
          <p:cNvPr id="3" name="Text 1"/>
          <p:cNvSpPr/>
          <p:nvPr/>
        </p:nvSpPr>
        <p:spPr>
          <a:xfrm>
            <a:off x="548640" y="640080"/>
            <a:ext cx="11064240" cy="603504"/>
          </a:xfrm>
          <a:prstGeom prst="rect">
            <a:avLst/>
          </a:prstGeom>
          <a:noFill/>
          <a:ln/>
        </p:spPr>
        <p:txBody>
          <a:bodyPr wrap="square" lIns="0" tIns="0" rIns="0" bIns="0" rtlCol="0" anchor="ctr">
            <a:normAutofit/>
          </a:bodyPr>
          <a:lstStyle/>
          <a:p>
            <a:pPr indent="0" marL="0">
              <a:buNone/>
            </a:pPr>
            <a:r>
              <a:rPr lang="en-US" sz="3000" b="1" dirty="0">
                <a:solidFill>
                  <a:srgbClr val="162733"/>
                </a:solidFill>
                <a:latin typeface="Aptos Display" pitchFamily="34" charset="0"/>
                <a:ea typeface="Aptos Display" pitchFamily="34" charset="-122"/>
                <a:cs typeface="Aptos Display" pitchFamily="34" charset="-120"/>
              </a:rPr>
              <a:t>Start with the task: exact ordered lookup</a:t>
            </a:r>
            <a:endParaRPr lang="en-US" sz="3000" dirty="0"/>
          </a:p>
        </p:txBody>
      </p:sp>
      <p:sp>
        <p:nvSpPr>
          <p:cNvPr id="4" name="Text 2"/>
          <p:cNvSpPr/>
          <p:nvPr/>
        </p:nvSpPr>
        <p:spPr>
          <a:xfrm>
            <a:off x="548640" y="1280160"/>
            <a:ext cx="11064240" cy="420624"/>
          </a:xfrm>
          <a:prstGeom prst="rect">
            <a:avLst/>
          </a:prstGeom>
          <a:noFill/>
          <a:ln/>
        </p:spPr>
        <p:txBody>
          <a:bodyPr wrap="square" lIns="0" tIns="0" rIns="0" bIns="0" rtlCol="0" anchor="ctr">
            <a:normAutofit/>
          </a:bodyPr>
          <a:lstStyle/>
          <a:p>
            <a:pPr indent="0" marL="0">
              <a:buNone/>
            </a:pPr>
            <a:r>
              <a:rPr lang="en-US" sz="1600" dirty="0">
                <a:solidFill>
                  <a:srgbClr val="526571"/>
                </a:solidFill>
                <a:latin typeface="Aptos" pitchFamily="34" charset="0"/>
                <a:ea typeface="Aptos" pitchFamily="34" charset="-122"/>
                <a:cs typeface="Aptos" pitchFamily="34" charset="-120"/>
              </a:rPr>
              <a:t>Use case: look up integer-keyed records and scan their successors.</a:t>
            </a:r>
            <a:endParaRPr lang="en-US" sz="1600" dirty="0"/>
          </a:p>
        </p:txBody>
      </p:sp>
      <p:sp>
        <p:nvSpPr>
          <p:cNvPr id="5" name="Shape 3"/>
          <p:cNvSpPr/>
          <p:nvPr/>
        </p:nvSpPr>
        <p:spPr>
          <a:xfrm>
            <a:off x="548640" y="6364224"/>
            <a:ext cx="11064240" cy="0"/>
          </a:xfrm>
          <a:prstGeom prst="line">
            <a:avLst/>
          </a:prstGeom>
          <a:noFill/>
          <a:ln w="12700">
            <a:solidFill>
              <a:srgbClr val="D9E3E6"/>
            </a:solidFill>
            <a:prstDash val="solid"/>
          </a:ln>
        </p:spPr>
      </p:sp>
      <p:sp>
        <p:nvSpPr>
          <p:cNvPr id="6" name="Text 4"/>
          <p:cNvSpPr/>
          <p:nvPr/>
        </p:nvSpPr>
        <p:spPr>
          <a:xfrm>
            <a:off x="548640" y="5934456"/>
            <a:ext cx="10424160" cy="292608"/>
          </a:xfrm>
          <a:prstGeom prst="rect">
            <a:avLst/>
          </a:prstGeom>
          <a:noFill/>
          <a:ln/>
        </p:spPr>
        <p:txBody>
          <a:bodyPr wrap="square" lIns="0" tIns="0" rIns="0" bIns="0" rtlCol="0" anchor="ctr">
            <a:normAutofit/>
          </a:bodyPr>
          <a:lstStyle/>
          <a:p>
            <a:pPr indent="0" marL="0">
              <a:buNone/>
            </a:pPr>
            <a:r>
              <a:rPr lang="en-US" sz="1400" dirty="0">
                <a:solidFill>
                  <a:srgbClr val="11727B"/>
                </a:solidFill>
                <a:latin typeface="Aptos Mono" pitchFamily="34" charset="0"/>
                <a:ea typeface="Aptos Mono" pitchFamily="34" charset="-122"/>
                <a:cs typeface="Aptos Mono" pitchFamily="34" charset="-120"/>
              </a:rPr>
              <a:t>L01   python3 walkthrough.py demo 01</a:t>
            </a:r>
            <a:endParaRPr lang="en-US" sz="1400" dirty="0"/>
          </a:p>
        </p:txBody>
      </p:sp>
      <p:sp>
        <p:nvSpPr>
          <p:cNvPr id="7" name="Text 5"/>
          <p:cNvSpPr/>
          <p:nvPr/>
        </p:nvSpPr>
        <p:spPr>
          <a:xfrm>
            <a:off x="548640" y="6464808"/>
            <a:ext cx="10607040" cy="192024"/>
          </a:xfrm>
          <a:prstGeom prst="rect">
            <a:avLst/>
          </a:prstGeom>
          <a:noFill/>
          <a:ln/>
        </p:spPr>
        <p:txBody>
          <a:bodyPr wrap="square" lIns="0" tIns="0" rIns="0" bIns="0" rtlCol="0" anchor="ctr">
            <a:normAutofit/>
          </a:bodyPr>
          <a:lstStyle/>
          <a:p>
            <a:pPr indent="0" marL="0">
              <a:buNone/>
            </a:pPr>
            <a:r>
              <a:rPr lang="en-US" sz="900" dirty="0">
                <a:solidFill>
                  <a:srgbClr val="526571"/>
                </a:solidFill>
                <a:latin typeface="Aptos" pitchFamily="34" charset="0"/>
                <a:ea typeface="Aptos" pitchFamily="34" charset="-122"/>
                <a:cs typeface="Aptos" pitchFamily="34" charset="-120"/>
              </a:rPr>
              <a:t>Fixture: evidence/dense_sparse_fixture_uint64 • SHA-256 in its manifest</a:t>
            </a:r>
            <a:endParaRPr lang="en-US" sz="900" dirty="0"/>
          </a:p>
        </p:txBody>
      </p:sp>
      <p:sp>
        <p:nvSpPr>
          <p:cNvPr id="8" name="Text 6"/>
          <p:cNvSpPr/>
          <p:nvPr/>
        </p:nvSpPr>
        <p:spPr>
          <a:xfrm>
            <a:off x="11082528" y="6446520"/>
            <a:ext cx="548640" cy="228600"/>
          </a:xfrm>
          <a:prstGeom prst="rect">
            <a:avLst/>
          </a:prstGeom>
          <a:noFill/>
          <a:ln/>
        </p:spPr>
        <p:txBody>
          <a:bodyPr wrap="square" lIns="0" tIns="0" rIns="0" bIns="0" rtlCol="0" anchor="ctr">
            <a:normAutofit/>
          </a:bodyPr>
          <a:lstStyle/>
          <a:p>
            <a:pPr algn="r" indent="0" marL="0">
              <a:buNone/>
            </a:pPr>
            <a:r>
              <a:rPr lang="en-US" sz="1100" dirty="0">
                <a:solidFill>
                  <a:srgbClr val="526571"/>
                </a:solidFill>
                <a:latin typeface="Aptos" pitchFamily="34" charset="0"/>
                <a:ea typeface="Aptos" pitchFamily="34" charset="-122"/>
                <a:cs typeface="Aptos" pitchFamily="34" charset="-120"/>
              </a:rPr>
              <a:t>04</a:t>
            </a:r>
            <a:endParaRPr lang="en-US" sz="1100" dirty="0"/>
          </a:p>
        </p:txBody>
      </p:sp>
      <p:sp>
        <p:nvSpPr>
          <p:cNvPr id="10" name="Shape 7"/>
          <p:cNvSpPr/>
          <p:nvPr/>
        </p:nvSpPr>
        <p:spPr>
          <a:xfrm>
            <a:off x="548640" y="1874520"/>
            <a:ext cx="4206240" cy="1051560"/>
          </a:xfrm>
          <a:prstGeom prst="rect">
            <a:avLst/>
          </a:prstGeom>
          <a:solidFill>
            <a:srgbClr val="EFF5F6"/>
          </a:solidFill>
          <a:ln w="12700">
            <a:solidFill>
              <a:srgbClr val="EFF5F6"/>
            </a:solidFill>
            <a:prstDash val="solid"/>
          </a:ln>
        </p:spPr>
      </p:sp>
      <p:sp>
        <p:nvSpPr>
          <p:cNvPr id="11" name="Text 8"/>
          <p:cNvSpPr/>
          <p:nvPr/>
        </p:nvSpPr>
        <p:spPr>
          <a:xfrm>
            <a:off x="704088" y="1984248"/>
            <a:ext cx="3895344" cy="246888"/>
          </a:xfrm>
          <a:prstGeom prst="rect">
            <a:avLst/>
          </a:prstGeom>
          <a:noFill/>
          <a:ln/>
        </p:spPr>
        <p:txBody>
          <a:bodyPr wrap="square" lIns="0" tIns="0" rIns="0" bIns="0" rtlCol="0" anchor="ctr">
            <a:normAutofit/>
          </a:bodyPr>
          <a:lstStyle/>
          <a:p>
            <a:pPr indent="0" marL="0">
              <a:buNone/>
            </a:pPr>
            <a:r>
              <a:rPr lang="en-US" sz="1400" b="1" dirty="0">
                <a:solidFill>
                  <a:srgbClr val="11727B"/>
                </a:solidFill>
                <a:latin typeface="Aptos" pitchFamily="34" charset="0"/>
                <a:ea typeface="Aptos" pitchFamily="34" charset="-122"/>
                <a:cs typeface="Aptos" pitchFamily="34" charset="-120"/>
              </a:rPr>
              <a:t>INPUT</a:t>
            </a:r>
            <a:endParaRPr lang="en-US" sz="1400" dirty="0"/>
          </a:p>
        </p:txBody>
      </p:sp>
      <p:sp>
        <p:nvSpPr>
          <p:cNvPr id="12" name="Text 9"/>
          <p:cNvSpPr/>
          <p:nvPr/>
        </p:nvSpPr>
        <p:spPr>
          <a:xfrm>
            <a:off x="704088" y="2304288"/>
            <a:ext cx="3895344" cy="557784"/>
          </a:xfrm>
          <a:prstGeom prst="rect">
            <a:avLst/>
          </a:prstGeom>
          <a:noFill/>
          <a:ln/>
        </p:spPr>
        <p:txBody>
          <a:bodyPr wrap="square" lIns="0" tIns="0" rIns="0" bIns="0" rtlCol="0" anchor="ctr">
            <a:normAutofit/>
          </a:bodyPr>
          <a:lstStyle/>
          <a:p>
            <a:pPr indent="0" marL="0">
              <a:buNone/>
            </a:pPr>
            <a:r>
              <a:rPr lang="en-US" sz="1700" dirty="0">
                <a:solidFill>
                  <a:srgbClr val="162733"/>
                </a:solidFill>
                <a:latin typeface="Aptos" pitchFamily="34" charset="0"/>
                <a:ea typeface="Aptos" pitchFamily="34" charset="-122"/>
                <a:cs typeface="Aptos" pitchFamily="34" charset="-120"/>
              </a:rPr>
              <a:t>16,384 distinct sorted uint64 keys. Alternating dense and sparse intervals.</a:t>
            </a:r>
            <a:endParaRPr lang="en-US" sz="1700" dirty="0"/>
          </a:p>
        </p:txBody>
      </p:sp>
      <p:sp>
        <p:nvSpPr>
          <p:cNvPr id="13" name="Shape 10"/>
          <p:cNvSpPr/>
          <p:nvPr/>
        </p:nvSpPr>
        <p:spPr>
          <a:xfrm>
            <a:off x="548640" y="3072384"/>
            <a:ext cx="4206240" cy="1051560"/>
          </a:xfrm>
          <a:prstGeom prst="rect">
            <a:avLst/>
          </a:prstGeom>
          <a:solidFill>
            <a:srgbClr val="EFF5F6"/>
          </a:solidFill>
          <a:ln w="12700">
            <a:solidFill>
              <a:srgbClr val="EFF5F6"/>
            </a:solidFill>
            <a:prstDash val="solid"/>
          </a:ln>
        </p:spPr>
      </p:sp>
      <p:sp>
        <p:nvSpPr>
          <p:cNvPr id="14" name="Text 11"/>
          <p:cNvSpPr/>
          <p:nvPr/>
        </p:nvSpPr>
        <p:spPr>
          <a:xfrm>
            <a:off x="704088" y="3182112"/>
            <a:ext cx="3895344" cy="246888"/>
          </a:xfrm>
          <a:prstGeom prst="rect">
            <a:avLst/>
          </a:prstGeom>
          <a:noFill/>
          <a:ln/>
        </p:spPr>
        <p:txBody>
          <a:bodyPr wrap="square" lIns="0" tIns="0" rIns="0" bIns="0" rtlCol="0" anchor="ctr">
            <a:normAutofit/>
          </a:bodyPr>
          <a:lstStyle/>
          <a:p>
            <a:pPr indent="0" marL="0">
              <a:buNone/>
            </a:pPr>
            <a:r>
              <a:rPr lang="en-US" sz="1400" b="1" dirty="0">
                <a:solidFill>
                  <a:srgbClr val="11727B"/>
                </a:solidFill>
                <a:latin typeface="Aptos" pitchFamily="34" charset="0"/>
                <a:ea typeface="Aptos" pitchFamily="34" charset="-122"/>
                <a:cs typeface="Aptos" pitchFamily="34" charset="-120"/>
              </a:rPr>
              <a:t>OUTPUT</a:t>
            </a:r>
            <a:endParaRPr lang="en-US" sz="1400" dirty="0"/>
          </a:p>
        </p:txBody>
      </p:sp>
      <p:sp>
        <p:nvSpPr>
          <p:cNvPr id="15" name="Text 12"/>
          <p:cNvSpPr/>
          <p:nvPr/>
        </p:nvSpPr>
        <p:spPr>
          <a:xfrm>
            <a:off x="704088" y="3502152"/>
            <a:ext cx="3895344" cy="557784"/>
          </a:xfrm>
          <a:prstGeom prst="rect">
            <a:avLst/>
          </a:prstGeom>
          <a:noFill/>
          <a:ln/>
        </p:spPr>
        <p:txBody>
          <a:bodyPr wrap="square" lIns="0" tIns="0" rIns="0" bIns="0" rtlCol="0" anchor="ctr">
            <a:normAutofit/>
          </a:bodyPr>
          <a:lstStyle/>
          <a:p>
            <a:pPr indent="0" marL="0">
              <a:buNone/>
            </a:pPr>
            <a:r>
              <a:rPr lang="en-US" sz="1700" dirty="0">
                <a:solidFill>
                  <a:srgbClr val="162733"/>
                </a:solidFill>
                <a:latin typeface="Aptos" pitchFamily="34" charset="0"/>
                <a:ea typeface="Aptos" pitchFamily="34" charset="-122"/>
                <a:cs typeface="Aptos" pitchFamily="34" charset="-120"/>
              </a:rPr>
              <a:t>lower_bound(k): the first stored key that is at least k.</a:t>
            </a:r>
            <a:endParaRPr lang="en-US" sz="1700" dirty="0"/>
          </a:p>
        </p:txBody>
      </p:sp>
      <p:sp>
        <p:nvSpPr>
          <p:cNvPr id="16" name="Shape 13"/>
          <p:cNvSpPr/>
          <p:nvPr/>
        </p:nvSpPr>
        <p:spPr>
          <a:xfrm>
            <a:off x="548640" y="4270248"/>
            <a:ext cx="4206240" cy="1051560"/>
          </a:xfrm>
          <a:prstGeom prst="rect">
            <a:avLst/>
          </a:prstGeom>
          <a:solidFill>
            <a:srgbClr val="EFF5F6"/>
          </a:solidFill>
          <a:ln w="12700">
            <a:solidFill>
              <a:srgbClr val="EFF5F6"/>
            </a:solidFill>
            <a:prstDash val="solid"/>
          </a:ln>
        </p:spPr>
      </p:sp>
      <p:sp>
        <p:nvSpPr>
          <p:cNvPr id="17" name="Text 14"/>
          <p:cNvSpPr/>
          <p:nvPr/>
        </p:nvSpPr>
        <p:spPr>
          <a:xfrm>
            <a:off x="704088" y="4379976"/>
            <a:ext cx="3895344" cy="246888"/>
          </a:xfrm>
          <a:prstGeom prst="rect">
            <a:avLst/>
          </a:prstGeom>
          <a:noFill/>
          <a:ln/>
        </p:spPr>
        <p:txBody>
          <a:bodyPr wrap="square" lIns="0" tIns="0" rIns="0" bIns="0" rtlCol="0" anchor="ctr">
            <a:normAutofit/>
          </a:bodyPr>
          <a:lstStyle/>
          <a:p>
            <a:pPr indent="0" marL="0">
              <a:buNone/>
            </a:pPr>
            <a:r>
              <a:rPr lang="en-US" sz="1400" b="1" dirty="0">
                <a:solidFill>
                  <a:srgbClr val="11727B"/>
                </a:solidFill>
                <a:latin typeface="Aptos" pitchFamily="34" charset="0"/>
                <a:ea typeface="Aptos" pitchFamily="34" charset="-122"/>
                <a:cs typeface="Aptos" pitchFamily="34" charset="-120"/>
              </a:rPr>
              <a:t>BASELINE</a:t>
            </a:r>
            <a:endParaRPr lang="en-US" sz="1400" dirty="0"/>
          </a:p>
        </p:txBody>
      </p:sp>
      <p:sp>
        <p:nvSpPr>
          <p:cNvPr id="18" name="Text 15"/>
          <p:cNvSpPr/>
          <p:nvPr/>
        </p:nvSpPr>
        <p:spPr>
          <a:xfrm>
            <a:off x="704088" y="4700016"/>
            <a:ext cx="3895344" cy="557784"/>
          </a:xfrm>
          <a:prstGeom prst="rect">
            <a:avLst/>
          </a:prstGeom>
          <a:noFill/>
          <a:ln/>
        </p:spPr>
        <p:txBody>
          <a:bodyPr wrap="square" lIns="0" tIns="0" rIns="0" bIns="0" rtlCol="0" anchor="ctr">
            <a:normAutofit/>
          </a:bodyPr>
          <a:lstStyle/>
          <a:p>
            <a:pPr indent="0" marL="0">
              <a:buNone/>
            </a:pPr>
            <a:r>
              <a:rPr lang="en-US" sz="1700" dirty="0">
                <a:solidFill>
                  <a:srgbClr val="162733"/>
                </a:solidFill>
                <a:latin typeface="Aptos" pitchFamily="34" charset="0"/>
                <a:ea typeface="Aptos" pitchFamily="34" charset="-122"/>
                <a:cs typeface="Aptos" pitchFamily="34" charset="-120"/>
              </a:rPr>
              <a:t>Binary search gives an exact answer without a fitted predictor.</a:t>
            </a:r>
            <a:endParaRPr lang="en-US" sz="1700" dirty="0"/>
          </a:p>
        </p:txBody>
      </p:sp>
      <p:pic>
        <p:nvPicPr>
          <p:cNvPr id="19" name="Image 0" descr="/mnt/data/scaleli_sota/slides/figures/dataset.png">    </p:cNvPr>
          <p:cNvPicPr>
            <a:picLocks noChangeAspect="1"/>
          </p:cNvPicPr>
          <p:nvPr/>
        </p:nvPicPr>
        <p:blipFill>
          <a:blip r:embed="rId1"/>
          <a:stretch>
            <a:fillRect/>
          </a:stretch>
        </p:blipFill>
        <p:spPr>
          <a:xfrm>
            <a:off x="5029200" y="1951080"/>
            <a:ext cx="6537960" cy="356848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46888"/>
            <a:ext cx="10424160" cy="201168"/>
          </a:xfrm>
          <a:prstGeom prst="rect">
            <a:avLst/>
          </a:prstGeom>
          <a:noFill/>
          <a:ln/>
        </p:spPr>
        <p:txBody>
          <a:bodyPr wrap="square" lIns="0" tIns="0" rIns="0" bIns="0" rtlCol="0" anchor="ctr">
            <a:normAutofit/>
          </a:bodyPr>
          <a:lstStyle/>
          <a:p>
            <a:pPr indent="0" marL="0">
              <a:buNone/>
            </a:pPr>
            <a:r>
              <a:rPr lang="en-US" sz="1000" b="1" spc="110" kern="0" dirty="0">
                <a:solidFill>
                  <a:srgbClr val="11727B"/>
                </a:solidFill>
                <a:latin typeface="Aptos" pitchFamily="34" charset="0"/>
                <a:ea typeface="Aptos" pitchFamily="34" charset="-122"/>
                <a:cs typeface="Aptos" pitchFamily="34" charset="-120"/>
              </a:rPr>
              <a:t>PUBLISHED IDEA + INDEPENDENT TEACHING MODEL</a:t>
            </a:r>
            <a:endParaRPr lang="en-US" sz="1000" dirty="0"/>
          </a:p>
        </p:txBody>
      </p:sp>
      <p:sp>
        <p:nvSpPr>
          <p:cNvPr id="3" name="Text 1"/>
          <p:cNvSpPr/>
          <p:nvPr/>
        </p:nvSpPr>
        <p:spPr>
          <a:xfrm>
            <a:off x="548640" y="640080"/>
            <a:ext cx="11064240" cy="603504"/>
          </a:xfrm>
          <a:prstGeom prst="rect">
            <a:avLst/>
          </a:prstGeom>
          <a:noFill/>
          <a:ln/>
        </p:spPr>
        <p:txBody>
          <a:bodyPr wrap="square" lIns="0" tIns="0" rIns="0" bIns="0" rtlCol="0" anchor="ctr">
            <a:normAutofit/>
          </a:bodyPr>
          <a:lstStyle/>
          <a:p>
            <a:pPr indent="0" marL="0">
              <a:buNone/>
            </a:pPr>
            <a:r>
              <a:rPr lang="en-US" sz="3000" b="1" dirty="0">
                <a:solidFill>
                  <a:srgbClr val="162733"/>
                </a:solidFill>
                <a:latin typeface="Aptos Display" pitchFamily="34" charset="0"/>
                <a:ea typeface="Aptos Display" pitchFamily="34" charset="-122"/>
                <a:cs typeface="Aptos Display" pitchFamily="34" charset="-120"/>
              </a:rPr>
              <a:t>2018 · predict rank, then specialize</a:t>
            </a:r>
            <a:endParaRPr lang="en-US" sz="3000" dirty="0"/>
          </a:p>
        </p:txBody>
      </p:sp>
      <p:sp>
        <p:nvSpPr>
          <p:cNvPr id="4" name="Text 2"/>
          <p:cNvSpPr/>
          <p:nvPr/>
        </p:nvSpPr>
        <p:spPr>
          <a:xfrm>
            <a:off x="548640" y="1280160"/>
            <a:ext cx="11064240" cy="420624"/>
          </a:xfrm>
          <a:prstGeom prst="rect">
            <a:avLst/>
          </a:prstGeom>
          <a:noFill/>
          <a:ln/>
        </p:spPr>
        <p:txBody>
          <a:bodyPr wrap="square" lIns="0" tIns="0" rIns="0" bIns="0" rtlCol="0" anchor="ctr">
            <a:normAutofit/>
          </a:bodyPr>
          <a:lstStyle/>
          <a:p>
            <a:pPr indent="0" marL="0">
              <a:buNone/>
            </a:pPr>
            <a:r>
              <a:rPr lang="en-US" sz="1600" dirty="0">
                <a:solidFill>
                  <a:srgbClr val="526571"/>
                </a:solidFill>
                <a:latin typeface="Aptos" pitchFamily="34" charset="0"/>
                <a:ea typeface="Aptos" pitchFamily="34" charset="-122"/>
                <a:cs typeface="Aptos" pitchFamily="34" charset="-120"/>
              </a:rPr>
              <a:t>RMI introduces model-guided navigation and exact correction.</a:t>
            </a:r>
            <a:endParaRPr lang="en-US" sz="1600" dirty="0"/>
          </a:p>
        </p:txBody>
      </p:sp>
      <p:sp>
        <p:nvSpPr>
          <p:cNvPr id="5" name="Shape 3"/>
          <p:cNvSpPr/>
          <p:nvPr/>
        </p:nvSpPr>
        <p:spPr>
          <a:xfrm>
            <a:off x="548640" y="6364224"/>
            <a:ext cx="11064240" cy="0"/>
          </a:xfrm>
          <a:prstGeom prst="line">
            <a:avLst/>
          </a:prstGeom>
          <a:noFill/>
          <a:ln w="12700">
            <a:solidFill>
              <a:srgbClr val="D9E3E6"/>
            </a:solidFill>
            <a:prstDash val="solid"/>
          </a:ln>
        </p:spPr>
      </p:sp>
      <p:sp>
        <p:nvSpPr>
          <p:cNvPr id="6" name="Text 4"/>
          <p:cNvSpPr/>
          <p:nvPr/>
        </p:nvSpPr>
        <p:spPr>
          <a:xfrm>
            <a:off x="548640" y="5934456"/>
            <a:ext cx="10424160" cy="292608"/>
          </a:xfrm>
          <a:prstGeom prst="rect">
            <a:avLst/>
          </a:prstGeom>
          <a:noFill/>
          <a:ln/>
        </p:spPr>
        <p:txBody>
          <a:bodyPr wrap="square" lIns="0" tIns="0" rIns="0" bIns="0" rtlCol="0" anchor="ctr">
            <a:normAutofit/>
          </a:bodyPr>
          <a:lstStyle/>
          <a:p>
            <a:pPr indent="0" marL="0">
              <a:buNone/>
            </a:pPr>
            <a:r>
              <a:rPr lang="en-US" sz="1400" dirty="0">
                <a:solidFill>
                  <a:srgbClr val="11727B"/>
                </a:solidFill>
                <a:latin typeface="Aptos Mono" pitchFamily="34" charset="0"/>
                <a:ea typeface="Aptos Mono" pitchFamily="34" charset="-122"/>
                <a:cs typeface="Aptos Mono" pitchFamily="34" charset="-120"/>
              </a:rPr>
              <a:t>L01   python3 walkthrough.py demo 01</a:t>
            </a:r>
            <a:endParaRPr lang="en-US" sz="1400" dirty="0"/>
          </a:p>
        </p:txBody>
      </p:sp>
      <p:sp>
        <p:nvSpPr>
          <p:cNvPr id="7" name="Text 5"/>
          <p:cNvSpPr/>
          <p:nvPr/>
        </p:nvSpPr>
        <p:spPr>
          <a:xfrm>
            <a:off x="548640" y="6464808"/>
            <a:ext cx="10607040" cy="192024"/>
          </a:xfrm>
          <a:prstGeom prst="rect">
            <a:avLst/>
          </a:prstGeom>
          <a:noFill/>
          <a:ln/>
        </p:spPr>
        <p:txBody>
          <a:bodyPr wrap="square" lIns="0" tIns="0" rIns="0" bIns="0" rtlCol="0" anchor="ctr">
            <a:normAutofit/>
          </a:bodyPr>
          <a:lstStyle/>
          <a:p>
            <a:pPr indent="0" marL="0">
              <a:buNone/>
            </a:pPr>
            <a:r>
              <a:rPr lang="en-US" sz="900" dirty="0">
                <a:solidFill>
                  <a:srgbClr val="526571"/>
                </a:solidFill>
                <a:latin typeface="Aptos" pitchFamily="34" charset="0"/>
                <a:ea typeface="Aptos" pitchFamily="34" charset="-122"/>
                <a:cs typeface="Aptos" pitchFamily="34" charset="-120"/>
              </a:rPr>
              <a:t>Kraska et al., SIGMOD 2018 • L01 is NOT the authors’ RMI implementation</a:t>
            </a:r>
            <a:endParaRPr lang="en-US" sz="900" dirty="0"/>
          </a:p>
        </p:txBody>
      </p:sp>
      <p:sp>
        <p:nvSpPr>
          <p:cNvPr id="8" name="Text 6"/>
          <p:cNvSpPr/>
          <p:nvPr/>
        </p:nvSpPr>
        <p:spPr>
          <a:xfrm>
            <a:off x="11082528" y="6446520"/>
            <a:ext cx="548640" cy="228600"/>
          </a:xfrm>
          <a:prstGeom prst="rect">
            <a:avLst/>
          </a:prstGeom>
          <a:noFill/>
          <a:ln/>
        </p:spPr>
        <p:txBody>
          <a:bodyPr wrap="square" lIns="0" tIns="0" rIns="0" bIns="0" rtlCol="0" anchor="ctr">
            <a:normAutofit/>
          </a:bodyPr>
          <a:lstStyle/>
          <a:p>
            <a:pPr algn="r" indent="0" marL="0">
              <a:buNone/>
            </a:pPr>
            <a:r>
              <a:rPr lang="en-US" sz="1100" dirty="0">
                <a:solidFill>
                  <a:srgbClr val="526571"/>
                </a:solidFill>
                <a:latin typeface="Aptos" pitchFamily="34" charset="0"/>
                <a:ea typeface="Aptos" pitchFamily="34" charset="-122"/>
                <a:cs typeface="Aptos" pitchFamily="34" charset="-120"/>
              </a:rPr>
              <a:t>05</a:t>
            </a:r>
            <a:endParaRPr lang="en-US" sz="1100" dirty="0"/>
          </a:p>
        </p:txBody>
      </p:sp>
      <p:sp>
        <p:nvSpPr>
          <p:cNvPr id="10" name="Shape 7"/>
          <p:cNvSpPr/>
          <p:nvPr/>
        </p:nvSpPr>
        <p:spPr>
          <a:xfrm>
            <a:off x="548640" y="1874520"/>
            <a:ext cx="4206240" cy="1051560"/>
          </a:xfrm>
          <a:prstGeom prst="rect">
            <a:avLst/>
          </a:prstGeom>
          <a:solidFill>
            <a:srgbClr val="EFF5F6"/>
          </a:solidFill>
          <a:ln w="12700">
            <a:solidFill>
              <a:srgbClr val="EFF5F6"/>
            </a:solidFill>
            <a:prstDash val="solid"/>
          </a:ln>
        </p:spPr>
      </p:sp>
      <p:sp>
        <p:nvSpPr>
          <p:cNvPr id="11" name="Text 8"/>
          <p:cNvSpPr/>
          <p:nvPr/>
        </p:nvSpPr>
        <p:spPr>
          <a:xfrm>
            <a:off x="704088" y="1984248"/>
            <a:ext cx="3895344" cy="246888"/>
          </a:xfrm>
          <a:prstGeom prst="rect">
            <a:avLst/>
          </a:prstGeom>
          <a:noFill/>
          <a:ln/>
        </p:spPr>
        <p:txBody>
          <a:bodyPr wrap="square" lIns="0" tIns="0" rIns="0" bIns="0" rtlCol="0" anchor="ctr">
            <a:normAutofit/>
          </a:bodyPr>
          <a:lstStyle/>
          <a:p>
            <a:pPr indent="0" marL="0">
              <a:buNone/>
            </a:pPr>
            <a:r>
              <a:rPr lang="en-US" sz="1400" b="1" dirty="0">
                <a:solidFill>
                  <a:srgbClr val="11727B"/>
                </a:solidFill>
                <a:latin typeface="Aptos" pitchFamily="34" charset="0"/>
                <a:ea typeface="Aptos" pitchFamily="34" charset="-122"/>
                <a:cs typeface="Aptos" pitchFamily="34" charset="-120"/>
              </a:rPr>
              <a:t>MECHANISM</a:t>
            </a:r>
            <a:endParaRPr lang="en-US" sz="1400" dirty="0"/>
          </a:p>
        </p:txBody>
      </p:sp>
      <p:sp>
        <p:nvSpPr>
          <p:cNvPr id="12" name="Text 9"/>
          <p:cNvSpPr/>
          <p:nvPr/>
        </p:nvSpPr>
        <p:spPr>
          <a:xfrm>
            <a:off x="704088" y="2304288"/>
            <a:ext cx="3895344" cy="557784"/>
          </a:xfrm>
          <a:prstGeom prst="rect">
            <a:avLst/>
          </a:prstGeom>
          <a:noFill/>
          <a:ln/>
        </p:spPr>
        <p:txBody>
          <a:bodyPr wrap="square" lIns="0" tIns="0" rIns="0" bIns="0" rtlCol="0" anchor="ctr">
            <a:normAutofit/>
          </a:bodyPr>
          <a:lstStyle/>
          <a:p>
            <a:pPr indent="0" marL="0">
              <a:buNone/>
            </a:pPr>
            <a:r>
              <a:rPr lang="en-US" sz="1700" dirty="0">
                <a:solidFill>
                  <a:srgbClr val="162733"/>
                </a:solidFill>
                <a:latin typeface="Aptos" pitchFamily="34" charset="0"/>
                <a:ea typeface="Aptos" pitchFamily="34" charset="-122"/>
                <a:cs typeface="Aptos" pitchFamily="34" charset="-120"/>
              </a:rPr>
              <a:t>A root prediction selects a local model. That model predicts a position.</a:t>
            </a:r>
            <a:endParaRPr lang="en-US" sz="1700" dirty="0"/>
          </a:p>
        </p:txBody>
      </p:sp>
      <p:sp>
        <p:nvSpPr>
          <p:cNvPr id="13" name="Shape 10"/>
          <p:cNvSpPr/>
          <p:nvPr/>
        </p:nvSpPr>
        <p:spPr>
          <a:xfrm>
            <a:off x="548640" y="3072384"/>
            <a:ext cx="4206240" cy="1051560"/>
          </a:xfrm>
          <a:prstGeom prst="rect">
            <a:avLst/>
          </a:prstGeom>
          <a:solidFill>
            <a:srgbClr val="EFF5F6"/>
          </a:solidFill>
          <a:ln w="12700">
            <a:solidFill>
              <a:srgbClr val="EFF5F6"/>
            </a:solidFill>
            <a:prstDash val="solid"/>
          </a:ln>
        </p:spPr>
      </p:sp>
      <p:sp>
        <p:nvSpPr>
          <p:cNvPr id="14" name="Text 11"/>
          <p:cNvSpPr/>
          <p:nvPr/>
        </p:nvSpPr>
        <p:spPr>
          <a:xfrm>
            <a:off x="704088" y="3182112"/>
            <a:ext cx="3895344" cy="246888"/>
          </a:xfrm>
          <a:prstGeom prst="rect">
            <a:avLst/>
          </a:prstGeom>
          <a:noFill/>
          <a:ln/>
        </p:spPr>
        <p:txBody>
          <a:bodyPr wrap="square" lIns="0" tIns="0" rIns="0" bIns="0" rtlCol="0" anchor="ctr">
            <a:normAutofit/>
          </a:bodyPr>
          <a:lstStyle/>
          <a:p>
            <a:pPr indent="0" marL="0">
              <a:buNone/>
            </a:pPr>
            <a:r>
              <a:rPr lang="en-US" sz="1400" b="1" dirty="0">
                <a:solidFill>
                  <a:srgbClr val="11727B"/>
                </a:solidFill>
                <a:latin typeface="Aptos" pitchFamily="34" charset="0"/>
                <a:ea typeface="Aptos" pitchFamily="34" charset="-122"/>
                <a:cs typeface="Aptos" pitchFamily="34" charset="-120"/>
              </a:rPr>
              <a:t>WHAT WE CHECK</a:t>
            </a:r>
            <a:endParaRPr lang="en-US" sz="1400" dirty="0"/>
          </a:p>
        </p:txBody>
      </p:sp>
      <p:sp>
        <p:nvSpPr>
          <p:cNvPr id="15" name="Text 12"/>
          <p:cNvSpPr/>
          <p:nvPr/>
        </p:nvSpPr>
        <p:spPr>
          <a:xfrm>
            <a:off x="704088" y="3502152"/>
            <a:ext cx="3895344" cy="557784"/>
          </a:xfrm>
          <a:prstGeom prst="rect">
            <a:avLst/>
          </a:prstGeom>
          <a:noFill/>
          <a:ln/>
        </p:spPr>
        <p:txBody>
          <a:bodyPr wrap="square" lIns="0" tIns="0" rIns="0" bIns="0" rtlCol="0" anchor="ctr">
            <a:normAutofit/>
          </a:bodyPr>
          <a:lstStyle/>
          <a:p>
            <a:pPr indent="0" marL="0">
              <a:buNone/>
            </a:pPr>
            <a:r>
              <a:rPr lang="en-US" sz="1700" dirty="0">
                <a:solidFill>
                  <a:srgbClr val="162733"/>
                </a:solidFill>
                <a:latin typeface="Aptos" pitchFamily="34" charset="0"/>
                <a:ea typeface="Aptos" pitchFamily="34" charset="-122"/>
                <a:cs typeface="Aptos" pitchFamily="34" charset="-120"/>
              </a:rPr>
              <a:t>20,482 exact query checks after corrective search.</a:t>
            </a:r>
            <a:endParaRPr lang="en-US" sz="1700" dirty="0"/>
          </a:p>
        </p:txBody>
      </p:sp>
      <p:sp>
        <p:nvSpPr>
          <p:cNvPr id="16" name="Shape 13"/>
          <p:cNvSpPr/>
          <p:nvPr/>
        </p:nvSpPr>
        <p:spPr>
          <a:xfrm>
            <a:off x="548640" y="4270248"/>
            <a:ext cx="4206240" cy="1051560"/>
          </a:xfrm>
          <a:prstGeom prst="rect">
            <a:avLst/>
          </a:prstGeom>
          <a:solidFill>
            <a:srgbClr val="EFF5F6"/>
          </a:solidFill>
          <a:ln w="12700">
            <a:solidFill>
              <a:srgbClr val="EFF5F6"/>
            </a:solidFill>
            <a:prstDash val="solid"/>
          </a:ln>
        </p:spPr>
      </p:sp>
      <p:sp>
        <p:nvSpPr>
          <p:cNvPr id="17" name="Text 14"/>
          <p:cNvSpPr/>
          <p:nvPr/>
        </p:nvSpPr>
        <p:spPr>
          <a:xfrm>
            <a:off x="704088" y="4379976"/>
            <a:ext cx="3895344" cy="246888"/>
          </a:xfrm>
          <a:prstGeom prst="rect">
            <a:avLst/>
          </a:prstGeom>
          <a:noFill/>
          <a:ln/>
        </p:spPr>
        <p:txBody>
          <a:bodyPr wrap="square" lIns="0" tIns="0" rIns="0" bIns="0" rtlCol="0" anchor="ctr">
            <a:normAutofit/>
          </a:bodyPr>
          <a:lstStyle/>
          <a:p>
            <a:pPr indent="0" marL="0">
              <a:buNone/>
            </a:pPr>
            <a:r>
              <a:rPr lang="en-US" sz="1400" b="1" dirty="0">
                <a:solidFill>
                  <a:srgbClr val="11727B"/>
                </a:solidFill>
                <a:latin typeface="Aptos" pitchFamily="34" charset="0"/>
                <a:ea typeface="Aptos" pitchFamily="34" charset="-122"/>
                <a:cs typeface="Aptos" pitchFamily="34" charset="-120"/>
              </a:rPr>
              <a:t>TRADE-OFF</a:t>
            </a:r>
            <a:endParaRPr lang="en-US" sz="1400" dirty="0"/>
          </a:p>
        </p:txBody>
      </p:sp>
      <p:sp>
        <p:nvSpPr>
          <p:cNvPr id="18" name="Text 15"/>
          <p:cNvSpPr/>
          <p:nvPr/>
        </p:nvSpPr>
        <p:spPr>
          <a:xfrm>
            <a:off x="704088" y="4700016"/>
            <a:ext cx="3895344" cy="557784"/>
          </a:xfrm>
          <a:prstGeom prst="rect">
            <a:avLst/>
          </a:prstGeom>
          <a:noFill/>
          <a:ln/>
        </p:spPr>
        <p:txBody>
          <a:bodyPr wrap="square" lIns="0" tIns="0" rIns="0" bIns="0" rtlCol="0" anchor="ctr">
            <a:normAutofit/>
          </a:bodyPr>
          <a:lstStyle/>
          <a:p>
            <a:pPr indent="0" marL="0">
              <a:buNone/>
            </a:pPr>
            <a:r>
              <a:rPr lang="en-US" sz="1700" dirty="0">
                <a:solidFill>
                  <a:srgbClr val="162733"/>
                </a:solidFill>
                <a:latin typeface="Aptos" pitchFamily="34" charset="0"/>
                <a:ea typeface="Aptos" pitchFamily="34" charset="-122"/>
                <a:cs typeface="Aptos" pitchFamily="34" charset="-120"/>
              </a:rPr>
              <a:t>More models can help fitting, but consume space and add routing work.</a:t>
            </a:r>
            <a:endParaRPr lang="en-US" sz="1700" dirty="0"/>
          </a:p>
        </p:txBody>
      </p:sp>
      <p:pic>
        <p:nvPicPr>
          <p:cNvPr id="19" name="Image 0" descr="/mnt/data/scaleli_sota/slides/figures/model_sweep.png">    </p:cNvPr>
          <p:cNvPicPr>
            <a:picLocks noChangeAspect="1"/>
          </p:cNvPicPr>
          <p:nvPr/>
        </p:nvPicPr>
        <p:blipFill>
          <a:blip r:embed="rId1"/>
          <a:stretch>
            <a:fillRect/>
          </a:stretch>
        </p:blipFill>
        <p:spPr>
          <a:xfrm>
            <a:off x="5029200" y="1947120"/>
            <a:ext cx="6537960" cy="357640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46888"/>
            <a:ext cx="10424160" cy="201168"/>
          </a:xfrm>
          <a:prstGeom prst="rect">
            <a:avLst/>
          </a:prstGeom>
          <a:noFill/>
          <a:ln/>
        </p:spPr>
        <p:txBody>
          <a:bodyPr wrap="square" lIns="0" tIns="0" rIns="0" bIns="0" rtlCol="0" anchor="ctr">
            <a:normAutofit/>
          </a:bodyPr>
          <a:lstStyle/>
          <a:p>
            <a:pPr indent="0" marL="0">
              <a:buNone/>
            </a:pPr>
            <a:r>
              <a:rPr lang="en-US" sz="1000" b="1" spc="110" kern="0" dirty="0">
                <a:solidFill>
                  <a:srgbClr val="11727B"/>
                </a:solidFill>
                <a:latin typeface="Aptos" pitchFamily="34" charset="0"/>
                <a:ea typeface="Aptos" pitchFamily="34" charset="-122"/>
                <a:cs typeface="Aptos" pitchFamily="34" charset="-120"/>
              </a:rPr>
              <a:t>LITERATURE • NOT LOCALLY REPRODUCED</a:t>
            </a:r>
            <a:endParaRPr lang="en-US" sz="1000" dirty="0"/>
          </a:p>
        </p:txBody>
      </p:sp>
      <p:sp>
        <p:nvSpPr>
          <p:cNvPr id="3" name="Text 1"/>
          <p:cNvSpPr/>
          <p:nvPr/>
        </p:nvSpPr>
        <p:spPr>
          <a:xfrm>
            <a:off x="548640" y="640080"/>
            <a:ext cx="11064240" cy="603504"/>
          </a:xfrm>
          <a:prstGeom prst="rect">
            <a:avLst/>
          </a:prstGeom>
          <a:noFill/>
          <a:ln/>
        </p:spPr>
        <p:txBody>
          <a:bodyPr wrap="square" lIns="0" tIns="0" rIns="0" bIns="0" rtlCol="0" anchor="ctr">
            <a:normAutofit/>
          </a:bodyPr>
          <a:lstStyle/>
          <a:p>
            <a:pPr indent="0" marL="0">
              <a:buNone/>
            </a:pPr>
            <a:r>
              <a:rPr lang="en-US" sz="3000" b="1" dirty="0">
                <a:solidFill>
                  <a:srgbClr val="162733"/>
                </a:solidFill>
                <a:latin typeface="Aptos Display" pitchFamily="34" charset="0"/>
                <a:ea typeface="Aptos Display" pitchFamily="34" charset="-122"/>
                <a:cs typeface="Aptos Display" pitchFamily="34" charset="-120"/>
              </a:rPr>
              <a:t>2019 · make prediction error an explicit parameter</a:t>
            </a:r>
            <a:endParaRPr lang="en-US" sz="3000" dirty="0"/>
          </a:p>
        </p:txBody>
      </p:sp>
      <p:sp>
        <p:nvSpPr>
          <p:cNvPr id="4" name="Text 2"/>
          <p:cNvSpPr/>
          <p:nvPr/>
        </p:nvSpPr>
        <p:spPr>
          <a:xfrm>
            <a:off x="548640" y="1280160"/>
            <a:ext cx="11064240" cy="420624"/>
          </a:xfrm>
          <a:prstGeom prst="rect">
            <a:avLst/>
          </a:prstGeom>
          <a:noFill/>
          <a:ln/>
        </p:spPr>
        <p:txBody>
          <a:bodyPr wrap="square" lIns="0" tIns="0" rIns="0" bIns="0" rtlCol="0" anchor="ctr">
            <a:normAutofit/>
          </a:bodyPr>
          <a:lstStyle/>
          <a:p>
            <a:pPr indent="0" marL="0">
              <a:buNone/>
            </a:pPr>
            <a:r>
              <a:rPr lang="en-US" sz="1600" dirty="0">
                <a:solidFill>
                  <a:srgbClr val="526571"/>
                </a:solidFill>
                <a:latin typeface="Aptos" pitchFamily="34" charset="0"/>
                <a:ea typeface="Aptos" pitchFamily="34" charset="-122"/>
                <a:cs typeface="Aptos" pitchFamily="34" charset="-120"/>
              </a:rPr>
              <a:t>FITing-Tree: piecewise-linear approximation with a chosen error bound.</a:t>
            </a:r>
            <a:endParaRPr lang="en-US" sz="1600" dirty="0"/>
          </a:p>
        </p:txBody>
      </p:sp>
      <p:sp>
        <p:nvSpPr>
          <p:cNvPr id="5" name="Shape 3"/>
          <p:cNvSpPr/>
          <p:nvPr/>
        </p:nvSpPr>
        <p:spPr>
          <a:xfrm>
            <a:off x="548640" y="6364224"/>
            <a:ext cx="11064240" cy="0"/>
          </a:xfrm>
          <a:prstGeom prst="line">
            <a:avLst/>
          </a:prstGeom>
          <a:noFill/>
          <a:ln w="12700">
            <a:solidFill>
              <a:srgbClr val="D9E3E6"/>
            </a:solidFill>
            <a:prstDash val="solid"/>
          </a:ln>
        </p:spPr>
      </p:sp>
      <p:sp>
        <p:nvSpPr>
          <p:cNvPr id="6" name="Text 4"/>
          <p:cNvSpPr/>
          <p:nvPr/>
        </p:nvSpPr>
        <p:spPr>
          <a:xfrm>
            <a:off x="548640" y="6464808"/>
            <a:ext cx="10607040" cy="192024"/>
          </a:xfrm>
          <a:prstGeom prst="rect">
            <a:avLst/>
          </a:prstGeom>
          <a:noFill/>
          <a:ln/>
        </p:spPr>
        <p:txBody>
          <a:bodyPr wrap="square" lIns="0" tIns="0" rIns="0" bIns="0" rtlCol="0" anchor="ctr">
            <a:normAutofit/>
          </a:bodyPr>
          <a:lstStyle/>
          <a:p>
            <a:pPr indent="0" marL="0">
              <a:buNone/>
            </a:pPr>
            <a:r>
              <a:rPr lang="en-US" sz="900" dirty="0">
                <a:solidFill>
                  <a:srgbClr val="526571"/>
                </a:solidFill>
                <a:latin typeface="Aptos" pitchFamily="34" charset="0"/>
                <a:ea typeface="Aptos" pitchFamily="34" charset="-122"/>
                <a:cs typeface="Aptos" pitchFamily="34" charset="-120"/>
              </a:rPr>
              <a:t>Galakatos et al., SIGMOD 2019 • https://arxiv.org/abs/1801.10207</a:t>
            </a:r>
            <a:endParaRPr lang="en-US" sz="900" dirty="0"/>
          </a:p>
        </p:txBody>
      </p:sp>
      <p:sp>
        <p:nvSpPr>
          <p:cNvPr id="7" name="Text 5"/>
          <p:cNvSpPr/>
          <p:nvPr/>
        </p:nvSpPr>
        <p:spPr>
          <a:xfrm>
            <a:off x="11082528" y="6446520"/>
            <a:ext cx="548640" cy="228600"/>
          </a:xfrm>
          <a:prstGeom prst="rect">
            <a:avLst/>
          </a:prstGeom>
          <a:noFill/>
          <a:ln/>
        </p:spPr>
        <p:txBody>
          <a:bodyPr wrap="square" lIns="0" tIns="0" rIns="0" bIns="0" rtlCol="0" anchor="ctr">
            <a:normAutofit/>
          </a:bodyPr>
          <a:lstStyle/>
          <a:p>
            <a:pPr algn="r" indent="0" marL="0">
              <a:buNone/>
            </a:pPr>
            <a:r>
              <a:rPr lang="en-US" sz="1100" dirty="0">
                <a:solidFill>
                  <a:srgbClr val="526571"/>
                </a:solidFill>
                <a:latin typeface="Aptos" pitchFamily="34" charset="0"/>
                <a:ea typeface="Aptos" pitchFamily="34" charset="-122"/>
                <a:cs typeface="Aptos" pitchFamily="34" charset="-120"/>
              </a:rPr>
              <a:t>06</a:t>
            </a:r>
            <a:endParaRPr lang="en-US" sz="1100" dirty="0"/>
          </a:p>
        </p:txBody>
      </p:sp>
      <p:sp>
        <p:nvSpPr>
          <p:cNvPr id="9" name="Shape 6"/>
          <p:cNvSpPr/>
          <p:nvPr/>
        </p:nvSpPr>
        <p:spPr>
          <a:xfrm>
            <a:off x="548640" y="2011680"/>
            <a:ext cx="3529584" cy="2377440"/>
          </a:xfrm>
          <a:prstGeom prst="rect">
            <a:avLst/>
          </a:prstGeom>
          <a:solidFill>
            <a:srgbClr val="EFF5F6"/>
          </a:solidFill>
          <a:ln w="12700">
            <a:solidFill>
              <a:srgbClr val="EFF5F6"/>
            </a:solidFill>
            <a:prstDash val="solid"/>
          </a:ln>
        </p:spPr>
      </p:sp>
      <p:sp>
        <p:nvSpPr>
          <p:cNvPr id="10" name="Text 7"/>
          <p:cNvSpPr/>
          <p:nvPr/>
        </p:nvSpPr>
        <p:spPr>
          <a:xfrm>
            <a:off x="704088" y="2121408"/>
            <a:ext cx="3218688" cy="246888"/>
          </a:xfrm>
          <a:prstGeom prst="rect">
            <a:avLst/>
          </a:prstGeom>
          <a:noFill/>
          <a:ln/>
        </p:spPr>
        <p:txBody>
          <a:bodyPr wrap="square" lIns="0" tIns="0" rIns="0" bIns="0" rtlCol="0" anchor="ctr">
            <a:normAutofit/>
          </a:bodyPr>
          <a:lstStyle/>
          <a:p>
            <a:pPr indent="0" marL="0">
              <a:buNone/>
            </a:pPr>
            <a:r>
              <a:rPr lang="en-US" sz="1400" b="1" dirty="0">
                <a:solidFill>
                  <a:srgbClr val="11727B"/>
                </a:solidFill>
                <a:latin typeface="Aptos" pitchFamily="34" charset="0"/>
                <a:ea typeface="Aptos" pitchFamily="34" charset="-122"/>
                <a:cs typeface="Aptos" pitchFamily="34" charset="-120"/>
              </a:rPr>
              <a:t>BEFORE</a:t>
            </a:r>
            <a:endParaRPr lang="en-US" sz="1400" dirty="0"/>
          </a:p>
        </p:txBody>
      </p:sp>
      <p:sp>
        <p:nvSpPr>
          <p:cNvPr id="11" name="Text 8"/>
          <p:cNvSpPr/>
          <p:nvPr/>
        </p:nvSpPr>
        <p:spPr>
          <a:xfrm>
            <a:off x="704088" y="2441448"/>
            <a:ext cx="3218688" cy="1883664"/>
          </a:xfrm>
          <a:prstGeom prst="rect">
            <a:avLst/>
          </a:prstGeom>
          <a:noFill/>
          <a:ln/>
        </p:spPr>
        <p:txBody>
          <a:bodyPr wrap="square" lIns="0" tIns="0" rIns="0" bIns="0" rtlCol="0" anchor="ctr">
            <a:normAutofit/>
          </a:bodyPr>
          <a:lstStyle/>
          <a:p>
            <a:pPr indent="0" marL="0">
              <a:buNone/>
            </a:pPr>
            <a:r>
              <a:rPr lang="en-US" sz="1700" dirty="0">
                <a:solidFill>
                  <a:srgbClr val="162733"/>
                </a:solidFill>
                <a:latin typeface="Aptos" pitchFamily="34" charset="0"/>
                <a:ea typeface="Aptos" pitchFamily="34" charset="-122"/>
                <a:cs typeface="Aptos" pitchFamily="34" charset="-120"/>
              </a:rPr>
              <a:t>A good average fit can still leave difficult local regions.</a:t>
            </a:r>
            <a:endParaRPr lang="en-US" sz="1700" dirty="0"/>
          </a:p>
        </p:txBody>
      </p:sp>
      <p:sp>
        <p:nvSpPr>
          <p:cNvPr id="12" name="Shape 9"/>
          <p:cNvSpPr/>
          <p:nvPr/>
        </p:nvSpPr>
        <p:spPr>
          <a:xfrm>
            <a:off x="4334256" y="2011680"/>
            <a:ext cx="3529584" cy="2377440"/>
          </a:xfrm>
          <a:prstGeom prst="rect">
            <a:avLst/>
          </a:prstGeom>
          <a:solidFill>
            <a:srgbClr val="EFF5F6"/>
          </a:solidFill>
          <a:ln w="12700">
            <a:solidFill>
              <a:srgbClr val="EFF5F6"/>
            </a:solidFill>
            <a:prstDash val="solid"/>
          </a:ln>
        </p:spPr>
      </p:sp>
      <p:sp>
        <p:nvSpPr>
          <p:cNvPr id="13" name="Text 10"/>
          <p:cNvSpPr/>
          <p:nvPr/>
        </p:nvSpPr>
        <p:spPr>
          <a:xfrm>
            <a:off x="4489704" y="2121408"/>
            <a:ext cx="3218688" cy="246888"/>
          </a:xfrm>
          <a:prstGeom prst="rect">
            <a:avLst/>
          </a:prstGeom>
          <a:noFill/>
          <a:ln/>
        </p:spPr>
        <p:txBody>
          <a:bodyPr wrap="square" lIns="0" tIns="0" rIns="0" bIns="0" rtlCol="0" anchor="ctr">
            <a:normAutofit/>
          </a:bodyPr>
          <a:lstStyle/>
          <a:p>
            <a:pPr indent="0" marL="0">
              <a:buNone/>
            </a:pPr>
            <a:r>
              <a:rPr lang="en-US" sz="1400" b="1" dirty="0">
                <a:solidFill>
                  <a:srgbClr val="11727B"/>
                </a:solidFill>
                <a:latin typeface="Aptos" pitchFamily="34" charset="0"/>
                <a:ea typeface="Aptos" pitchFamily="34" charset="-122"/>
                <a:cs typeface="Aptos" pitchFamily="34" charset="-120"/>
              </a:rPr>
              <a:t>CHANGE</a:t>
            </a:r>
            <a:endParaRPr lang="en-US" sz="1400" dirty="0"/>
          </a:p>
        </p:txBody>
      </p:sp>
      <p:sp>
        <p:nvSpPr>
          <p:cNvPr id="14" name="Text 11"/>
          <p:cNvSpPr/>
          <p:nvPr/>
        </p:nvSpPr>
        <p:spPr>
          <a:xfrm>
            <a:off x="4489704" y="2441448"/>
            <a:ext cx="3218688" cy="1883664"/>
          </a:xfrm>
          <a:prstGeom prst="rect">
            <a:avLst/>
          </a:prstGeom>
          <a:noFill/>
          <a:ln/>
        </p:spPr>
        <p:txBody>
          <a:bodyPr wrap="square" lIns="0" tIns="0" rIns="0" bIns="0" rtlCol="0" anchor="ctr">
            <a:normAutofit/>
          </a:bodyPr>
          <a:lstStyle/>
          <a:p>
            <a:pPr indent="0" marL="0">
              <a:buNone/>
            </a:pPr>
            <a:r>
              <a:rPr lang="en-US" sz="1700" dirty="0">
                <a:solidFill>
                  <a:srgbClr val="162733"/>
                </a:solidFill>
                <a:latin typeface="Aptos" pitchFamily="34" charset="0"/>
                <a:ea typeface="Aptos" pitchFamily="34" charset="-122"/>
                <a:cs typeface="Aptos" pitchFamily="34" charset="-120"/>
              </a:rPr>
              <a:t>Partition into linear segments that meet a specified error tolerance.</a:t>
            </a:r>
            <a:endParaRPr lang="en-US" sz="1700" dirty="0"/>
          </a:p>
        </p:txBody>
      </p:sp>
      <p:sp>
        <p:nvSpPr>
          <p:cNvPr id="15" name="Shape 12"/>
          <p:cNvSpPr/>
          <p:nvPr/>
        </p:nvSpPr>
        <p:spPr>
          <a:xfrm>
            <a:off x="8119872" y="2011680"/>
            <a:ext cx="3529584" cy="2377440"/>
          </a:xfrm>
          <a:prstGeom prst="rect">
            <a:avLst/>
          </a:prstGeom>
          <a:solidFill>
            <a:srgbClr val="EFF5F6"/>
          </a:solidFill>
          <a:ln w="12700">
            <a:solidFill>
              <a:srgbClr val="EFF5F6"/>
            </a:solidFill>
            <a:prstDash val="solid"/>
          </a:ln>
        </p:spPr>
      </p:sp>
      <p:sp>
        <p:nvSpPr>
          <p:cNvPr id="16" name="Text 13"/>
          <p:cNvSpPr/>
          <p:nvPr/>
        </p:nvSpPr>
        <p:spPr>
          <a:xfrm>
            <a:off x="8275320" y="2121408"/>
            <a:ext cx="3218688" cy="246888"/>
          </a:xfrm>
          <a:prstGeom prst="rect">
            <a:avLst/>
          </a:prstGeom>
          <a:noFill/>
          <a:ln/>
        </p:spPr>
        <p:txBody>
          <a:bodyPr wrap="square" lIns="0" tIns="0" rIns="0" bIns="0" rtlCol="0" anchor="ctr">
            <a:normAutofit/>
          </a:bodyPr>
          <a:lstStyle/>
          <a:p>
            <a:pPr indent="0" marL="0">
              <a:buNone/>
            </a:pPr>
            <a:r>
              <a:rPr lang="en-US" sz="1400" b="1" dirty="0">
                <a:solidFill>
                  <a:srgbClr val="11727B"/>
                </a:solidFill>
                <a:latin typeface="Aptos" pitchFamily="34" charset="0"/>
                <a:ea typeface="Aptos" pitchFamily="34" charset="-122"/>
                <a:cs typeface="Aptos" pitchFamily="34" charset="-120"/>
              </a:rPr>
              <a:t>COST</a:t>
            </a:r>
            <a:endParaRPr lang="en-US" sz="1400" dirty="0"/>
          </a:p>
        </p:txBody>
      </p:sp>
      <p:sp>
        <p:nvSpPr>
          <p:cNvPr id="17" name="Text 14"/>
          <p:cNvSpPr/>
          <p:nvPr/>
        </p:nvSpPr>
        <p:spPr>
          <a:xfrm>
            <a:off x="8275320" y="2441448"/>
            <a:ext cx="3218688" cy="1883664"/>
          </a:xfrm>
          <a:prstGeom prst="rect">
            <a:avLst/>
          </a:prstGeom>
          <a:noFill/>
          <a:ln/>
        </p:spPr>
        <p:txBody>
          <a:bodyPr wrap="square" lIns="0" tIns="0" rIns="0" bIns="0" rtlCol="0" anchor="ctr">
            <a:normAutofit/>
          </a:bodyPr>
          <a:lstStyle/>
          <a:p>
            <a:pPr indent="0" marL="0">
              <a:buNone/>
            </a:pPr>
            <a:r>
              <a:rPr lang="en-US" sz="1700" dirty="0">
                <a:solidFill>
                  <a:srgbClr val="162733"/>
                </a:solidFill>
                <a:latin typeface="Aptos" pitchFamily="34" charset="0"/>
                <a:ea typeface="Aptos" pitchFamily="34" charset="-122"/>
                <a:cs typeface="Aptos" pitchFamily="34" charset="-120"/>
              </a:rPr>
              <a:t>Tighter tolerance may require more segments and metadata.</a:t>
            </a:r>
            <a:endParaRPr lang="en-US" sz="1700" dirty="0"/>
          </a:p>
        </p:txBody>
      </p:sp>
      <p:sp>
        <p:nvSpPr>
          <p:cNvPr id="18" name="Text 15"/>
          <p:cNvSpPr/>
          <p:nvPr/>
        </p:nvSpPr>
        <p:spPr>
          <a:xfrm>
            <a:off x="594360" y="4983480"/>
            <a:ext cx="10789920" cy="548640"/>
          </a:xfrm>
          <a:prstGeom prst="rect">
            <a:avLst/>
          </a:prstGeom>
          <a:noFill/>
          <a:ln/>
        </p:spPr>
        <p:txBody>
          <a:bodyPr wrap="square" lIns="0" tIns="0" rIns="0" bIns="0" rtlCol="0" anchor="ctr">
            <a:normAutofit/>
          </a:bodyPr>
          <a:lstStyle/>
          <a:p>
            <a:pPr indent="0" marL="0">
              <a:buNone/>
            </a:pPr>
            <a:r>
              <a:rPr lang="en-US" sz="2400" b="1" dirty="0">
                <a:solidFill>
                  <a:srgbClr val="162733"/>
                </a:solidFill>
                <a:latin typeface="Aptos" pitchFamily="34" charset="0"/>
                <a:ea typeface="Aptos" pitchFamily="34" charset="-122"/>
                <a:cs typeface="Aptos" pitchFamily="34" charset="-120"/>
              </a:rPr>
              <a:t>Prediction + bounded correction, not “the model must be exact.”</a:t>
            </a:r>
            <a:endParaRPr 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46888"/>
            <a:ext cx="10424160" cy="201168"/>
          </a:xfrm>
          <a:prstGeom prst="rect">
            <a:avLst/>
          </a:prstGeom>
          <a:noFill/>
          <a:ln/>
        </p:spPr>
        <p:txBody>
          <a:bodyPr wrap="square" lIns="0" tIns="0" rIns="0" bIns="0" rtlCol="0" anchor="ctr">
            <a:normAutofit/>
          </a:bodyPr>
          <a:lstStyle/>
          <a:p>
            <a:pPr indent="0" marL="0">
              <a:buNone/>
            </a:pPr>
            <a:r>
              <a:rPr lang="en-US" sz="1000" b="1" spc="110" kern="0" dirty="0">
                <a:solidFill>
                  <a:srgbClr val="11727B"/>
                </a:solidFill>
                <a:latin typeface="Aptos" pitchFamily="34" charset="0"/>
                <a:ea typeface="Aptos" pitchFamily="34" charset="-122"/>
                <a:cs typeface="Aptos" pitchFamily="34" charset="-120"/>
              </a:rPr>
              <a:t>LITERATURE • UPSTREAM ADAPTER NOT VALIDATED</a:t>
            </a:r>
            <a:endParaRPr lang="en-US" sz="1000" dirty="0"/>
          </a:p>
        </p:txBody>
      </p:sp>
      <p:sp>
        <p:nvSpPr>
          <p:cNvPr id="3" name="Text 1"/>
          <p:cNvSpPr/>
          <p:nvPr/>
        </p:nvSpPr>
        <p:spPr>
          <a:xfrm>
            <a:off x="548640" y="640080"/>
            <a:ext cx="11064240" cy="603504"/>
          </a:xfrm>
          <a:prstGeom prst="rect">
            <a:avLst/>
          </a:prstGeom>
          <a:noFill/>
          <a:ln/>
        </p:spPr>
        <p:txBody>
          <a:bodyPr wrap="square" lIns="0" tIns="0" rIns="0" bIns="0" rtlCol="0" anchor="ctr">
            <a:normAutofit/>
          </a:bodyPr>
          <a:lstStyle/>
          <a:p>
            <a:pPr indent="0" marL="0">
              <a:buNone/>
            </a:pPr>
            <a:r>
              <a:rPr lang="en-US" sz="3000" b="1" dirty="0">
                <a:solidFill>
                  <a:srgbClr val="162733"/>
                </a:solidFill>
                <a:latin typeface="Aptos Display" pitchFamily="34" charset="0"/>
                <a:ea typeface="Aptos Display" pitchFamily="34" charset="-122"/>
                <a:cs typeface="Aptos Display" pitchFamily="34" charset="-120"/>
              </a:rPr>
              <a:t>2020 · build a hierarchy of bounded models</a:t>
            </a:r>
            <a:endParaRPr lang="en-US" sz="3000" dirty="0"/>
          </a:p>
        </p:txBody>
      </p:sp>
      <p:sp>
        <p:nvSpPr>
          <p:cNvPr id="4" name="Text 2"/>
          <p:cNvSpPr/>
          <p:nvPr/>
        </p:nvSpPr>
        <p:spPr>
          <a:xfrm>
            <a:off x="548640" y="1280160"/>
            <a:ext cx="11064240" cy="420624"/>
          </a:xfrm>
          <a:prstGeom prst="rect">
            <a:avLst/>
          </a:prstGeom>
          <a:noFill/>
          <a:ln/>
        </p:spPr>
        <p:txBody>
          <a:bodyPr wrap="square" lIns="0" tIns="0" rIns="0" bIns="0" rtlCol="0" anchor="ctr">
            <a:normAutofit/>
          </a:bodyPr>
          <a:lstStyle/>
          <a:p>
            <a:pPr indent="0" marL="0">
              <a:buNone/>
            </a:pPr>
            <a:r>
              <a:rPr lang="en-US" sz="1600" dirty="0">
                <a:solidFill>
                  <a:srgbClr val="526571"/>
                </a:solidFill>
                <a:latin typeface="Aptos" pitchFamily="34" charset="0"/>
                <a:ea typeface="Aptos" pitchFamily="34" charset="-122"/>
                <a:cs typeface="Aptos" pitchFamily="34" charset="-120"/>
              </a:rPr>
              <a:t>PGM indexes the segments recursively and supplies static and dynamic variants.</a:t>
            </a:r>
            <a:endParaRPr lang="en-US" sz="1600" dirty="0"/>
          </a:p>
        </p:txBody>
      </p:sp>
      <p:sp>
        <p:nvSpPr>
          <p:cNvPr id="5" name="Shape 3"/>
          <p:cNvSpPr/>
          <p:nvPr/>
        </p:nvSpPr>
        <p:spPr>
          <a:xfrm>
            <a:off x="548640" y="6364224"/>
            <a:ext cx="11064240" cy="0"/>
          </a:xfrm>
          <a:prstGeom prst="line">
            <a:avLst/>
          </a:prstGeom>
          <a:noFill/>
          <a:ln w="12700">
            <a:solidFill>
              <a:srgbClr val="D9E3E6"/>
            </a:solidFill>
            <a:prstDash val="solid"/>
          </a:ln>
        </p:spPr>
      </p:sp>
      <p:sp>
        <p:nvSpPr>
          <p:cNvPr id="6" name="Text 4"/>
          <p:cNvSpPr/>
          <p:nvPr/>
        </p:nvSpPr>
        <p:spPr>
          <a:xfrm>
            <a:off x="548640" y="6464808"/>
            <a:ext cx="10607040" cy="192024"/>
          </a:xfrm>
          <a:prstGeom prst="rect">
            <a:avLst/>
          </a:prstGeom>
          <a:noFill/>
          <a:ln/>
        </p:spPr>
        <p:txBody>
          <a:bodyPr wrap="square" lIns="0" tIns="0" rIns="0" bIns="0" rtlCol="0" anchor="ctr">
            <a:normAutofit/>
          </a:bodyPr>
          <a:lstStyle/>
          <a:p>
            <a:pPr indent="0" marL="0">
              <a:buNone/>
            </a:pPr>
            <a:r>
              <a:rPr lang="en-US" sz="900" dirty="0">
                <a:solidFill>
                  <a:srgbClr val="526571"/>
                </a:solidFill>
                <a:latin typeface="Aptos" pitchFamily="34" charset="0"/>
                <a:ea typeface="Aptos" pitchFamily="34" charset="-122"/>
                <a:cs typeface="Aptos" pitchFamily="34" charset="-120"/>
              </a:rPr>
              <a:t>Ferragina &amp; Vinciguerra, PVLDB 2020, §§2–4 • doi:10.14778/3389133.3389135</a:t>
            </a:r>
            <a:endParaRPr lang="en-US" sz="900" dirty="0"/>
          </a:p>
        </p:txBody>
      </p:sp>
      <p:sp>
        <p:nvSpPr>
          <p:cNvPr id="7" name="Text 5"/>
          <p:cNvSpPr/>
          <p:nvPr/>
        </p:nvSpPr>
        <p:spPr>
          <a:xfrm>
            <a:off x="11082528" y="6446520"/>
            <a:ext cx="548640" cy="228600"/>
          </a:xfrm>
          <a:prstGeom prst="rect">
            <a:avLst/>
          </a:prstGeom>
          <a:noFill/>
          <a:ln/>
        </p:spPr>
        <p:txBody>
          <a:bodyPr wrap="square" lIns="0" tIns="0" rIns="0" bIns="0" rtlCol="0" anchor="ctr">
            <a:normAutofit/>
          </a:bodyPr>
          <a:lstStyle/>
          <a:p>
            <a:pPr algn="r" indent="0" marL="0">
              <a:buNone/>
            </a:pPr>
            <a:r>
              <a:rPr lang="en-US" sz="1100" dirty="0">
                <a:solidFill>
                  <a:srgbClr val="526571"/>
                </a:solidFill>
                <a:latin typeface="Aptos" pitchFamily="34" charset="0"/>
                <a:ea typeface="Aptos" pitchFamily="34" charset="-122"/>
                <a:cs typeface="Aptos" pitchFamily="34" charset="-120"/>
              </a:rPr>
              <a:t>07</a:t>
            </a:r>
            <a:endParaRPr lang="en-US" sz="1100" dirty="0"/>
          </a:p>
        </p:txBody>
      </p:sp>
      <p:sp>
        <p:nvSpPr>
          <p:cNvPr id="9" name="Shape 6"/>
          <p:cNvSpPr/>
          <p:nvPr/>
        </p:nvSpPr>
        <p:spPr>
          <a:xfrm>
            <a:off x="548640" y="2011680"/>
            <a:ext cx="3529584" cy="2377440"/>
          </a:xfrm>
          <a:prstGeom prst="rect">
            <a:avLst/>
          </a:prstGeom>
          <a:solidFill>
            <a:srgbClr val="EFF5F6"/>
          </a:solidFill>
          <a:ln w="12700">
            <a:solidFill>
              <a:srgbClr val="EFF5F6"/>
            </a:solidFill>
            <a:prstDash val="solid"/>
          </a:ln>
        </p:spPr>
      </p:sp>
      <p:sp>
        <p:nvSpPr>
          <p:cNvPr id="10" name="Text 7"/>
          <p:cNvSpPr/>
          <p:nvPr/>
        </p:nvSpPr>
        <p:spPr>
          <a:xfrm>
            <a:off x="704088" y="2121408"/>
            <a:ext cx="3218688" cy="246888"/>
          </a:xfrm>
          <a:prstGeom prst="rect">
            <a:avLst/>
          </a:prstGeom>
          <a:noFill/>
          <a:ln/>
        </p:spPr>
        <p:txBody>
          <a:bodyPr wrap="square" lIns="0" tIns="0" rIns="0" bIns="0" rtlCol="0" anchor="ctr">
            <a:normAutofit/>
          </a:bodyPr>
          <a:lstStyle/>
          <a:p>
            <a:pPr indent="0" marL="0">
              <a:buNone/>
            </a:pPr>
            <a:r>
              <a:rPr lang="en-US" sz="1400" b="1" dirty="0">
                <a:solidFill>
                  <a:srgbClr val="11727B"/>
                </a:solidFill>
                <a:latin typeface="Aptos" pitchFamily="34" charset="0"/>
                <a:ea typeface="Aptos" pitchFamily="34" charset="-122"/>
                <a:cs typeface="Aptos" pitchFamily="34" charset="-120"/>
              </a:rPr>
              <a:t>MODELS OF MODELS</a:t>
            </a:r>
            <a:endParaRPr lang="en-US" sz="1400" dirty="0"/>
          </a:p>
        </p:txBody>
      </p:sp>
      <p:sp>
        <p:nvSpPr>
          <p:cNvPr id="11" name="Text 8"/>
          <p:cNvSpPr/>
          <p:nvPr/>
        </p:nvSpPr>
        <p:spPr>
          <a:xfrm>
            <a:off x="704088" y="2441448"/>
            <a:ext cx="3218688" cy="1883664"/>
          </a:xfrm>
          <a:prstGeom prst="rect">
            <a:avLst/>
          </a:prstGeom>
          <a:noFill/>
          <a:ln/>
        </p:spPr>
        <p:txBody>
          <a:bodyPr wrap="square" lIns="0" tIns="0" rIns="0" bIns="0" rtlCol="0" anchor="ctr">
            <a:normAutofit/>
          </a:bodyPr>
          <a:lstStyle/>
          <a:p>
            <a:pPr indent="0" marL="0">
              <a:buNone/>
            </a:pPr>
            <a:r>
              <a:rPr lang="en-US" sz="1700" dirty="0">
                <a:solidFill>
                  <a:srgbClr val="162733"/>
                </a:solidFill>
                <a:latin typeface="Aptos" pitchFamily="34" charset="0"/>
                <a:ea typeface="Aptos" pitchFamily="34" charset="-122"/>
                <a:cs typeface="Aptos" pitchFamily="34" charset="-120"/>
              </a:rPr>
              <a:t>Each level narrows the next search; the final interval is corrected exactly.</a:t>
            </a:r>
            <a:endParaRPr lang="en-US" sz="1700" dirty="0"/>
          </a:p>
        </p:txBody>
      </p:sp>
      <p:sp>
        <p:nvSpPr>
          <p:cNvPr id="12" name="Shape 9"/>
          <p:cNvSpPr/>
          <p:nvPr/>
        </p:nvSpPr>
        <p:spPr>
          <a:xfrm>
            <a:off x="4334256" y="2011680"/>
            <a:ext cx="3529584" cy="2377440"/>
          </a:xfrm>
          <a:prstGeom prst="rect">
            <a:avLst/>
          </a:prstGeom>
          <a:solidFill>
            <a:srgbClr val="EFF5F6"/>
          </a:solidFill>
          <a:ln w="12700">
            <a:solidFill>
              <a:srgbClr val="EFF5F6"/>
            </a:solidFill>
            <a:prstDash val="solid"/>
          </a:ln>
        </p:spPr>
      </p:sp>
      <p:sp>
        <p:nvSpPr>
          <p:cNvPr id="13" name="Text 10"/>
          <p:cNvSpPr/>
          <p:nvPr/>
        </p:nvSpPr>
        <p:spPr>
          <a:xfrm>
            <a:off x="4489704" y="2121408"/>
            <a:ext cx="3218688" cy="246888"/>
          </a:xfrm>
          <a:prstGeom prst="rect">
            <a:avLst/>
          </a:prstGeom>
          <a:noFill/>
          <a:ln/>
        </p:spPr>
        <p:txBody>
          <a:bodyPr wrap="square" lIns="0" tIns="0" rIns="0" bIns="0" rtlCol="0" anchor="ctr">
            <a:normAutofit/>
          </a:bodyPr>
          <a:lstStyle/>
          <a:p>
            <a:pPr indent="0" marL="0">
              <a:buNone/>
            </a:pPr>
            <a:r>
              <a:rPr lang="en-US" sz="1400" b="1" dirty="0">
                <a:solidFill>
                  <a:srgbClr val="11727B"/>
                </a:solidFill>
                <a:latin typeface="Aptos" pitchFamily="34" charset="0"/>
                <a:ea typeface="Aptos" pitchFamily="34" charset="-122"/>
                <a:cs typeface="Aptos" pitchFamily="34" charset="-120"/>
              </a:rPr>
              <a:t>BOUND + SPACE</a:t>
            </a:r>
            <a:endParaRPr lang="en-US" sz="1400" dirty="0"/>
          </a:p>
        </p:txBody>
      </p:sp>
      <p:sp>
        <p:nvSpPr>
          <p:cNvPr id="14" name="Text 11"/>
          <p:cNvSpPr/>
          <p:nvPr/>
        </p:nvSpPr>
        <p:spPr>
          <a:xfrm>
            <a:off x="4489704" y="2441448"/>
            <a:ext cx="3218688" cy="1883664"/>
          </a:xfrm>
          <a:prstGeom prst="rect">
            <a:avLst/>
          </a:prstGeom>
          <a:noFill/>
          <a:ln/>
        </p:spPr>
        <p:txBody>
          <a:bodyPr wrap="square" lIns="0" tIns="0" rIns="0" bIns="0" rtlCol="0" anchor="ctr">
            <a:normAutofit/>
          </a:bodyPr>
          <a:lstStyle/>
          <a:p>
            <a:pPr indent="0" marL="0">
              <a:buNone/>
            </a:pPr>
            <a:r>
              <a:rPr lang="en-US" sz="1700" dirty="0">
                <a:solidFill>
                  <a:srgbClr val="162733"/>
                </a:solidFill>
                <a:latin typeface="Aptos" pitchFamily="34" charset="0"/>
                <a:ea typeface="Aptos" pitchFamily="34" charset="-122"/>
                <a:cs typeface="Aptos" pitchFamily="34" charset="-120"/>
              </a:rPr>
              <a:t>Error tolerance determines the fit/space/search trade-off.</a:t>
            </a:r>
            <a:endParaRPr lang="en-US" sz="1700" dirty="0"/>
          </a:p>
        </p:txBody>
      </p:sp>
      <p:sp>
        <p:nvSpPr>
          <p:cNvPr id="15" name="Shape 12"/>
          <p:cNvSpPr/>
          <p:nvPr/>
        </p:nvSpPr>
        <p:spPr>
          <a:xfrm>
            <a:off x="8119872" y="2011680"/>
            <a:ext cx="3529584" cy="2377440"/>
          </a:xfrm>
          <a:prstGeom prst="rect">
            <a:avLst/>
          </a:prstGeom>
          <a:solidFill>
            <a:srgbClr val="EFF5F6"/>
          </a:solidFill>
          <a:ln w="12700">
            <a:solidFill>
              <a:srgbClr val="EFF5F6"/>
            </a:solidFill>
            <a:prstDash val="solid"/>
          </a:ln>
        </p:spPr>
      </p:sp>
      <p:sp>
        <p:nvSpPr>
          <p:cNvPr id="16" name="Text 13"/>
          <p:cNvSpPr/>
          <p:nvPr/>
        </p:nvSpPr>
        <p:spPr>
          <a:xfrm>
            <a:off x="8275320" y="2121408"/>
            <a:ext cx="3218688" cy="246888"/>
          </a:xfrm>
          <a:prstGeom prst="rect">
            <a:avLst/>
          </a:prstGeom>
          <a:noFill/>
          <a:ln/>
        </p:spPr>
        <p:txBody>
          <a:bodyPr wrap="square" lIns="0" tIns="0" rIns="0" bIns="0" rtlCol="0" anchor="ctr">
            <a:normAutofit/>
          </a:bodyPr>
          <a:lstStyle/>
          <a:p>
            <a:pPr indent="0" marL="0">
              <a:buNone/>
            </a:pPr>
            <a:r>
              <a:rPr lang="en-US" sz="1400" b="1" dirty="0">
                <a:solidFill>
                  <a:srgbClr val="11727B"/>
                </a:solidFill>
                <a:latin typeface="Aptos" pitchFamily="34" charset="0"/>
                <a:ea typeface="Aptos" pitchFamily="34" charset="-122"/>
                <a:cs typeface="Aptos" pitchFamily="34" charset="-120"/>
              </a:rPr>
              <a:t>DISTINCTION</a:t>
            </a:r>
            <a:endParaRPr lang="en-US" sz="1400" dirty="0"/>
          </a:p>
        </p:txBody>
      </p:sp>
      <p:sp>
        <p:nvSpPr>
          <p:cNvPr id="17" name="Text 14"/>
          <p:cNvSpPr/>
          <p:nvPr/>
        </p:nvSpPr>
        <p:spPr>
          <a:xfrm>
            <a:off x="8275320" y="2441448"/>
            <a:ext cx="3218688" cy="1883664"/>
          </a:xfrm>
          <a:prstGeom prst="rect">
            <a:avLst/>
          </a:prstGeom>
          <a:noFill/>
          <a:ln/>
        </p:spPr>
        <p:txBody>
          <a:bodyPr wrap="square" lIns="0" tIns="0" rIns="0" bIns="0" rtlCol="0" anchor="ctr">
            <a:normAutofit/>
          </a:bodyPr>
          <a:lstStyle/>
          <a:p>
            <a:pPr indent="0" marL="0">
              <a:buNone/>
            </a:pPr>
            <a:r>
              <a:rPr lang="en-US" sz="1700" dirty="0">
                <a:solidFill>
                  <a:srgbClr val="162733"/>
                </a:solidFill>
                <a:latin typeface="Aptos" pitchFamily="34" charset="0"/>
                <a:ea typeface="Aptos" pitchFamily="34" charset="-122"/>
                <a:cs typeface="Aptos" pitchFamily="34" charset="-120"/>
              </a:rPr>
              <a:t>Compressing model parameters is not automatically compressing the keys.</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46888"/>
            <a:ext cx="10424160" cy="201168"/>
          </a:xfrm>
          <a:prstGeom prst="rect">
            <a:avLst/>
          </a:prstGeom>
          <a:noFill/>
          <a:ln/>
        </p:spPr>
        <p:txBody>
          <a:bodyPr wrap="square" lIns="0" tIns="0" rIns="0" bIns="0" rtlCol="0" anchor="ctr">
            <a:normAutofit/>
          </a:bodyPr>
          <a:lstStyle/>
          <a:p>
            <a:pPr indent="0" marL="0">
              <a:buNone/>
            </a:pPr>
            <a:r>
              <a:rPr lang="en-US" sz="1000" b="1" spc="110" kern="0" dirty="0">
                <a:solidFill>
                  <a:srgbClr val="11727B"/>
                </a:solidFill>
                <a:latin typeface="Aptos" pitchFamily="34" charset="0"/>
                <a:ea typeface="Aptos" pitchFamily="34" charset="-122"/>
                <a:cs typeface="Aptos" pitchFamily="34" charset="-120"/>
              </a:rPr>
              <a:t>SOURCE-DERIVED NATIVE EXPERIMENT</a:t>
            </a:r>
            <a:endParaRPr lang="en-US" sz="1000" dirty="0"/>
          </a:p>
        </p:txBody>
      </p:sp>
      <p:sp>
        <p:nvSpPr>
          <p:cNvPr id="3" name="Text 1"/>
          <p:cNvSpPr/>
          <p:nvPr/>
        </p:nvSpPr>
        <p:spPr>
          <a:xfrm>
            <a:off x="548640" y="640080"/>
            <a:ext cx="11064240" cy="603504"/>
          </a:xfrm>
          <a:prstGeom prst="rect">
            <a:avLst/>
          </a:prstGeom>
          <a:noFill/>
          <a:ln/>
        </p:spPr>
        <p:txBody>
          <a:bodyPr wrap="square" lIns="0" tIns="0" rIns="0" bIns="0" rtlCol="0" anchor="ctr">
            <a:normAutofit/>
          </a:bodyPr>
          <a:lstStyle/>
          <a:p>
            <a:pPr indent="0" marL="0">
              <a:buNone/>
            </a:pPr>
            <a:r>
              <a:rPr lang="en-US" sz="3000" b="1" dirty="0">
                <a:solidFill>
                  <a:srgbClr val="162733"/>
                </a:solidFill>
                <a:latin typeface="Aptos Display" pitchFamily="34" charset="0"/>
                <a:ea typeface="Aptos Display" pitchFamily="34" charset="-122"/>
                <a:cs typeface="Aptos Display" pitchFamily="34" charset="-120"/>
              </a:rPr>
              <a:t>2020 · RadixSpline makes the path concrete</a:t>
            </a:r>
            <a:endParaRPr lang="en-US" sz="3000" dirty="0"/>
          </a:p>
        </p:txBody>
      </p:sp>
      <p:sp>
        <p:nvSpPr>
          <p:cNvPr id="4" name="Text 2"/>
          <p:cNvSpPr/>
          <p:nvPr/>
        </p:nvSpPr>
        <p:spPr>
          <a:xfrm>
            <a:off x="548640" y="1280160"/>
            <a:ext cx="11064240" cy="420624"/>
          </a:xfrm>
          <a:prstGeom prst="rect">
            <a:avLst/>
          </a:prstGeom>
          <a:noFill/>
          <a:ln/>
        </p:spPr>
        <p:txBody>
          <a:bodyPr wrap="square" lIns="0" tIns="0" rIns="0" bIns="0" rtlCol="0" anchor="ctr">
            <a:normAutofit/>
          </a:bodyPr>
          <a:lstStyle/>
          <a:p>
            <a:pPr indent="0" marL="0">
              <a:buNone/>
            </a:pPr>
            <a:r>
              <a:rPr lang="en-US" sz="1600" dirty="0">
                <a:solidFill>
                  <a:srgbClr val="526571"/>
                </a:solidFill>
                <a:latin typeface="Aptos" pitchFamily="34" charset="0"/>
                <a:ea typeface="Aptos" pitchFamily="34" charset="-122"/>
                <a:cs typeface="Aptos" pitchFamily="34" charset="-120"/>
              </a:rPr>
              <a:t>One-pass spline construction + radix directory + exact bounded search.</a:t>
            </a:r>
            <a:endParaRPr lang="en-US" sz="1600" dirty="0"/>
          </a:p>
        </p:txBody>
      </p:sp>
      <p:sp>
        <p:nvSpPr>
          <p:cNvPr id="5" name="Shape 3"/>
          <p:cNvSpPr/>
          <p:nvPr/>
        </p:nvSpPr>
        <p:spPr>
          <a:xfrm>
            <a:off x="548640" y="6364224"/>
            <a:ext cx="11064240" cy="0"/>
          </a:xfrm>
          <a:prstGeom prst="line">
            <a:avLst/>
          </a:prstGeom>
          <a:noFill/>
          <a:ln w="12700">
            <a:solidFill>
              <a:srgbClr val="D9E3E6"/>
            </a:solidFill>
            <a:prstDash val="solid"/>
          </a:ln>
        </p:spPr>
      </p:sp>
      <p:sp>
        <p:nvSpPr>
          <p:cNvPr id="6" name="Text 4"/>
          <p:cNvSpPr/>
          <p:nvPr/>
        </p:nvSpPr>
        <p:spPr>
          <a:xfrm>
            <a:off x="548640" y="5934456"/>
            <a:ext cx="10424160" cy="292608"/>
          </a:xfrm>
          <a:prstGeom prst="rect">
            <a:avLst/>
          </a:prstGeom>
          <a:noFill/>
          <a:ln/>
        </p:spPr>
        <p:txBody>
          <a:bodyPr wrap="square" lIns="0" tIns="0" rIns="0" bIns="0" rtlCol="0" anchor="ctr">
            <a:normAutofit/>
          </a:bodyPr>
          <a:lstStyle/>
          <a:p>
            <a:pPr indent="0" marL="0">
              <a:buNone/>
            </a:pPr>
            <a:r>
              <a:rPr lang="en-US" sz="1400" dirty="0">
                <a:solidFill>
                  <a:srgbClr val="11727B"/>
                </a:solidFill>
                <a:latin typeface="Aptos Mono" pitchFamily="34" charset="0"/>
                <a:ea typeface="Aptos Mono" pitchFamily="34" charset="-122"/>
                <a:cs typeface="Aptos Mono" pitchFamily="34" charset="-120"/>
              </a:rPr>
              <a:t>L02   python3 walkthrough.py demo 02</a:t>
            </a:r>
            <a:endParaRPr lang="en-US" sz="1400" dirty="0"/>
          </a:p>
        </p:txBody>
      </p:sp>
      <p:sp>
        <p:nvSpPr>
          <p:cNvPr id="7" name="Text 5"/>
          <p:cNvSpPr/>
          <p:nvPr/>
        </p:nvSpPr>
        <p:spPr>
          <a:xfrm>
            <a:off x="548640" y="6464808"/>
            <a:ext cx="10607040" cy="192024"/>
          </a:xfrm>
          <a:prstGeom prst="rect">
            <a:avLst/>
          </a:prstGeom>
          <a:noFill/>
          <a:ln/>
        </p:spPr>
        <p:txBody>
          <a:bodyPr wrap="square" lIns="0" tIns="0" rIns="0" bIns="0" rtlCol="0" anchor="ctr">
            <a:normAutofit/>
          </a:bodyPr>
          <a:lstStyle/>
          <a:p>
            <a:pPr indent="0" marL="0">
              <a:buNone/>
            </a:pPr>
            <a:r>
              <a:rPr lang="en-US" sz="900" dirty="0">
                <a:solidFill>
                  <a:srgbClr val="526571"/>
                </a:solidFill>
                <a:latin typeface="Aptos" pitchFamily="34" charset="0"/>
                <a:ea typeface="Aptos" pitchFamily="34" charset="-122"/>
                <a:cs typeface="Aptos" pitchFamily="34" charset="-120"/>
              </a:rPr>
              <a:t>Kipf et al., aiDM 2020 • third_party/radix_spline/PROVENANCE.md • results/saved/02/</a:t>
            </a:r>
            <a:endParaRPr lang="en-US" sz="900" dirty="0"/>
          </a:p>
        </p:txBody>
      </p:sp>
      <p:sp>
        <p:nvSpPr>
          <p:cNvPr id="8" name="Text 6"/>
          <p:cNvSpPr/>
          <p:nvPr/>
        </p:nvSpPr>
        <p:spPr>
          <a:xfrm>
            <a:off x="11082528" y="6446520"/>
            <a:ext cx="548640" cy="228600"/>
          </a:xfrm>
          <a:prstGeom prst="rect">
            <a:avLst/>
          </a:prstGeom>
          <a:noFill/>
          <a:ln/>
        </p:spPr>
        <p:txBody>
          <a:bodyPr wrap="square" lIns="0" tIns="0" rIns="0" bIns="0" rtlCol="0" anchor="ctr">
            <a:normAutofit/>
          </a:bodyPr>
          <a:lstStyle/>
          <a:p>
            <a:pPr algn="r" indent="0" marL="0">
              <a:buNone/>
            </a:pPr>
            <a:r>
              <a:rPr lang="en-US" sz="1100" dirty="0">
                <a:solidFill>
                  <a:srgbClr val="526571"/>
                </a:solidFill>
                <a:latin typeface="Aptos" pitchFamily="34" charset="0"/>
                <a:ea typeface="Aptos" pitchFamily="34" charset="-122"/>
                <a:cs typeface="Aptos" pitchFamily="34" charset="-120"/>
              </a:rPr>
              <a:t>08</a:t>
            </a:r>
            <a:endParaRPr lang="en-US" sz="1100" dirty="0"/>
          </a:p>
        </p:txBody>
      </p:sp>
      <p:sp>
        <p:nvSpPr>
          <p:cNvPr id="10" name="Shape 7"/>
          <p:cNvSpPr/>
          <p:nvPr/>
        </p:nvSpPr>
        <p:spPr>
          <a:xfrm>
            <a:off x="548640" y="1874520"/>
            <a:ext cx="4206240" cy="1051560"/>
          </a:xfrm>
          <a:prstGeom prst="rect">
            <a:avLst/>
          </a:prstGeom>
          <a:solidFill>
            <a:srgbClr val="EFF5F6"/>
          </a:solidFill>
          <a:ln w="12700">
            <a:solidFill>
              <a:srgbClr val="EFF5F6"/>
            </a:solidFill>
            <a:prstDash val="solid"/>
          </a:ln>
        </p:spPr>
      </p:sp>
      <p:sp>
        <p:nvSpPr>
          <p:cNvPr id="11" name="Text 8"/>
          <p:cNvSpPr/>
          <p:nvPr/>
        </p:nvSpPr>
        <p:spPr>
          <a:xfrm>
            <a:off x="704088" y="1984248"/>
            <a:ext cx="3895344" cy="246888"/>
          </a:xfrm>
          <a:prstGeom prst="rect">
            <a:avLst/>
          </a:prstGeom>
          <a:noFill/>
          <a:ln/>
        </p:spPr>
        <p:txBody>
          <a:bodyPr wrap="square" lIns="0" tIns="0" rIns="0" bIns="0" rtlCol="0" anchor="ctr">
            <a:normAutofit/>
          </a:bodyPr>
          <a:lstStyle/>
          <a:p>
            <a:pPr indent="0" marL="0">
              <a:buNone/>
            </a:pPr>
            <a:r>
              <a:rPr lang="en-US" sz="1400" b="1" dirty="0">
                <a:solidFill>
                  <a:srgbClr val="11727B"/>
                </a:solidFill>
                <a:latin typeface="Aptos" pitchFamily="34" charset="0"/>
                <a:ea typeface="Aptos" pitchFamily="34" charset="-122"/>
                <a:cs typeface="Aptos" pitchFamily="34" charset="-120"/>
              </a:rPr>
              <a:t>FINAL WINDOW</a:t>
            </a:r>
            <a:endParaRPr lang="en-US" sz="1400" dirty="0"/>
          </a:p>
        </p:txBody>
      </p:sp>
      <p:sp>
        <p:nvSpPr>
          <p:cNvPr id="12" name="Text 9"/>
          <p:cNvSpPr/>
          <p:nvPr/>
        </p:nvSpPr>
        <p:spPr>
          <a:xfrm>
            <a:off x="704088" y="2304288"/>
            <a:ext cx="3895344" cy="557784"/>
          </a:xfrm>
          <a:prstGeom prst="rect">
            <a:avLst/>
          </a:prstGeom>
          <a:noFill/>
          <a:ln/>
        </p:spPr>
        <p:txBody>
          <a:bodyPr wrap="square" lIns="0" tIns="0" rIns="0" bIns="0" rtlCol="0" anchor="ctr">
            <a:normAutofit/>
          </a:bodyPr>
          <a:lstStyle/>
          <a:p>
            <a:pPr indent="0" marL="0">
              <a:buNone/>
            </a:pPr>
            <a:r>
              <a:rPr lang="en-US" sz="1700" dirty="0">
                <a:solidFill>
                  <a:srgbClr val="162733"/>
                </a:solidFill>
                <a:latin typeface="Aptos" pitchFamily="34" charset="0"/>
                <a:ea typeface="Aptos" pitchFamily="34" charset="-122"/>
                <a:cs typeface="Aptos" pitchFamily="34" charset="-120"/>
              </a:rPr>
              <a:t>At most 66 keys in this run, with ε = 32.</a:t>
            </a:r>
            <a:endParaRPr lang="en-US" sz="1700" dirty="0"/>
          </a:p>
        </p:txBody>
      </p:sp>
      <p:sp>
        <p:nvSpPr>
          <p:cNvPr id="13" name="Shape 10"/>
          <p:cNvSpPr/>
          <p:nvPr/>
        </p:nvSpPr>
        <p:spPr>
          <a:xfrm>
            <a:off x="548640" y="3072384"/>
            <a:ext cx="4206240" cy="1051560"/>
          </a:xfrm>
          <a:prstGeom prst="rect">
            <a:avLst/>
          </a:prstGeom>
          <a:solidFill>
            <a:srgbClr val="EFF5F6"/>
          </a:solidFill>
          <a:ln w="12700">
            <a:solidFill>
              <a:srgbClr val="EFF5F6"/>
            </a:solidFill>
            <a:prstDash val="solid"/>
          </a:ln>
        </p:spPr>
      </p:sp>
      <p:sp>
        <p:nvSpPr>
          <p:cNvPr id="14" name="Text 11"/>
          <p:cNvSpPr/>
          <p:nvPr/>
        </p:nvSpPr>
        <p:spPr>
          <a:xfrm>
            <a:off x="704088" y="3182112"/>
            <a:ext cx="3895344" cy="246888"/>
          </a:xfrm>
          <a:prstGeom prst="rect">
            <a:avLst/>
          </a:prstGeom>
          <a:noFill/>
          <a:ln/>
        </p:spPr>
        <p:txBody>
          <a:bodyPr wrap="square" lIns="0" tIns="0" rIns="0" bIns="0" rtlCol="0" anchor="ctr">
            <a:normAutofit/>
          </a:bodyPr>
          <a:lstStyle/>
          <a:p>
            <a:pPr indent="0" marL="0">
              <a:buNone/>
            </a:pPr>
            <a:r>
              <a:rPr lang="en-US" sz="1400" b="1" dirty="0">
                <a:solidFill>
                  <a:srgbClr val="11727B"/>
                </a:solidFill>
                <a:latin typeface="Aptos" pitchFamily="34" charset="0"/>
                <a:ea typeface="Aptos" pitchFamily="34" charset="-122"/>
                <a:cs typeface="Aptos" pitchFamily="34" charset="-120"/>
              </a:rPr>
              <a:t>EXACTNESS</a:t>
            </a:r>
            <a:endParaRPr lang="en-US" sz="1400" dirty="0"/>
          </a:p>
        </p:txBody>
      </p:sp>
      <p:sp>
        <p:nvSpPr>
          <p:cNvPr id="15" name="Text 12"/>
          <p:cNvSpPr/>
          <p:nvPr/>
        </p:nvSpPr>
        <p:spPr>
          <a:xfrm>
            <a:off x="704088" y="3502152"/>
            <a:ext cx="3895344" cy="557784"/>
          </a:xfrm>
          <a:prstGeom prst="rect">
            <a:avLst/>
          </a:prstGeom>
          <a:noFill/>
          <a:ln/>
        </p:spPr>
        <p:txBody>
          <a:bodyPr wrap="square" lIns="0" tIns="0" rIns="0" bIns="0" rtlCol="0" anchor="ctr">
            <a:normAutofit/>
          </a:bodyPr>
          <a:lstStyle/>
          <a:p>
            <a:pPr indent="0" marL="0">
              <a:buNone/>
            </a:pPr>
            <a:r>
              <a:rPr lang="en-US" sz="1700" dirty="0">
                <a:solidFill>
                  <a:srgbClr val="162733"/>
                </a:solidFill>
                <a:latin typeface="Aptos" pitchFamily="34" charset="0"/>
                <a:ea typeface="Aptos" pitchFamily="34" charset="-122"/>
                <a:cs typeface="Aptos" pitchFamily="34" charset="-120"/>
              </a:rPr>
              <a:t>Every query in the measured trace checked against std::lower_bound.</a:t>
            </a:r>
            <a:endParaRPr lang="en-US" sz="1700" dirty="0"/>
          </a:p>
        </p:txBody>
      </p:sp>
      <p:sp>
        <p:nvSpPr>
          <p:cNvPr id="16" name="Shape 13"/>
          <p:cNvSpPr/>
          <p:nvPr/>
        </p:nvSpPr>
        <p:spPr>
          <a:xfrm>
            <a:off x="548640" y="4270248"/>
            <a:ext cx="4206240" cy="1051560"/>
          </a:xfrm>
          <a:prstGeom prst="rect">
            <a:avLst/>
          </a:prstGeom>
          <a:solidFill>
            <a:srgbClr val="EFF5F6"/>
          </a:solidFill>
          <a:ln w="12700">
            <a:solidFill>
              <a:srgbClr val="EFF5F6"/>
            </a:solidFill>
            <a:prstDash val="solid"/>
          </a:ln>
        </p:spPr>
      </p:sp>
      <p:sp>
        <p:nvSpPr>
          <p:cNvPr id="17" name="Text 14"/>
          <p:cNvSpPr/>
          <p:nvPr/>
        </p:nvSpPr>
        <p:spPr>
          <a:xfrm>
            <a:off x="704088" y="4379976"/>
            <a:ext cx="3895344" cy="246888"/>
          </a:xfrm>
          <a:prstGeom prst="rect">
            <a:avLst/>
          </a:prstGeom>
          <a:noFill/>
          <a:ln/>
        </p:spPr>
        <p:txBody>
          <a:bodyPr wrap="square" lIns="0" tIns="0" rIns="0" bIns="0" rtlCol="0" anchor="ctr">
            <a:normAutofit/>
          </a:bodyPr>
          <a:lstStyle/>
          <a:p>
            <a:pPr indent="0" marL="0">
              <a:buNone/>
            </a:pPr>
            <a:r>
              <a:rPr lang="en-US" sz="1400" b="1" dirty="0">
                <a:solidFill>
                  <a:srgbClr val="11727B"/>
                </a:solidFill>
                <a:latin typeface="Aptos" pitchFamily="34" charset="0"/>
                <a:ea typeface="Aptos" pitchFamily="34" charset="-122"/>
                <a:cs typeface="Aptos" pitchFamily="34" charset="-120"/>
              </a:rPr>
              <a:t>SPACE SCOPE</a:t>
            </a:r>
            <a:endParaRPr lang="en-US" sz="1400" dirty="0"/>
          </a:p>
        </p:txBody>
      </p:sp>
      <p:sp>
        <p:nvSpPr>
          <p:cNvPr id="18" name="Text 15"/>
          <p:cNvSpPr/>
          <p:nvPr/>
        </p:nvSpPr>
        <p:spPr>
          <a:xfrm>
            <a:off x="704088" y="4700016"/>
            <a:ext cx="3895344" cy="557784"/>
          </a:xfrm>
          <a:prstGeom prst="rect">
            <a:avLst/>
          </a:prstGeom>
          <a:noFill/>
          <a:ln/>
        </p:spPr>
        <p:txBody>
          <a:bodyPr wrap="square" lIns="0" tIns="0" rIns="0" bIns="0" rtlCol="0" anchor="ctr">
            <a:normAutofit/>
          </a:bodyPr>
          <a:lstStyle/>
          <a:p>
            <a:pPr indent="0" marL="0">
              <a:buNone/>
            </a:pPr>
            <a:r>
              <a:rPr lang="en-US" sz="1700" dirty="0">
                <a:solidFill>
                  <a:srgbClr val="162733"/>
                </a:solidFill>
                <a:latin typeface="Aptos" pitchFamily="34" charset="0"/>
                <a:ea typeface="Aptos" pitchFamily="34" charset="-122"/>
                <a:cs typeface="Aptos" pitchFamily="34" charset="-120"/>
              </a:rPr>
              <a:t>131,072 key bytes + 5,908 auxiliary bytes; no payloads.</a:t>
            </a:r>
            <a:endParaRPr lang="en-US" sz="1700" dirty="0"/>
          </a:p>
        </p:txBody>
      </p:sp>
      <p:pic>
        <p:nvPicPr>
          <p:cNvPr id="19" name="Image 0" descr="/mnt/data/scaleli_sota/slides/figures/radix.png">    </p:cNvPr>
          <p:cNvPicPr>
            <a:picLocks noChangeAspect="1"/>
          </p:cNvPicPr>
          <p:nvPr/>
        </p:nvPicPr>
        <p:blipFill>
          <a:blip r:embed="rId1"/>
          <a:stretch>
            <a:fillRect/>
          </a:stretch>
        </p:blipFill>
        <p:spPr>
          <a:xfrm>
            <a:off x="5029200" y="1947120"/>
            <a:ext cx="6537960" cy="357640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46888"/>
            <a:ext cx="10424160" cy="201168"/>
          </a:xfrm>
          <a:prstGeom prst="rect">
            <a:avLst/>
          </a:prstGeom>
          <a:noFill/>
          <a:ln/>
        </p:spPr>
        <p:txBody>
          <a:bodyPr wrap="square" lIns="0" tIns="0" rIns="0" bIns="0" rtlCol="0" anchor="ctr">
            <a:normAutofit/>
          </a:bodyPr>
          <a:lstStyle/>
          <a:p>
            <a:pPr indent="0" marL="0">
              <a:buNone/>
            </a:pPr>
            <a:r>
              <a:rPr lang="en-US" sz="1000" b="1" spc="110" kern="0" dirty="0">
                <a:solidFill>
                  <a:srgbClr val="11727B"/>
                </a:solidFill>
                <a:latin typeface="Aptos" pitchFamily="34" charset="0"/>
                <a:ea typeface="Aptos" pitchFamily="34" charset="-122"/>
                <a:cs typeface="Aptos" pitchFamily="34" charset="-120"/>
              </a:rPr>
              <a:t>LITERATURE • NOT LOCALLY REPRODUCED</a:t>
            </a:r>
            <a:endParaRPr lang="en-US" sz="1000" dirty="0"/>
          </a:p>
        </p:txBody>
      </p:sp>
      <p:sp>
        <p:nvSpPr>
          <p:cNvPr id="3" name="Text 1"/>
          <p:cNvSpPr/>
          <p:nvPr/>
        </p:nvSpPr>
        <p:spPr>
          <a:xfrm>
            <a:off x="548640" y="640080"/>
            <a:ext cx="11064240" cy="603504"/>
          </a:xfrm>
          <a:prstGeom prst="rect">
            <a:avLst/>
          </a:prstGeom>
          <a:noFill/>
          <a:ln/>
        </p:spPr>
        <p:txBody>
          <a:bodyPr wrap="square" lIns="0" tIns="0" rIns="0" bIns="0" rtlCol="0" anchor="ctr">
            <a:normAutofit/>
          </a:bodyPr>
          <a:lstStyle/>
          <a:p>
            <a:pPr indent="0" marL="0">
              <a:buNone/>
            </a:pPr>
            <a:r>
              <a:rPr lang="en-US" sz="3000" b="1" dirty="0">
                <a:solidFill>
                  <a:srgbClr val="162733"/>
                </a:solidFill>
                <a:latin typeface="Aptos Display" pitchFamily="34" charset="0"/>
                <a:ea typeface="Aptos Display" pitchFamily="34" charset="-122"/>
                <a:cs typeface="Aptos Display" pitchFamily="34" charset="-120"/>
              </a:rPr>
              <a:t>2020–21 · updates require a storage strategy</a:t>
            </a:r>
            <a:endParaRPr lang="en-US" sz="3000" dirty="0"/>
          </a:p>
        </p:txBody>
      </p:sp>
      <p:sp>
        <p:nvSpPr>
          <p:cNvPr id="4" name="Text 2"/>
          <p:cNvSpPr/>
          <p:nvPr/>
        </p:nvSpPr>
        <p:spPr>
          <a:xfrm>
            <a:off x="548640" y="1280160"/>
            <a:ext cx="11064240" cy="420624"/>
          </a:xfrm>
          <a:prstGeom prst="rect">
            <a:avLst/>
          </a:prstGeom>
          <a:noFill/>
          <a:ln/>
        </p:spPr>
        <p:txBody>
          <a:bodyPr wrap="square" lIns="0" tIns="0" rIns="0" bIns="0" rtlCol="0" anchor="ctr">
            <a:normAutofit/>
          </a:bodyPr>
          <a:lstStyle/>
          <a:p>
            <a:pPr indent="0" marL="0">
              <a:buNone/>
            </a:pPr>
            <a:r>
              <a:rPr lang="en-US" sz="1600" dirty="0">
                <a:solidFill>
                  <a:srgbClr val="526571"/>
                </a:solidFill>
                <a:latin typeface="Aptos" pitchFamily="34" charset="0"/>
                <a:ea typeface="Aptos" pitchFamily="34" charset="-122"/>
                <a:cs typeface="Aptos" pitchFamily="34" charset="-120"/>
              </a:rPr>
              <a:t>ALEX and LIPP address insertion and conflicts differently.</a:t>
            </a:r>
            <a:endParaRPr lang="en-US" sz="1600" dirty="0"/>
          </a:p>
        </p:txBody>
      </p:sp>
      <p:sp>
        <p:nvSpPr>
          <p:cNvPr id="5" name="Shape 3"/>
          <p:cNvSpPr/>
          <p:nvPr/>
        </p:nvSpPr>
        <p:spPr>
          <a:xfrm>
            <a:off x="548640" y="6364224"/>
            <a:ext cx="11064240" cy="0"/>
          </a:xfrm>
          <a:prstGeom prst="line">
            <a:avLst/>
          </a:prstGeom>
          <a:noFill/>
          <a:ln w="12700">
            <a:solidFill>
              <a:srgbClr val="D9E3E6"/>
            </a:solidFill>
            <a:prstDash val="solid"/>
          </a:ln>
        </p:spPr>
      </p:sp>
      <p:sp>
        <p:nvSpPr>
          <p:cNvPr id="6" name="Text 4"/>
          <p:cNvSpPr/>
          <p:nvPr/>
        </p:nvSpPr>
        <p:spPr>
          <a:xfrm>
            <a:off x="548640" y="6464808"/>
            <a:ext cx="10607040" cy="192024"/>
          </a:xfrm>
          <a:prstGeom prst="rect">
            <a:avLst/>
          </a:prstGeom>
          <a:noFill/>
          <a:ln/>
        </p:spPr>
        <p:txBody>
          <a:bodyPr wrap="square" lIns="0" tIns="0" rIns="0" bIns="0" rtlCol="0" anchor="ctr">
            <a:normAutofit/>
          </a:bodyPr>
          <a:lstStyle/>
          <a:p>
            <a:pPr indent="0" marL="0">
              <a:buNone/>
            </a:pPr>
            <a:r>
              <a:rPr lang="en-US" sz="900" dirty="0">
                <a:solidFill>
                  <a:srgbClr val="526571"/>
                </a:solidFill>
                <a:latin typeface="Aptos" pitchFamily="34" charset="0"/>
                <a:ea typeface="Aptos" pitchFamily="34" charset="-122"/>
                <a:cs typeface="Aptos" pitchFamily="34" charset="-120"/>
              </a:rPr>
              <a:t>Ding et al., ALEX, SIGMOD 2020 • Wu et al., LIPP, PVLDB 2021</a:t>
            </a:r>
            <a:endParaRPr lang="en-US" sz="900" dirty="0"/>
          </a:p>
        </p:txBody>
      </p:sp>
      <p:sp>
        <p:nvSpPr>
          <p:cNvPr id="7" name="Text 5"/>
          <p:cNvSpPr/>
          <p:nvPr/>
        </p:nvSpPr>
        <p:spPr>
          <a:xfrm>
            <a:off x="11082528" y="6446520"/>
            <a:ext cx="548640" cy="228600"/>
          </a:xfrm>
          <a:prstGeom prst="rect">
            <a:avLst/>
          </a:prstGeom>
          <a:noFill/>
          <a:ln/>
        </p:spPr>
        <p:txBody>
          <a:bodyPr wrap="square" lIns="0" tIns="0" rIns="0" bIns="0" rtlCol="0" anchor="ctr">
            <a:normAutofit/>
          </a:bodyPr>
          <a:lstStyle/>
          <a:p>
            <a:pPr algn="r" indent="0" marL="0">
              <a:buNone/>
            </a:pPr>
            <a:r>
              <a:rPr lang="en-US" sz="1100" dirty="0">
                <a:solidFill>
                  <a:srgbClr val="526571"/>
                </a:solidFill>
                <a:latin typeface="Aptos" pitchFamily="34" charset="0"/>
                <a:ea typeface="Aptos" pitchFamily="34" charset="-122"/>
                <a:cs typeface="Aptos" pitchFamily="34" charset="-120"/>
              </a:rPr>
              <a:t>09</a:t>
            </a:r>
            <a:endParaRPr lang="en-US" sz="1100" dirty="0"/>
          </a:p>
        </p:txBody>
      </p:sp>
      <p:sp>
        <p:nvSpPr>
          <p:cNvPr id="9" name="Shape 6"/>
          <p:cNvSpPr/>
          <p:nvPr/>
        </p:nvSpPr>
        <p:spPr>
          <a:xfrm>
            <a:off x="548640" y="2011680"/>
            <a:ext cx="5340096" cy="2011680"/>
          </a:xfrm>
          <a:prstGeom prst="rect">
            <a:avLst/>
          </a:prstGeom>
          <a:solidFill>
            <a:srgbClr val="EFF5F6"/>
          </a:solidFill>
          <a:ln w="12700">
            <a:solidFill>
              <a:srgbClr val="EFF5F6"/>
            </a:solidFill>
            <a:prstDash val="solid"/>
          </a:ln>
        </p:spPr>
      </p:sp>
      <p:sp>
        <p:nvSpPr>
          <p:cNvPr id="10" name="Text 7"/>
          <p:cNvSpPr/>
          <p:nvPr/>
        </p:nvSpPr>
        <p:spPr>
          <a:xfrm>
            <a:off x="704088" y="2121408"/>
            <a:ext cx="5029200" cy="246888"/>
          </a:xfrm>
          <a:prstGeom prst="rect">
            <a:avLst/>
          </a:prstGeom>
          <a:noFill/>
          <a:ln/>
        </p:spPr>
        <p:txBody>
          <a:bodyPr wrap="square" lIns="0" tIns="0" rIns="0" bIns="0" rtlCol="0" anchor="ctr">
            <a:normAutofit/>
          </a:bodyPr>
          <a:lstStyle/>
          <a:p>
            <a:pPr indent="0" marL="0">
              <a:buNone/>
            </a:pPr>
            <a:r>
              <a:rPr lang="en-US" sz="1400" b="1" dirty="0">
                <a:solidFill>
                  <a:srgbClr val="11727B"/>
                </a:solidFill>
                <a:latin typeface="Aptos" pitchFamily="34" charset="0"/>
                <a:ea typeface="Aptos" pitchFamily="34" charset="-122"/>
                <a:cs typeface="Aptos" pitchFamily="34" charset="-120"/>
              </a:rPr>
              <a:t>ALEX</a:t>
            </a:r>
            <a:endParaRPr lang="en-US" sz="1400" dirty="0"/>
          </a:p>
        </p:txBody>
      </p:sp>
      <p:sp>
        <p:nvSpPr>
          <p:cNvPr id="11" name="Text 8"/>
          <p:cNvSpPr/>
          <p:nvPr/>
        </p:nvSpPr>
        <p:spPr>
          <a:xfrm>
            <a:off x="704088" y="2441448"/>
            <a:ext cx="5029200" cy="1517904"/>
          </a:xfrm>
          <a:prstGeom prst="rect">
            <a:avLst/>
          </a:prstGeom>
          <a:noFill/>
          <a:ln/>
        </p:spPr>
        <p:txBody>
          <a:bodyPr wrap="square" lIns="0" tIns="0" rIns="0" bIns="0" rtlCol="0" anchor="ctr">
            <a:normAutofit/>
          </a:bodyPr>
          <a:lstStyle/>
          <a:p>
            <a:pPr indent="0" marL="0">
              <a:buNone/>
            </a:pPr>
            <a:r>
              <a:rPr lang="en-US" sz="1700" dirty="0">
                <a:solidFill>
                  <a:srgbClr val="162733"/>
                </a:solidFill>
                <a:latin typeface="Aptos" pitchFamily="34" charset="0"/>
                <a:ea typeface="Aptos" pitchFamily="34" charset="-122"/>
                <a:cs typeface="Aptos" pitchFamily="34" charset="-120"/>
              </a:rPr>
              <a:t>Use gaps and adaptive expansion/splitting to accommodate writes.</a:t>
            </a:r>
            <a:endParaRPr lang="en-US" sz="1700" dirty="0"/>
          </a:p>
        </p:txBody>
      </p:sp>
      <p:sp>
        <p:nvSpPr>
          <p:cNvPr id="12" name="Shape 9"/>
          <p:cNvSpPr/>
          <p:nvPr/>
        </p:nvSpPr>
        <p:spPr>
          <a:xfrm>
            <a:off x="6272784" y="2011680"/>
            <a:ext cx="5340096" cy="2011680"/>
          </a:xfrm>
          <a:prstGeom prst="rect">
            <a:avLst/>
          </a:prstGeom>
          <a:solidFill>
            <a:srgbClr val="EFF5F6"/>
          </a:solidFill>
          <a:ln w="12700">
            <a:solidFill>
              <a:srgbClr val="EFF5F6"/>
            </a:solidFill>
            <a:prstDash val="solid"/>
          </a:ln>
        </p:spPr>
      </p:sp>
      <p:sp>
        <p:nvSpPr>
          <p:cNvPr id="13" name="Text 10"/>
          <p:cNvSpPr/>
          <p:nvPr/>
        </p:nvSpPr>
        <p:spPr>
          <a:xfrm>
            <a:off x="6428232" y="2121408"/>
            <a:ext cx="5029200" cy="246888"/>
          </a:xfrm>
          <a:prstGeom prst="rect">
            <a:avLst/>
          </a:prstGeom>
          <a:noFill/>
          <a:ln/>
        </p:spPr>
        <p:txBody>
          <a:bodyPr wrap="square" lIns="0" tIns="0" rIns="0" bIns="0" rtlCol="0" anchor="ctr">
            <a:normAutofit/>
          </a:bodyPr>
          <a:lstStyle/>
          <a:p>
            <a:pPr indent="0" marL="0">
              <a:buNone/>
            </a:pPr>
            <a:r>
              <a:rPr lang="en-US" sz="1400" b="1" dirty="0">
                <a:solidFill>
                  <a:srgbClr val="11727B"/>
                </a:solidFill>
                <a:latin typeface="Aptos" pitchFamily="34" charset="0"/>
                <a:ea typeface="Aptos" pitchFamily="34" charset="-122"/>
                <a:cs typeface="Aptos" pitchFamily="34" charset="-120"/>
              </a:rPr>
              <a:t>LIPP</a:t>
            </a:r>
            <a:endParaRPr lang="en-US" sz="1400" dirty="0"/>
          </a:p>
        </p:txBody>
      </p:sp>
      <p:sp>
        <p:nvSpPr>
          <p:cNvPr id="14" name="Text 11"/>
          <p:cNvSpPr/>
          <p:nvPr/>
        </p:nvSpPr>
        <p:spPr>
          <a:xfrm>
            <a:off x="6428232" y="2441448"/>
            <a:ext cx="5029200" cy="1517904"/>
          </a:xfrm>
          <a:prstGeom prst="rect">
            <a:avLst/>
          </a:prstGeom>
          <a:noFill/>
          <a:ln/>
        </p:spPr>
        <p:txBody>
          <a:bodyPr wrap="square" lIns="0" tIns="0" rIns="0" bIns="0" rtlCol="0" anchor="ctr">
            <a:normAutofit/>
          </a:bodyPr>
          <a:lstStyle/>
          <a:p>
            <a:pPr indent="0" marL="0">
              <a:buNone/>
            </a:pPr>
            <a:r>
              <a:rPr lang="en-US" sz="1700" dirty="0">
                <a:solidFill>
                  <a:srgbClr val="162733"/>
                </a:solidFill>
                <a:latin typeface="Aptos" pitchFamily="34" charset="0"/>
                <a:ea typeface="Aptos" pitchFamily="34" charset="-122"/>
                <a:cs typeface="Aptos" pitchFamily="34" charset="-120"/>
              </a:rPr>
              <a:t>Use predicted placement; represent collisions through additional nodes.</a:t>
            </a:r>
            <a:endParaRPr lang="en-US" sz="1700" dirty="0"/>
          </a:p>
        </p:txBody>
      </p:sp>
      <p:sp>
        <p:nvSpPr>
          <p:cNvPr id="15" name="Text 12"/>
          <p:cNvSpPr/>
          <p:nvPr/>
        </p:nvSpPr>
        <p:spPr>
          <a:xfrm>
            <a:off x="594360" y="4709160"/>
            <a:ext cx="10789920" cy="758952"/>
          </a:xfrm>
          <a:prstGeom prst="rect">
            <a:avLst/>
          </a:prstGeom>
          <a:noFill/>
          <a:ln/>
        </p:spPr>
        <p:txBody>
          <a:bodyPr wrap="square" lIns="0" tIns="0" rIns="0" bIns="0" rtlCol="0" anchor="ctr">
            <a:normAutofit/>
          </a:bodyPr>
          <a:lstStyle/>
          <a:p>
            <a:pPr indent="0" marL="0">
              <a:buNone/>
            </a:pPr>
            <a:r>
              <a:rPr lang="en-US" sz="2300" b="1" dirty="0">
                <a:solidFill>
                  <a:srgbClr val="162733"/>
                </a:solidFill>
                <a:latin typeface="Aptos" pitchFamily="34" charset="0"/>
                <a:ea typeface="Aptos" pitchFamily="34" charset="-122"/>
                <a:cs typeface="Aptos" pitchFamily="34" charset="-120"/>
              </a:rPr>
              <a:t>The baseline must include inserts, scans, memory and maintenance — not reads alone.</a:t>
            </a:r>
            <a:endParaRPr lang="en-US" sz="2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46888"/>
            <a:ext cx="10424160" cy="201168"/>
          </a:xfrm>
          <a:prstGeom prst="rect">
            <a:avLst/>
          </a:prstGeom>
          <a:noFill/>
          <a:ln/>
        </p:spPr>
        <p:txBody>
          <a:bodyPr wrap="square" lIns="0" tIns="0" rIns="0" bIns="0" rtlCol="0" anchor="ctr">
            <a:normAutofit/>
          </a:bodyPr>
          <a:lstStyle/>
          <a:p>
            <a:pPr indent="0" marL="0">
              <a:buNone/>
            </a:pPr>
            <a:r>
              <a:rPr lang="en-US" sz="1000" b="1" spc="110" kern="0" dirty="0">
                <a:solidFill>
                  <a:srgbClr val="11727B"/>
                </a:solidFill>
                <a:latin typeface="Aptos" pitchFamily="34" charset="0"/>
                <a:ea typeface="Aptos" pitchFamily="34" charset="-122"/>
                <a:cs typeface="Aptos" pitchFamily="34" charset="-120"/>
              </a:rPr>
              <a:t>PUBLISHED RESULT • TABLE ARITHMETIC</a:t>
            </a:r>
            <a:endParaRPr lang="en-US" sz="1000" dirty="0"/>
          </a:p>
        </p:txBody>
      </p:sp>
      <p:sp>
        <p:nvSpPr>
          <p:cNvPr id="3" name="Text 1"/>
          <p:cNvSpPr/>
          <p:nvPr/>
        </p:nvSpPr>
        <p:spPr>
          <a:xfrm>
            <a:off x="548640" y="640080"/>
            <a:ext cx="11064240" cy="603504"/>
          </a:xfrm>
          <a:prstGeom prst="rect">
            <a:avLst/>
          </a:prstGeom>
          <a:noFill/>
          <a:ln/>
        </p:spPr>
        <p:txBody>
          <a:bodyPr wrap="square" lIns="0" tIns="0" rIns="0" bIns="0" rtlCol="0" anchor="ctr">
            <a:normAutofit/>
          </a:bodyPr>
          <a:lstStyle/>
          <a:p>
            <a:pPr indent="0" marL="0">
              <a:buNone/>
            </a:pPr>
            <a:r>
              <a:rPr lang="en-US" sz="3000" b="1" dirty="0">
                <a:solidFill>
                  <a:srgbClr val="162733"/>
                </a:solidFill>
                <a:latin typeface="Aptos Display" pitchFamily="34" charset="0"/>
                <a:ea typeface="Aptos Display" pitchFamily="34" charset="-122"/>
                <a:cs typeface="Aptos Display" pitchFamily="34" charset="-120"/>
              </a:rPr>
              <a:t>2022 · NFL changes the input distribution</a:t>
            </a:r>
            <a:endParaRPr lang="en-US" sz="3000" dirty="0"/>
          </a:p>
        </p:txBody>
      </p:sp>
      <p:sp>
        <p:nvSpPr>
          <p:cNvPr id="4" name="Text 2"/>
          <p:cNvSpPr/>
          <p:nvPr/>
        </p:nvSpPr>
        <p:spPr>
          <a:xfrm>
            <a:off x="548640" y="1280160"/>
            <a:ext cx="11064240" cy="420624"/>
          </a:xfrm>
          <a:prstGeom prst="rect">
            <a:avLst/>
          </a:prstGeom>
          <a:noFill/>
          <a:ln/>
        </p:spPr>
        <p:txBody>
          <a:bodyPr wrap="square" lIns="0" tIns="0" rIns="0" bIns="0" rtlCol="0" anchor="ctr">
            <a:normAutofit/>
          </a:bodyPr>
          <a:lstStyle/>
          <a:p>
            <a:pPr indent="0" marL="0">
              <a:buNone/>
            </a:pPr>
            <a:r>
              <a:rPr lang="en-US" sz="1600" dirty="0">
                <a:solidFill>
                  <a:srgbClr val="526571"/>
                </a:solidFill>
                <a:latin typeface="Aptos" pitchFamily="34" charset="0"/>
                <a:ea typeface="Aptos" pitchFamily="34" charset="-122"/>
                <a:cs typeface="Aptos" pitchFamily="34" charset="-120"/>
              </a:rPr>
              <a:t>Transform numerical keys before building an After-Flow Learned Index.</a:t>
            </a:r>
            <a:endParaRPr lang="en-US" sz="1600" dirty="0"/>
          </a:p>
        </p:txBody>
      </p:sp>
      <p:sp>
        <p:nvSpPr>
          <p:cNvPr id="5" name="Shape 3"/>
          <p:cNvSpPr/>
          <p:nvPr/>
        </p:nvSpPr>
        <p:spPr>
          <a:xfrm>
            <a:off x="548640" y="6364224"/>
            <a:ext cx="11064240" cy="0"/>
          </a:xfrm>
          <a:prstGeom prst="line">
            <a:avLst/>
          </a:prstGeom>
          <a:noFill/>
          <a:ln w="12700">
            <a:solidFill>
              <a:srgbClr val="D9E3E6"/>
            </a:solidFill>
            <a:prstDash val="solid"/>
          </a:ln>
        </p:spPr>
      </p:sp>
      <p:sp>
        <p:nvSpPr>
          <p:cNvPr id="6" name="Text 4"/>
          <p:cNvSpPr/>
          <p:nvPr/>
        </p:nvSpPr>
        <p:spPr>
          <a:xfrm>
            <a:off x="548640" y="5934456"/>
            <a:ext cx="10424160" cy="292608"/>
          </a:xfrm>
          <a:prstGeom prst="rect">
            <a:avLst/>
          </a:prstGeom>
          <a:noFill/>
          <a:ln/>
        </p:spPr>
        <p:txBody>
          <a:bodyPr wrap="square" lIns="0" tIns="0" rIns="0" bIns="0" rtlCol="0" anchor="ctr">
            <a:normAutofit/>
          </a:bodyPr>
          <a:lstStyle/>
          <a:p>
            <a:pPr indent="0" marL="0">
              <a:buNone/>
            </a:pPr>
            <a:r>
              <a:rPr lang="en-US" sz="1400" dirty="0">
                <a:solidFill>
                  <a:srgbClr val="11727B"/>
                </a:solidFill>
                <a:latin typeface="Aptos Mono" pitchFamily="34" charset="0"/>
                <a:ea typeface="Aptos Mono" pitchFamily="34" charset="-122"/>
                <a:cs typeface="Aptos Mono" pitchFamily="34" charset="-120"/>
              </a:rPr>
              <a:t>L03   python3 walkthrough.py demo 03</a:t>
            </a:r>
            <a:endParaRPr lang="en-US" sz="1400" dirty="0"/>
          </a:p>
        </p:txBody>
      </p:sp>
      <p:sp>
        <p:nvSpPr>
          <p:cNvPr id="7" name="Text 5"/>
          <p:cNvSpPr/>
          <p:nvPr/>
        </p:nvSpPr>
        <p:spPr>
          <a:xfrm>
            <a:off x="548640" y="6464808"/>
            <a:ext cx="10607040" cy="192024"/>
          </a:xfrm>
          <a:prstGeom prst="rect">
            <a:avLst/>
          </a:prstGeom>
          <a:noFill/>
          <a:ln/>
        </p:spPr>
        <p:txBody>
          <a:bodyPr wrap="square" lIns="0" tIns="0" rIns="0" bIns="0" rtlCol="0" anchor="ctr">
            <a:normAutofit/>
          </a:bodyPr>
          <a:lstStyle/>
          <a:p>
            <a:pPr indent="0" marL="0">
              <a:buNone/>
            </a:pPr>
            <a:r>
              <a:rPr lang="en-US" sz="900" dirty="0">
                <a:solidFill>
                  <a:srgbClr val="526571"/>
                </a:solidFill>
                <a:latin typeface="Aptos" pitchFamily="34" charset="0"/>
                <a:ea typeface="Aptos" pitchFamily="34" charset="-122"/>
                <a:cs typeface="Aptos" pitchFamily="34" charset="-120"/>
              </a:rPr>
              <a:t>Uploaded NFL paper • Table 1 p.3; framework pp.4–6 • results/saved/03/</a:t>
            </a:r>
            <a:endParaRPr lang="en-US" sz="900" dirty="0"/>
          </a:p>
        </p:txBody>
      </p:sp>
      <p:sp>
        <p:nvSpPr>
          <p:cNvPr id="8" name="Text 6"/>
          <p:cNvSpPr/>
          <p:nvPr/>
        </p:nvSpPr>
        <p:spPr>
          <a:xfrm>
            <a:off x="11082528" y="6446520"/>
            <a:ext cx="548640" cy="228600"/>
          </a:xfrm>
          <a:prstGeom prst="rect">
            <a:avLst/>
          </a:prstGeom>
          <a:noFill/>
          <a:ln/>
        </p:spPr>
        <p:txBody>
          <a:bodyPr wrap="square" lIns="0" tIns="0" rIns="0" bIns="0" rtlCol="0" anchor="ctr">
            <a:normAutofit/>
          </a:bodyPr>
          <a:lstStyle/>
          <a:p>
            <a:pPr algn="r" indent="0" marL="0">
              <a:buNone/>
            </a:pPr>
            <a:r>
              <a:rPr lang="en-US" sz="1100" dirty="0">
                <a:solidFill>
                  <a:srgbClr val="526571"/>
                </a:solidFill>
                <a:latin typeface="Aptos" pitchFamily="34" charset="0"/>
                <a:ea typeface="Aptos" pitchFamily="34" charset="-122"/>
                <a:cs typeface="Aptos" pitchFamily="34" charset="-120"/>
              </a:rPr>
              <a:t>10</a:t>
            </a:r>
            <a:endParaRPr lang="en-US" sz="1100" dirty="0"/>
          </a:p>
        </p:txBody>
      </p:sp>
      <p:sp>
        <p:nvSpPr>
          <p:cNvPr id="10" name="Shape 7"/>
          <p:cNvSpPr/>
          <p:nvPr/>
        </p:nvSpPr>
        <p:spPr>
          <a:xfrm>
            <a:off x="548640" y="1874520"/>
            <a:ext cx="4206240" cy="1051560"/>
          </a:xfrm>
          <a:prstGeom prst="rect">
            <a:avLst/>
          </a:prstGeom>
          <a:solidFill>
            <a:srgbClr val="EFF5F6"/>
          </a:solidFill>
          <a:ln w="12700">
            <a:solidFill>
              <a:srgbClr val="EFF5F6"/>
            </a:solidFill>
            <a:prstDash val="solid"/>
          </a:ln>
        </p:spPr>
      </p:sp>
      <p:sp>
        <p:nvSpPr>
          <p:cNvPr id="11" name="Text 8"/>
          <p:cNvSpPr/>
          <p:nvPr/>
        </p:nvSpPr>
        <p:spPr>
          <a:xfrm>
            <a:off x="704088" y="1984248"/>
            <a:ext cx="3895344" cy="246888"/>
          </a:xfrm>
          <a:prstGeom prst="rect">
            <a:avLst/>
          </a:prstGeom>
          <a:noFill/>
          <a:ln/>
        </p:spPr>
        <p:txBody>
          <a:bodyPr wrap="square" lIns="0" tIns="0" rIns="0" bIns="0" rtlCol="0" anchor="ctr">
            <a:normAutofit/>
          </a:bodyPr>
          <a:lstStyle/>
          <a:p>
            <a:pPr indent="0" marL="0">
              <a:buNone/>
            </a:pPr>
            <a:r>
              <a:rPr lang="en-US" sz="1400" b="1" dirty="0">
                <a:solidFill>
                  <a:srgbClr val="11727B"/>
                </a:solidFill>
                <a:latin typeface="Aptos" pitchFamily="34" charset="0"/>
                <a:ea typeface="Aptos" pitchFamily="34" charset="-122"/>
                <a:cs typeface="Aptos" pitchFamily="34" charset="-120"/>
              </a:rPr>
              <a:t>KEY CHANGE</a:t>
            </a:r>
            <a:endParaRPr lang="en-US" sz="1400" dirty="0"/>
          </a:p>
        </p:txBody>
      </p:sp>
      <p:sp>
        <p:nvSpPr>
          <p:cNvPr id="12" name="Text 9"/>
          <p:cNvSpPr/>
          <p:nvPr/>
        </p:nvSpPr>
        <p:spPr>
          <a:xfrm>
            <a:off x="704088" y="2304288"/>
            <a:ext cx="3895344" cy="557784"/>
          </a:xfrm>
          <a:prstGeom prst="rect">
            <a:avLst/>
          </a:prstGeom>
          <a:noFill/>
          <a:ln/>
        </p:spPr>
        <p:txBody>
          <a:bodyPr wrap="square" lIns="0" tIns="0" rIns="0" bIns="0" rtlCol="0" anchor="ctr">
            <a:normAutofit/>
          </a:bodyPr>
          <a:lstStyle/>
          <a:p>
            <a:pPr indent="0" marL="0">
              <a:buNone/>
            </a:pPr>
            <a:r>
              <a:rPr lang="en-US" sz="1700" dirty="0">
                <a:solidFill>
                  <a:srgbClr val="162733"/>
                </a:solidFill>
                <a:latin typeface="Aptos" pitchFamily="34" charset="0"/>
                <a:ea typeface="Aptos" pitchFamily="34" charset="-122"/>
                <a:cs typeface="Aptos" pitchFamily="34" charset="-120"/>
              </a:rPr>
              <a:t>Original key → numerical flow → transformed key → learned index.</a:t>
            </a:r>
            <a:endParaRPr lang="en-US" sz="1700" dirty="0"/>
          </a:p>
        </p:txBody>
      </p:sp>
      <p:sp>
        <p:nvSpPr>
          <p:cNvPr id="13" name="Shape 10"/>
          <p:cNvSpPr/>
          <p:nvPr/>
        </p:nvSpPr>
        <p:spPr>
          <a:xfrm>
            <a:off x="548640" y="3072384"/>
            <a:ext cx="4206240" cy="1051560"/>
          </a:xfrm>
          <a:prstGeom prst="rect">
            <a:avLst/>
          </a:prstGeom>
          <a:solidFill>
            <a:srgbClr val="EFF5F6"/>
          </a:solidFill>
          <a:ln w="12700">
            <a:solidFill>
              <a:srgbClr val="EFF5F6"/>
            </a:solidFill>
            <a:prstDash val="solid"/>
          </a:ln>
        </p:spPr>
      </p:sp>
      <p:sp>
        <p:nvSpPr>
          <p:cNvPr id="14" name="Text 11"/>
          <p:cNvSpPr/>
          <p:nvPr/>
        </p:nvSpPr>
        <p:spPr>
          <a:xfrm>
            <a:off x="704088" y="3182112"/>
            <a:ext cx="3895344" cy="246888"/>
          </a:xfrm>
          <a:prstGeom prst="rect">
            <a:avLst/>
          </a:prstGeom>
          <a:noFill/>
          <a:ln/>
        </p:spPr>
        <p:txBody>
          <a:bodyPr wrap="square" lIns="0" tIns="0" rIns="0" bIns="0" rtlCol="0" anchor="ctr">
            <a:normAutofit/>
          </a:bodyPr>
          <a:lstStyle/>
          <a:p>
            <a:pPr indent="0" marL="0">
              <a:buNone/>
            </a:pPr>
            <a:r>
              <a:rPr lang="en-US" sz="1400" b="1" dirty="0">
                <a:solidFill>
                  <a:srgbClr val="11727B"/>
                </a:solidFill>
                <a:latin typeface="Aptos" pitchFamily="34" charset="0"/>
                <a:ea typeface="Aptos" pitchFamily="34" charset="-122"/>
                <a:cs typeface="Aptos" pitchFamily="34" charset="-120"/>
              </a:rPr>
              <a:t>REPORTED EXAMPLE</a:t>
            </a:r>
            <a:endParaRPr lang="en-US" sz="1400" dirty="0"/>
          </a:p>
        </p:txBody>
      </p:sp>
      <p:sp>
        <p:nvSpPr>
          <p:cNvPr id="15" name="Text 12"/>
          <p:cNvSpPr/>
          <p:nvPr/>
        </p:nvSpPr>
        <p:spPr>
          <a:xfrm>
            <a:off x="704088" y="3502152"/>
            <a:ext cx="3895344" cy="557784"/>
          </a:xfrm>
          <a:prstGeom prst="rect">
            <a:avLst/>
          </a:prstGeom>
          <a:noFill/>
          <a:ln/>
        </p:spPr>
        <p:txBody>
          <a:bodyPr wrap="square" lIns="0" tIns="0" rIns="0" bIns="0" rtlCol="0" anchor="ctr">
            <a:normAutofit/>
          </a:bodyPr>
          <a:lstStyle/>
          <a:p>
            <a:pPr indent="0" marL="0">
              <a:buNone/>
            </a:pPr>
            <a:r>
              <a:rPr lang="en-US" sz="1700" dirty="0">
                <a:solidFill>
                  <a:srgbClr val="162733"/>
                </a:solidFill>
                <a:latin typeface="Aptos" pitchFamily="34" charset="0"/>
                <a:ea typeface="Aptos" pitchFamily="34" charset="-122"/>
                <a:cs typeface="Aptos" pitchFamily="34" charset="-120"/>
              </a:rPr>
              <a:t>Facebook: max tree height 11 → 3. Throughput 4.13 → 9.16 Mops/s.</a:t>
            </a:r>
            <a:endParaRPr lang="en-US" sz="1700" dirty="0"/>
          </a:p>
        </p:txBody>
      </p:sp>
      <p:sp>
        <p:nvSpPr>
          <p:cNvPr id="16" name="Shape 13"/>
          <p:cNvSpPr/>
          <p:nvPr/>
        </p:nvSpPr>
        <p:spPr>
          <a:xfrm>
            <a:off x="548640" y="4270248"/>
            <a:ext cx="4206240" cy="1051560"/>
          </a:xfrm>
          <a:prstGeom prst="rect">
            <a:avLst/>
          </a:prstGeom>
          <a:solidFill>
            <a:srgbClr val="EFF5F6"/>
          </a:solidFill>
          <a:ln w="12700">
            <a:solidFill>
              <a:srgbClr val="EFF5F6"/>
            </a:solidFill>
            <a:prstDash val="solid"/>
          </a:ln>
        </p:spPr>
      </p:sp>
      <p:sp>
        <p:nvSpPr>
          <p:cNvPr id="17" name="Text 14"/>
          <p:cNvSpPr/>
          <p:nvPr/>
        </p:nvSpPr>
        <p:spPr>
          <a:xfrm>
            <a:off x="704088" y="4379976"/>
            <a:ext cx="3895344" cy="246888"/>
          </a:xfrm>
          <a:prstGeom prst="rect">
            <a:avLst/>
          </a:prstGeom>
          <a:noFill/>
          <a:ln/>
        </p:spPr>
        <p:txBody>
          <a:bodyPr wrap="square" lIns="0" tIns="0" rIns="0" bIns="0" rtlCol="0" anchor="ctr">
            <a:normAutofit/>
          </a:bodyPr>
          <a:lstStyle/>
          <a:p>
            <a:pPr indent="0" marL="0">
              <a:buNone/>
            </a:pPr>
            <a:r>
              <a:rPr lang="en-US" sz="1400" b="1" dirty="0">
                <a:solidFill>
                  <a:srgbClr val="11727B"/>
                </a:solidFill>
                <a:latin typeface="Aptos" pitchFamily="34" charset="0"/>
                <a:ea typeface="Aptos" pitchFamily="34" charset="-122"/>
                <a:cs typeface="Aptos" pitchFamily="34" charset="-120"/>
              </a:rPr>
              <a:t>NEXT QUESTION</a:t>
            </a:r>
            <a:endParaRPr lang="en-US" sz="1400" dirty="0"/>
          </a:p>
        </p:txBody>
      </p:sp>
      <p:sp>
        <p:nvSpPr>
          <p:cNvPr id="18" name="Text 15"/>
          <p:cNvSpPr/>
          <p:nvPr/>
        </p:nvSpPr>
        <p:spPr>
          <a:xfrm>
            <a:off x="704088" y="4700016"/>
            <a:ext cx="3895344" cy="557784"/>
          </a:xfrm>
          <a:prstGeom prst="rect">
            <a:avLst/>
          </a:prstGeom>
          <a:noFill/>
          <a:ln/>
        </p:spPr>
        <p:txBody>
          <a:bodyPr wrap="square" lIns="0" tIns="0" rIns="0" bIns="0" rtlCol="0" anchor="ctr">
            <a:normAutofit/>
          </a:bodyPr>
          <a:lstStyle/>
          <a:p>
            <a:pPr indent="0" marL="0">
              <a:buNone/>
            </a:pPr>
            <a:r>
              <a:rPr lang="en-US" sz="1700" dirty="0">
                <a:solidFill>
                  <a:srgbClr val="162733"/>
                </a:solidFill>
                <a:latin typeface="Aptos" pitchFamily="34" charset="0"/>
                <a:ea typeface="Aptos" pitchFamily="34" charset="-122"/>
                <a:cs typeface="Aptos" pitchFamily="34" charset="-120"/>
              </a:rPr>
              <a:t>Does the lower search cost repay the online transformation?</a:t>
            </a:r>
            <a:endParaRPr lang="en-US" sz="1700" dirty="0"/>
          </a:p>
        </p:txBody>
      </p:sp>
      <p:pic>
        <p:nvPicPr>
          <p:cNvPr id="19" name="Image 0" descr="/mnt/data/scaleli_sota/slides/figures/nfl.png">    </p:cNvPr>
          <p:cNvPicPr>
            <a:picLocks noChangeAspect="1"/>
          </p:cNvPicPr>
          <p:nvPr/>
        </p:nvPicPr>
        <p:blipFill>
          <a:blip r:embed="rId1"/>
          <a:stretch>
            <a:fillRect/>
          </a:stretch>
        </p:blipFill>
        <p:spPr>
          <a:xfrm>
            <a:off x="5029200" y="1947120"/>
            <a:ext cx="6537960" cy="357640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46888"/>
            <a:ext cx="10424160" cy="201168"/>
          </a:xfrm>
          <a:prstGeom prst="rect">
            <a:avLst/>
          </a:prstGeom>
          <a:noFill/>
          <a:ln/>
        </p:spPr>
        <p:txBody>
          <a:bodyPr wrap="square" lIns="0" tIns="0" rIns="0" bIns="0" rtlCol="0" anchor="ctr">
            <a:normAutofit/>
          </a:bodyPr>
          <a:lstStyle/>
          <a:p>
            <a:pPr indent="0" marL="0">
              <a:buNone/>
            </a:pPr>
            <a:r>
              <a:rPr lang="en-US" sz="1000" b="1" spc="110" kern="0" dirty="0">
                <a:solidFill>
                  <a:srgbClr val="11727B"/>
                </a:solidFill>
                <a:latin typeface="Aptos" pitchFamily="34" charset="0"/>
                <a:ea typeface="Aptos" pitchFamily="34" charset="-122"/>
                <a:cs typeface="Aptos" pitchFamily="34" charset="-120"/>
              </a:rPr>
              <a:t>PUBLISHED RESULT • NOT A LOCAL MEASUREMENT</a:t>
            </a:r>
            <a:endParaRPr lang="en-US" sz="1000" dirty="0"/>
          </a:p>
        </p:txBody>
      </p:sp>
      <p:sp>
        <p:nvSpPr>
          <p:cNvPr id="3" name="Text 1"/>
          <p:cNvSpPr/>
          <p:nvPr/>
        </p:nvSpPr>
        <p:spPr>
          <a:xfrm>
            <a:off x="548640" y="640080"/>
            <a:ext cx="11064240" cy="603504"/>
          </a:xfrm>
          <a:prstGeom prst="rect">
            <a:avLst/>
          </a:prstGeom>
          <a:noFill/>
          <a:ln/>
        </p:spPr>
        <p:txBody>
          <a:bodyPr wrap="square" lIns="0" tIns="0" rIns="0" bIns="0" rtlCol="0" anchor="ctr">
            <a:normAutofit/>
          </a:bodyPr>
          <a:lstStyle/>
          <a:p>
            <a:pPr indent="0" marL="0">
              <a:buNone/>
            </a:pPr>
            <a:r>
              <a:rPr lang="en-US" sz="3000" b="1" dirty="0">
                <a:solidFill>
                  <a:srgbClr val="162733"/>
                </a:solidFill>
                <a:latin typeface="Aptos Display" pitchFamily="34" charset="0"/>
                <a:ea typeface="Aptos Display" pitchFamily="34" charset="-122"/>
                <a:cs typeface="Aptos Display" pitchFamily="34" charset="-120"/>
              </a:rPr>
              <a:t>The cost of a transformation is part of the result</a:t>
            </a:r>
            <a:endParaRPr lang="en-US" sz="3000" dirty="0"/>
          </a:p>
        </p:txBody>
      </p:sp>
      <p:sp>
        <p:nvSpPr>
          <p:cNvPr id="4" name="Text 2"/>
          <p:cNvSpPr/>
          <p:nvPr/>
        </p:nvSpPr>
        <p:spPr>
          <a:xfrm>
            <a:off x="548640" y="1280160"/>
            <a:ext cx="11064240" cy="420624"/>
          </a:xfrm>
          <a:prstGeom prst="rect">
            <a:avLst/>
          </a:prstGeom>
          <a:noFill/>
          <a:ln/>
        </p:spPr>
        <p:txBody>
          <a:bodyPr wrap="square" lIns="0" tIns="0" rIns="0" bIns="0" rtlCol="0" anchor="ctr">
            <a:normAutofit/>
          </a:bodyPr>
          <a:lstStyle/>
          <a:p>
            <a:pPr indent="0" marL="0">
              <a:buNone/>
            </a:pPr>
            <a:r>
              <a:rPr lang="en-US" sz="1600" dirty="0">
                <a:solidFill>
                  <a:srgbClr val="526571"/>
                </a:solidFill>
                <a:latin typeface="Aptos" pitchFamily="34" charset="0"/>
                <a:ea typeface="Aptos" pitchFamily="34" charset="-122"/>
                <a:cs typeface="Aptos" pitchFamily="34" charset="-120"/>
              </a:rPr>
              <a:t>Batching changes the per-key economics; latency definitions also matter.</a:t>
            </a:r>
            <a:endParaRPr lang="en-US" sz="1600" dirty="0"/>
          </a:p>
        </p:txBody>
      </p:sp>
      <p:sp>
        <p:nvSpPr>
          <p:cNvPr id="5" name="Shape 3"/>
          <p:cNvSpPr/>
          <p:nvPr/>
        </p:nvSpPr>
        <p:spPr>
          <a:xfrm>
            <a:off x="548640" y="6364224"/>
            <a:ext cx="11064240" cy="0"/>
          </a:xfrm>
          <a:prstGeom prst="line">
            <a:avLst/>
          </a:prstGeom>
          <a:noFill/>
          <a:ln w="12700">
            <a:solidFill>
              <a:srgbClr val="D9E3E6"/>
            </a:solidFill>
            <a:prstDash val="solid"/>
          </a:ln>
        </p:spPr>
      </p:sp>
      <p:sp>
        <p:nvSpPr>
          <p:cNvPr id="6" name="Text 4"/>
          <p:cNvSpPr/>
          <p:nvPr/>
        </p:nvSpPr>
        <p:spPr>
          <a:xfrm>
            <a:off x="548640" y="5934456"/>
            <a:ext cx="10424160" cy="292608"/>
          </a:xfrm>
          <a:prstGeom prst="rect">
            <a:avLst/>
          </a:prstGeom>
          <a:noFill/>
          <a:ln/>
        </p:spPr>
        <p:txBody>
          <a:bodyPr wrap="square" lIns="0" tIns="0" rIns="0" bIns="0" rtlCol="0" anchor="ctr">
            <a:normAutofit/>
          </a:bodyPr>
          <a:lstStyle/>
          <a:p>
            <a:pPr indent="0" marL="0">
              <a:buNone/>
            </a:pPr>
            <a:r>
              <a:rPr lang="en-US" sz="1400" dirty="0">
                <a:solidFill>
                  <a:srgbClr val="11727B"/>
                </a:solidFill>
                <a:latin typeface="Aptos Mono" pitchFamily="34" charset="0"/>
                <a:ea typeface="Aptos Mono" pitchFamily="34" charset="-122"/>
                <a:cs typeface="Aptos Mono" pitchFamily="34" charset="-120"/>
              </a:rPr>
              <a:t>L03   python3 walkthrough.py demo 03</a:t>
            </a:r>
            <a:endParaRPr lang="en-US" sz="1400" dirty="0"/>
          </a:p>
        </p:txBody>
      </p:sp>
      <p:sp>
        <p:nvSpPr>
          <p:cNvPr id="7" name="Text 5"/>
          <p:cNvSpPr/>
          <p:nvPr/>
        </p:nvSpPr>
        <p:spPr>
          <a:xfrm>
            <a:off x="548640" y="6464808"/>
            <a:ext cx="10607040" cy="192024"/>
          </a:xfrm>
          <a:prstGeom prst="rect">
            <a:avLst/>
          </a:prstGeom>
          <a:noFill/>
          <a:ln/>
        </p:spPr>
        <p:txBody>
          <a:bodyPr wrap="square" lIns="0" tIns="0" rIns="0" bIns="0" rtlCol="0" anchor="ctr">
            <a:normAutofit/>
          </a:bodyPr>
          <a:lstStyle/>
          <a:p>
            <a:pPr indent="0" marL="0">
              <a:buNone/>
            </a:pPr>
            <a:r>
              <a:rPr lang="en-US" sz="900" dirty="0">
                <a:solidFill>
                  <a:srgbClr val="526571"/>
                </a:solidFill>
                <a:latin typeface="Aptos" pitchFamily="34" charset="0"/>
                <a:ea typeface="Aptos" pitchFamily="34" charset="-122"/>
                <a:cs typeface="Aptos" pitchFamily="34" charset="-120"/>
              </a:rPr>
              <a:t>NFL Table 2 p.6; §4.3 p.10; §4.2 discussion p.10</a:t>
            </a:r>
            <a:endParaRPr lang="en-US" sz="900" dirty="0"/>
          </a:p>
        </p:txBody>
      </p:sp>
      <p:sp>
        <p:nvSpPr>
          <p:cNvPr id="8" name="Text 6"/>
          <p:cNvSpPr/>
          <p:nvPr/>
        </p:nvSpPr>
        <p:spPr>
          <a:xfrm>
            <a:off x="11082528" y="6446520"/>
            <a:ext cx="548640" cy="228600"/>
          </a:xfrm>
          <a:prstGeom prst="rect">
            <a:avLst/>
          </a:prstGeom>
          <a:noFill/>
          <a:ln/>
        </p:spPr>
        <p:txBody>
          <a:bodyPr wrap="square" lIns="0" tIns="0" rIns="0" bIns="0" rtlCol="0" anchor="ctr">
            <a:normAutofit/>
          </a:bodyPr>
          <a:lstStyle/>
          <a:p>
            <a:pPr algn="r" indent="0" marL="0">
              <a:buNone/>
            </a:pPr>
            <a:r>
              <a:rPr lang="en-US" sz="1100" dirty="0">
                <a:solidFill>
                  <a:srgbClr val="526571"/>
                </a:solidFill>
                <a:latin typeface="Aptos" pitchFamily="34" charset="0"/>
                <a:ea typeface="Aptos" pitchFamily="34" charset="-122"/>
                <a:cs typeface="Aptos" pitchFamily="34" charset="-120"/>
              </a:rPr>
              <a:t>11</a:t>
            </a:r>
            <a:endParaRPr lang="en-US" sz="1100" dirty="0"/>
          </a:p>
        </p:txBody>
      </p:sp>
      <p:sp>
        <p:nvSpPr>
          <p:cNvPr id="10" name="Shape 7"/>
          <p:cNvSpPr/>
          <p:nvPr/>
        </p:nvSpPr>
        <p:spPr>
          <a:xfrm>
            <a:off x="548640" y="1874520"/>
            <a:ext cx="4206240" cy="1051560"/>
          </a:xfrm>
          <a:prstGeom prst="rect">
            <a:avLst/>
          </a:prstGeom>
          <a:solidFill>
            <a:srgbClr val="EFF5F6"/>
          </a:solidFill>
          <a:ln w="12700">
            <a:solidFill>
              <a:srgbClr val="EFF5F6"/>
            </a:solidFill>
            <a:prstDash val="solid"/>
          </a:ln>
        </p:spPr>
      </p:sp>
      <p:sp>
        <p:nvSpPr>
          <p:cNvPr id="11" name="Text 8"/>
          <p:cNvSpPr/>
          <p:nvPr/>
        </p:nvSpPr>
        <p:spPr>
          <a:xfrm>
            <a:off x="704088" y="1984248"/>
            <a:ext cx="3895344" cy="246888"/>
          </a:xfrm>
          <a:prstGeom prst="rect">
            <a:avLst/>
          </a:prstGeom>
          <a:noFill/>
          <a:ln/>
        </p:spPr>
        <p:txBody>
          <a:bodyPr wrap="square" lIns="0" tIns="0" rIns="0" bIns="0" rtlCol="0" anchor="ctr">
            <a:normAutofit/>
          </a:bodyPr>
          <a:lstStyle/>
          <a:p>
            <a:pPr indent="0" marL="0">
              <a:buNone/>
            </a:pPr>
            <a:r>
              <a:rPr lang="en-US" sz="1400" b="1" dirty="0">
                <a:solidFill>
                  <a:srgbClr val="11727B"/>
                </a:solidFill>
                <a:latin typeface="Aptos" pitchFamily="34" charset="0"/>
                <a:ea typeface="Aptos" pitchFamily="34" charset="-122"/>
                <a:cs typeface="Aptos" pitchFamily="34" charset="-120"/>
              </a:rPr>
              <a:t>SINGLE KEY</a:t>
            </a:r>
            <a:endParaRPr lang="en-US" sz="1400" dirty="0"/>
          </a:p>
        </p:txBody>
      </p:sp>
      <p:sp>
        <p:nvSpPr>
          <p:cNvPr id="12" name="Text 9"/>
          <p:cNvSpPr/>
          <p:nvPr/>
        </p:nvSpPr>
        <p:spPr>
          <a:xfrm>
            <a:off x="704088" y="2304288"/>
            <a:ext cx="3895344" cy="557784"/>
          </a:xfrm>
          <a:prstGeom prst="rect">
            <a:avLst/>
          </a:prstGeom>
          <a:noFill/>
          <a:ln/>
        </p:spPr>
        <p:txBody>
          <a:bodyPr wrap="square" lIns="0" tIns="0" rIns="0" bIns="0" rtlCol="0" anchor="ctr">
            <a:normAutofit/>
          </a:bodyPr>
          <a:lstStyle/>
          <a:p>
            <a:pPr indent="0" marL="0">
              <a:buNone/>
            </a:pPr>
            <a:r>
              <a:rPr lang="en-US" sz="1700" dirty="0">
                <a:solidFill>
                  <a:srgbClr val="162733"/>
                </a:solidFill>
                <a:latin typeface="Aptos" pitchFamily="34" charset="0"/>
                <a:ea typeface="Aptos" pitchFamily="34" charset="-122"/>
                <a:cs typeface="Aptos" pitchFamily="34" charset="-120"/>
              </a:rPr>
              <a:t>169.53 ns/key average transformation cost, reported for 2H2L.</a:t>
            </a:r>
            <a:endParaRPr lang="en-US" sz="1700" dirty="0"/>
          </a:p>
        </p:txBody>
      </p:sp>
      <p:sp>
        <p:nvSpPr>
          <p:cNvPr id="13" name="Shape 10"/>
          <p:cNvSpPr/>
          <p:nvPr/>
        </p:nvSpPr>
        <p:spPr>
          <a:xfrm>
            <a:off x="548640" y="3072384"/>
            <a:ext cx="4206240" cy="1051560"/>
          </a:xfrm>
          <a:prstGeom prst="rect">
            <a:avLst/>
          </a:prstGeom>
          <a:solidFill>
            <a:srgbClr val="EFF5F6"/>
          </a:solidFill>
          <a:ln w="12700">
            <a:solidFill>
              <a:srgbClr val="EFF5F6"/>
            </a:solidFill>
            <a:prstDash val="solid"/>
          </a:ln>
        </p:spPr>
      </p:sp>
      <p:sp>
        <p:nvSpPr>
          <p:cNvPr id="14" name="Text 11"/>
          <p:cNvSpPr/>
          <p:nvPr/>
        </p:nvSpPr>
        <p:spPr>
          <a:xfrm>
            <a:off x="704088" y="3182112"/>
            <a:ext cx="3895344" cy="246888"/>
          </a:xfrm>
          <a:prstGeom prst="rect">
            <a:avLst/>
          </a:prstGeom>
          <a:noFill/>
          <a:ln/>
        </p:spPr>
        <p:txBody>
          <a:bodyPr wrap="square" lIns="0" tIns="0" rIns="0" bIns="0" rtlCol="0" anchor="ctr">
            <a:normAutofit/>
          </a:bodyPr>
          <a:lstStyle/>
          <a:p>
            <a:pPr indent="0" marL="0">
              <a:buNone/>
            </a:pPr>
            <a:r>
              <a:rPr lang="en-US" sz="1400" b="1" dirty="0">
                <a:solidFill>
                  <a:srgbClr val="11727B"/>
                </a:solidFill>
                <a:latin typeface="Aptos" pitchFamily="34" charset="0"/>
                <a:ea typeface="Aptos" pitchFamily="34" charset="-122"/>
                <a:cs typeface="Aptos" pitchFamily="34" charset="-120"/>
              </a:rPr>
              <a:t>BATCH OF 256</a:t>
            </a:r>
            <a:endParaRPr lang="en-US" sz="1400" dirty="0"/>
          </a:p>
        </p:txBody>
      </p:sp>
      <p:sp>
        <p:nvSpPr>
          <p:cNvPr id="15" name="Text 12"/>
          <p:cNvSpPr/>
          <p:nvPr/>
        </p:nvSpPr>
        <p:spPr>
          <a:xfrm>
            <a:off x="704088" y="3502152"/>
            <a:ext cx="3895344" cy="557784"/>
          </a:xfrm>
          <a:prstGeom prst="rect">
            <a:avLst/>
          </a:prstGeom>
          <a:noFill/>
          <a:ln/>
        </p:spPr>
        <p:txBody>
          <a:bodyPr wrap="square" lIns="0" tIns="0" rIns="0" bIns="0" rtlCol="0" anchor="ctr">
            <a:normAutofit/>
          </a:bodyPr>
          <a:lstStyle/>
          <a:p>
            <a:pPr indent="0" marL="0">
              <a:buNone/>
            </a:pPr>
            <a:r>
              <a:rPr lang="en-US" sz="1700" dirty="0">
                <a:solidFill>
                  <a:srgbClr val="162733"/>
                </a:solidFill>
                <a:latin typeface="Aptos" pitchFamily="34" charset="0"/>
                <a:ea typeface="Aptos" pitchFamily="34" charset="-122"/>
                <a:cs typeface="Aptos" pitchFamily="34" charset="-120"/>
              </a:rPr>
              <a:t>8.38 ns/key average, in that same table.</a:t>
            </a:r>
            <a:endParaRPr lang="en-US" sz="1700" dirty="0"/>
          </a:p>
        </p:txBody>
      </p:sp>
      <p:sp>
        <p:nvSpPr>
          <p:cNvPr id="16" name="Shape 13"/>
          <p:cNvSpPr/>
          <p:nvPr/>
        </p:nvSpPr>
        <p:spPr>
          <a:xfrm>
            <a:off x="548640" y="4270248"/>
            <a:ext cx="4206240" cy="1051560"/>
          </a:xfrm>
          <a:prstGeom prst="rect">
            <a:avLst/>
          </a:prstGeom>
          <a:solidFill>
            <a:srgbClr val="EFF5F6"/>
          </a:solidFill>
          <a:ln w="12700">
            <a:solidFill>
              <a:srgbClr val="EFF5F6"/>
            </a:solidFill>
            <a:prstDash val="solid"/>
          </a:ln>
        </p:spPr>
      </p:sp>
      <p:sp>
        <p:nvSpPr>
          <p:cNvPr id="17" name="Text 14"/>
          <p:cNvSpPr/>
          <p:nvPr/>
        </p:nvSpPr>
        <p:spPr>
          <a:xfrm>
            <a:off x="704088" y="4379976"/>
            <a:ext cx="3895344" cy="246888"/>
          </a:xfrm>
          <a:prstGeom prst="rect">
            <a:avLst/>
          </a:prstGeom>
          <a:noFill/>
          <a:ln/>
        </p:spPr>
        <p:txBody>
          <a:bodyPr wrap="square" lIns="0" tIns="0" rIns="0" bIns="0" rtlCol="0" anchor="ctr">
            <a:normAutofit/>
          </a:bodyPr>
          <a:lstStyle/>
          <a:p>
            <a:pPr indent="0" marL="0">
              <a:buNone/>
            </a:pPr>
            <a:r>
              <a:rPr lang="en-US" sz="1400" b="1" dirty="0">
                <a:solidFill>
                  <a:srgbClr val="11727B"/>
                </a:solidFill>
                <a:latin typeface="Aptos" pitchFamily="34" charset="0"/>
                <a:ea typeface="Aptos" pitchFamily="34" charset="-122"/>
                <a:cs typeface="Aptos" pitchFamily="34" charset="-120"/>
              </a:rPr>
              <a:t>DO NOT CONFLATE</a:t>
            </a:r>
            <a:endParaRPr lang="en-US" sz="1400" dirty="0"/>
          </a:p>
        </p:txBody>
      </p:sp>
      <p:sp>
        <p:nvSpPr>
          <p:cNvPr id="18" name="Text 15"/>
          <p:cNvSpPr/>
          <p:nvPr/>
        </p:nvSpPr>
        <p:spPr>
          <a:xfrm>
            <a:off x="704088" y="4700016"/>
            <a:ext cx="3895344" cy="557784"/>
          </a:xfrm>
          <a:prstGeom prst="rect">
            <a:avLst/>
          </a:prstGeom>
          <a:noFill/>
          <a:ln/>
        </p:spPr>
        <p:txBody>
          <a:bodyPr wrap="square" lIns="0" tIns="0" rIns="0" bIns="0" rtlCol="0" anchor="ctr">
            <a:normAutofit/>
          </a:bodyPr>
          <a:lstStyle/>
          <a:p>
            <a:pPr indent="0" marL="0">
              <a:buNone/>
            </a:pPr>
            <a:r>
              <a:rPr lang="en-US" sz="1700" dirty="0">
                <a:solidFill>
                  <a:srgbClr val="162733"/>
                </a:solidFill>
                <a:latin typeface="Aptos" pitchFamily="34" charset="0"/>
                <a:ea typeface="Aptos" pitchFamily="34" charset="-122"/>
                <a:cs typeface="Aptos" pitchFamily="34" charset="-120"/>
              </a:rPr>
              <a:t>Batch-normalized P99 is not the P99 of individual request latency.</a:t>
            </a:r>
            <a:endParaRPr lang="en-US" sz="1700" dirty="0"/>
          </a:p>
        </p:txBody>
      </p:sp>
      <p:pic>
        <p:nvPicPr>
          <p:cNvPr id="19" name="Image 0" descr="/mnt/data/scaleli_sota/slides/figures/batching.png">    </p:cNvPr>
          <p:cNvPicPr>
            <a:picLocks noChangeAspect="1"/>
          </p:cNvPicPr>
          <p:nvPr/>
        </p:nvPicPr>
        <p:blipFill>
          <a:blip r:embed="rId1"/>
          <a:stretch>
            <a:fillRect/>
          </a:stretch>
        </p:blipFill>
        <p:spPr>
          <a:xfrm>
            <a:off x="5029200" y="1962492"/>
            <a:ext cx="6537960" cy="354566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46888"/>
            <a:ext cx="10424160" cy="201168"/>
          </a:xfrm>
          <a:prstGeom prst="rect">
            <a:avLst/>
          </a:prstGeom>
          <a:noFill/>
          <a:ln/>
        </p:spPr>
        <p:txBody>
          <a:bodyPr wrap="square" lIns="0" tIns="0" rIns="0" bIns="0" rtlCol="0" anchor="ctr">
            <a:normAutofit/>
          </a:bodyPr>
          <a:lstStyle/>
          <a:p>
            <a:pPr indent="0" marL="0">
              <a:buNone/>
            </a:pPr>
            <a:r>
              <a:rPr lang="en-US" sz="1000" b="1" spc="110" kern="0" dirty="0">
                <a:solidFill>
                  <a:srgbClr val="11727B"/>
                </a:solidFill>
                <a:latin typeface="Aptos" pitchFamily="34" charset="0"/>
                <a:ea typeface="Aptos" pitchFamily="34" charset="-122"/>
                <a:cs typeface="Aptos" pitchFamily="34" charset="-120"/>
              </a:rPr>
              <a:t>LITERATURE • NOT LOCALLY REPRODUCED</a:t>
            </a:r>
            <a:endParaRPr lang="en-US" sz="1000" dirty="0"/>
          </a:p>
        </p:txBody>
      </p:sp>
      <p:sp>
        <p:nvSpPr>
          <p:cNvPr id="3" name="Text 1"/>
          <p:cNvSpPr/>
          <p:nvPr/>
        </p:nvSpPr>
        <p:spPr>
          <a:xfrm>
            <a:off x="548640" y="640080"/>
            <a:ext cx="11064240" cy="603504"/>
          </a:xfrm>
          <a:prstGeom prst="rect">
            <a:avLst/>
          </a:prstGeom>
          <a:noFill/>
          <a:ln/>
        </p:spPr>
        <p:txBody>
          <a:bodyPr wrap="square" lIns="0" tIns="0" rIns="0" bIns="0" rtlCol="0" anchor="ctr">
            <a:normAutofit/>
          </a:bodyPr>
          <a:lstStyle/>
          <a:p>
            <a:pPr indent="0" marL="0">
              <a:buNone/>
            </a:pPr>
            <a:r>
              <a:rPr lang="en-US" sz="3000" b="1" dirty="0">
                <a:solidFill>
                  <a:srgbClr val="162733"/>
                </a:solidFill>
                <a:latin typeface="Aptos Display" pitchFamily="34" charset="0"/>
                <a:ea typeface="Aptos Display" pitchFamily="34" charset="-122"/>
                <a:cs typeface="Aptos Display" pitchFamily="34" charset="-120"/>
              </a:rPr>
              <a:t>2021–24 · compress without losing efficient access</a:t>
            </a:r>
            <a:endParaRPr lang="en-US" sz="3000" dirty="0"/>
          </a:p>
        </p:txBody>
      </p:sp>
      <p:sp>
        <p:nvSpPr>
          <p:cNvPr id="4" name="Text 2"/>
          <p:cNvSpPr/>
          <p:nvPr/>
        </p:nvSpPr>
        <p:spPr>
          <a:xfrm>
            <a:off x="548640" y="1280160"/>
            <a:ext cx="11064240" cy="420624"/>
          </a:xfrm>
          <a:prstGeom prst="rect">
            <a:avLst/>
          </a:prstGeom>
          <a:noFill/>
          <a:ln/>
        </p:spPr>
        <p:txBody>
          <a:bodyPr wrap="square" lIns="0" tIns="0" rIns="0" bIns="0" rtlCol="0" anchor="ctr">
            <a:normAutofit/>
          </a:bodyPr>
          <a:lstStyle/>
          <a:p>
            <a:pPr indent="0" marL="0">
              <a:buNone/>
            </a:pPr>
            <a:r>
              <a:rPr lang="en-US" sz="1600" dirty="0">
                <a:solidFill>
                  <a:srgbClr val="526571"/>
                </a:solidFill>
                <a:latin typeface="Aptos" pitchFamily="34" charset="0"/>
                <a:ea typeface="Aptos" pitchFamily="34" charset="-122"/>
                <a:cs typeface="Aptos" pitchFamily="34" charset="-120"/>
              </a:rPr>
              <a:t>A parallel line of work: LA-vector and LeCo.</a:t>
            </a:r>
            <a:endParaRPr lang="en-US" sz="1600" dirty="0"/>
          </a:p>
        </p:txBody>
      </p:sp>
      <p:sp>
        <p:nvSpPr>
          <p:cNvPr id="5" name="Shape 3"/>
          <p:cNvSpPr/>
          <p:nvPr/>
        </p:nvSpPr>
        <p:spPr>
          <a:xfrm>
            <a:off x="548640" y="6364224"/>
            <a:ext cx="11064240" cy="0"/>
          </a:xfrm>
          <a:prstGeom prst="line">
            <a:avLst/>
          </a:prstGeom>
          <a:noFill/>
          <a:ln w="12700">
            <a:solidFill>
              <a:srgbClr val="D9E3E6"/>
            </a:solidFill>
            <a:prstDash val="solid"/>
          </a:ln>
        </p:spPr>
      </p:sp>
      <p:sp>
        <p:nvSpPr>
          <p:cNvPr id="6" name="Text 4"/>
          <p:cNvSpPr/>
          <p:nvPr/>
        </p:nvSpPr>
        <p:spPr>
          <a:xfrm>
            <a:off x="548640" y="6464808"/>
            <a:ext cx="10607040" cy="192024"/>
          </a:xfrm>
          <a:prstGeom prst="rect">
            <a:avLst/>
          </a:prstGeom>
          <a:noFill/>
          <a:ln/>
        </p:spPr>
        <p:txBody>
          <a:bodyPr wrap="square" lIns="0" tIns="0" rIns="0" bIns="0" rtlCol="0" anchor="ctr">
            <a:normAutofit/>
          </a:bodyPr>
          <a:lstStyle/>
          <a:p>
            <a:pPr indent="0" marL="0">
              <a:buNone/>
            </a:pPr>
            <a:r>
              <a:rPr lang="en-US" sz="900" dirty="0">
                <a:solidFill>
                  <a:srgbClr val="526571"/>
                </a:solidFill>
                <a:latin typeface="Aptos" pitchFamily="34" charset="0"/>
                <a:ea typeface="Aptos" pitchFamily="34" charset="-122"/>
                <a:cs typeface="Aptos" pitchFamily="34" charset="-120"/>
              </a:rPr>
              <a:t>Boffa et al., ALENEX 2021 • Liu et al., LeCo, SIGMOD 2024, §5.2</a:t>
            </a:r>
            <a:endParaRPr lang="en-US" sz="900" dirty="0"/>
          </a:p>
        </p:txBody>
      </p:sp>
      <p:sp>
        <p:nvSpPr>
          <p:cNvPr id="7" name="Text 5"/>
          <p:cNvSpPr/>
          <p:nvPr/>
        </p:nvSpPr>
        <p:spPr>
          <a:xfrm>
            <a:off x="11082528" y="6446520"/>
            <a:ext cx="548640" cy="228600"/>
          </a:xfrm>
          <a:prstGeom prst="rect">
            <a:avLst/>
          </a:prstGeom>
          <a:noFill/>
          <a:ln/>
        </p:spPr>
        <p:txBody>
          <a:bodyPr wrap="square" lIns="0" tIns="0" rIns="0" bIns="0" rtlCol="0" anchor="ctr">
            <a:normAutofit/>
          </a:bodyPr>
          <a:lstStyle/>
          <a:p>
            <a:pPr algn="r" indent="0" marL="0">
              <a:buNone/>
            </a:pPr>
            <a:r>
              <a:rPr lang="en-US" sz="1100" dirty="0">
                <a:solidFill>
                  <a:srgbClr val="526571"/>
                </a:solidFill>
                <a:latin typeface="Aptos" pitchFamily="34" charset="0"/>
                <a:ea typeface="Aptos" pitchFamily="34" charset="-122"/>
                <a:cs typeface="Aptos" pitchFamily="34" charset="-120"/>
              </a:rPr>
              <a:t>12</a:t>
            </a:r>
            <a:endParaRPr lang="en-US" sz="1100" dirty="0"/>
          </a:p>
        </p:txBody>
      </p:sp>
      <p:sp>
        <p:nvSpPr>
          <p:cNvPr id="9" name="Shape 6"/>
          <p:cNvSpPr/>
          <p:nvPr/>
        </p:nvSpPr>
        <p:spPr>
          <a:xfrm>
            <a:off x="548640" y="2011680"/>
            <a:ext cx="3529584" cy="2331720"/>
          </a:xfrm>
          <a:prstGeom prst="rect">
            <a:avLst/>
          </a:prstGeom>
          <a:solidFill>
            <a:srgbClr val="EFF5F6"/>
          </a:solidFill>
          <a:ln w="12700">
            <a:solidFill>
              <a:srgbClr val="EFF5F6"/>
            </a:solidFill>
            <a:prstDash val="solid"/>
          </a:ln>
        </p:spPr>
      </p:sp>
      <p:sp>
        <p:nvSpPr>
          <p:cNvPr id="10" name="Text 7"/>
          <p:cNvSpPr/>
          <p:nvPr/>
        </p:nvSpPr>
        <p:spPr>
          <a:xfrm>
            <a:off x="704088" y="2121408"/>
            <a:ext cx="3218688" cy="246888"/>
          </a:xfrm>
          <a:prstGeom prst="rect">
            <a:avLst/>
          </a:prstGeom>
          <a:noFill/>
          <a:ln/>
        </p:spPr>
        <p:txBody>
          <a:bodyPr wrap="square" lIns="0" tIns="0" rIns="0" bIns="0" rtlCol="0" anchor="ctr">
            <a:normAutofit/>
          </a:bodyPr>
          <a:lstStyle/>
          <a:p>
            <a:pPr indent="0" marL="0">
              <a:buNone/>
            </a:pPr>
            <a:r>
              <a:rPr lang="en-US" sz="1400" b="1" dirty="0">
                <a:solidFill>
                  <a:srgbClr val="11727B"/>
                </a:solidFill>
                <a:latin typeface="Aptos" pitchFamily="34" charset="0"/>
                <a:ea typeface="Aptos" pitchFamily="34" charset="-122"/>
                <a:cs typeface="Aptos" pitchFamily="34" charset="-120"/>
              </a:rPr>
              <a:t>LA-VECTOR</a:t>
            </a:r>
            <a:endParaRPr lang="en-US" sz="1400" dirty="0"/>
          </a:p>
        </p:txBody>
      </p:sp>
      <p:sp>
        <p:nvSpPr>
          <p:cNvPr id="11" name="Text 8"/>
          <p:cNvSpPr/>
          <p:nvPr/>
        </p:nvSpPr>
        <p:spPr>
          <a:xfrm>
            <a:off x="704088" y="2441448"/>
            <a:ext cx="3218688" cy="1837944"/>
          </a:xfrm>
          <a:prstGeom prst="rect">
            <a:avLst/>
          </a:prstGeom>
          <a:noFill/>
          <a:ln/>
        </p:spPr>
        <p:txBody>
          <a:bodyPr wrap="square" lIns="0" tIns="0" rIns="0" bIns="0" rtlCol="0" anchor="ctr">
            <a:normAutofit/>
          </a:bodyPr>
          <a:lstStyle/>
          <a:p>
            <a:pPr indent="0" marL="0">
              <a:buNone/>
            </a:pPr>
            <a:r>
              <a:rPr lang="en-US" sz="1700" dirty="0">
                <a:solidFill>
                  <a:srgbClr val="162733"/>
                </a:solidFill>
                <a:latin typeface="Aptos" pitchFamily="34" charset="0"/>
                <a:ea typeface="Aptos" pitchFamily="34" charset="-122"/>
                <a:cs typeface="Aptos" pitchFamily="34" charset="-120"/>
              </a:rPr>
              <a:t>A learned compressed representation with exact rank/select operations.</a:t>
            </a:r>
            <a:endParaRPr lang="en-US" sz="1700" dirty="0"/>
          </a:p>
        </p:txBody>
      </p:sp>
      <p:sp>
        <p:nvSpPr>
          <p:cNvPr id="12" name="Shape 9"/>
          <p:cNvSpPr/>
          <p:nvPr/>
        </p:nvSpPr>
        <p:spPr>
          <a:xfrm>
            <a:off x="4334256" y="2011680"/>
            <a:ext cx="3529584" cy="2331720"/>
          </a:xfrm>
          <a:prstGeom prst="rect">
            <a:avLst/>
          </a:prstGeom>
          <a:solidFill>
            <a:srgbClr val="EFF5F6"/>
          </a:solidFill>
          <a:ln w="12700">
            <a:solidFill>
              <a:srgbClr val="EFF5F6"/>
            </a:solidFill>
            <a:prstDash val="solid"/>
          </a:ln>
        </p:spPr>
      </p:sp>
      <p:sp>
        <p:nvSpPr>
          <p:cNvPr id="13" name="Text 10"/>
          <p:cNvSpPr/>
          <p:nvPr/>
        </p:nvSpPr>
        <p:spPr>
          <a:xfrm>
            <a:off x="4489704" y="2121408"/>
            <a:ext cx="3218688" cy="246888"/>
          </a:xfrm>
          <a:prstGeom prst="rect">
            <a:avLst/>
          </a:prstGeom>
          <a:noFill/>
          <a:ln/>
        </p:spPr>
        <p:txBody>
          <a:bodyPr wrap="square" lIns="0" tIns="0" rIns="0" bIns="0" rtlCol="0" anchor="ctr">
            <a:normAutofit/>
          </a:bodyPr>
          <a:lstStyle/>
          <a:p>
            <a:pPr indent="0" marL="0">
              <a:buNone/>
            </a:pPr>
            <a:r>
              <a:rPr lang="en-US" sz="1400" b="1" dirty="0">
                <a:solidFill>
                  <a:srgbClr val="11727B"/>
                </a:solidFill>
                <a:latin typeface="Aptos" pitchFamily="34" charset="0"/>
                <a:ea typeface="Aptos" pitchFamily="34" charset="-122"/>
                <a:cs typeface="Aptos" pitchFamily="34" charset="-120"/>
              </a:rPr>
              <a:t>LECO</a:t>
            </a:r>
            <a:endParaRPr lang="en-US" sz="1400" dirty="0"/>
          </a:p>
        </p:txBody>
      </p:sp>
      <p:sp>
        <p:nvSpPr>
          <p:cNvPr id="14" name="Text 11"/>
          <p:cNvSpPr/>
          <p:nvPr/>
        </p:nvSpPr>
        <p:spPr>
          <a:xfrm>
            <a:off x="4489704" y="2441448"/>
            <a:ext cx="3218688" cy="1837944"/>
          </a:xfrm>
          <a:prstGeom prst="rect">
            <a:avLst/>
          </a:prstGeom>
          <a:noFill/>
          <a:ln/>
        </p:spPr>
        <p:txBody>
          <a:bodyPr wrap="square" lIns="0" tIns="0" rIns="0" bIns="0" rtlCol="0" anchor="ctr">
            <a:normAutofit/>
          </a:bodyPr>
          <a:lstStyle/>
          <a:p>
            <a:pPr indent="0" marL="0">
              <a:buNone/>
            </a:pPr>
            <a:r>
              <a:rPr lang="en-US" sz="1700" dirty="0">
                <a:solidFill>
                  <a:srgbClr val="162733"/>
                </a:solidFill>
                <a:latin typeface="Aptos" pitchFamily="34" charset="0"/>
                <a:ea typeface="Aptos" pitchFamily="34" charset="-122"/>
                <a:cs typeface="Aptos" pitchFamily="34" charset="-120"/>
              </a:rPr>
              <a:t>Model position → value, then store exact residuals and partition metadata.</a:t>
            </a:r>
            <a:endParaRPr lang="en-US" sz="1700" dirty="0"/>
          </a:p>
        </p:txBody>
      </p:sp>
      <p:sp>
        <p:nvSpPr>
          <p:cNvPr id="15" name="Shape 12"/>
          <p:cNvSpPr/>
          <p:nvPr/>
        </p:nvSpPr>
        <p:spPr>
          <a:xfrm>
            <a:off x="8119872" y="2011680"/>
            <a:ext cx="3529584" cy="2331720"/>
          </a:xfrm>
          <a:prstGeom prst="rect">
            <a:avLst/>
          </a:prstGeom>
          <a:solidFill>
            <a:srgbClr val="EFF5F6"/>
          </a:solidFill>
          <a:ln w="12700">
            <a:solidFill>
              <a:srgbClr val="EFF5F6"/>
            </a:solidFill>
            <a:prstDash val="solid"/>
          </a:ln>
        </p:spPr>
      </p:sp>
      <p:sp>
        <p:nvSpPr>
          <p:cNvPr id="16" name="Text 13"/>
          <p:cNvSpPr/>
          <p:nvPr/>
        </p:nvSpPr>
        <p:spPr>
          <a:xfrm>
            <a:off x="8275320" y="2121408"/>
            <a:ext cx="3218688" cy="246888"/>
          </a:xfrm>
          <a:prstGeom prst="rect">
            <a:avLst/>
          </a:prstGeom>
          <a:noFill/>
          <a:ln/>
        </p:spPr>
        <p:txBody>
          <a:bodyPr wrap="square" lIns="0" tIns="0" rIns="0" bIns="0" rtlCol="0" anchor="ctr">
            <a:normAutofit/>
          </a:bodyPr>
          <a:lstStyle/>
          <a:p>
            <a:pPr indent="0" marL="0">
              <a:buNone/>
            </a:pPr>
            <a:r>
              <a:rPr lang="en-US" sz="1400" b="1" dirty="0">
                <a:solidFill>
                  <a:srgbClr val="11727B"/>
                </a:solidFill>
                <a:latin typeface="Aptos" pitchFamily="34" charset="0"/>
                <a:ea typeface="Aptos" pitchFamily="34" charset="-122"/>
                <a:cs typeface="Aptos" pitchFamily="34" charset="-120"/>
              </a:rPr>
              <a:t>PUBLISHED SYSTEM RESULT</a:t>
            </a:r>
            <a:endParaRPr lang="en-US" sz="1400" dirty="0"/>
          </a:p>
        </p:txBody>
      </p:sp>
      <p:sp>
        <p:nvSpPr>
          <p:cNvPr id="17" name="Text 14"/>
          <p:cNvSpPr/>
          <p:nvPr/>
        </p:nvSpPr>
        <p:spPr>
          <a:xfrm>
            <a:off x="8275320" y="2441448"/>
            <a:ext cx="3218688" cy="1837944"/>
          </a:xfrm>
          <a:prstGeom prst="rect">
            <a:avLst/>
          </a:prstGeom>
          <a:noFill/>
          <a:ln/>
        </p:spPr>
        <p:txBody>
          <a:bodyPr wrap="square" lIns="0" tIns="0" rIns="0" bIns="0" rtlCol="0" anchor="ctr">
            <a:normAutofit/>
          </a:bodyPr>
          <a:lstStyle/>
          <a:p>
            <a:pPr indent="0" marL="0">
              <a:buNone/>
            </a:pPr>
            <a:r>
              <a:rPr lang="en-US" sz="1700" dirty="0">
                <a:solidFill>
                  <a:srgbClr val="162733"/>
                </a:solidFill>
                <a:latin typeface="Aptos" pitchFamily="34" charset="0"/>
                <a:ea typeface="Aptos" pitchFamily="34" charset="-122"/>
                <a:cs typeface="Aptos" pitchFamily="34" charset="-120"/>
              </a:rPr>
              <a:t>LeCo reports up to 16% higher Seek throughput in its RocksDB setup.</a:t>
            </a:r>
            <a:endParaRPr lang="en-US" sz="1700" dirty="0"/>
          </a:p>
        </p:txBody>
      </p:sp>
      <p:sp>
        <p:nvSpPr>
          <p:cNvPr id="18" name="Text 15"/>
          <p:cNvSpPr/>
          <p:nvPr/>
        </p:nvSpPr>
        <p:spPr>
          <a:xfrm>
            <a:off x="594360" y="4892040"/>
            <a:ext cx="10789920" cy="685800"/>
          </a:xfrm>
          <a:prstGeom prst="rect">
            <a:avLst/>
          </a:prstGeom>
          <a:noFill/>
          <a:ln/>
        </p:spPr>
        <p:txBody>
          <a:bodyPr wrap="square" lIns="0" tIns="0" rIns="0" bIns="0" rtlCol="0" anchor="ctr">
            <a:normAutofit/>
          </a:bodyPr>
          <a:lstStyle/>
          <a:p>
            <a:pPr indent="0" marL="0">
              <a:buNone/>
            </a:pPr>
            <a:r>
              <a:rPr lang="en-US" sz="2000" dirty="0">
                <a:solidFill>
                  <a:srgbClr val="526571"/>
                </a:solidFill>
                <a:latin typeface="Aptos" pitchFamily="34" charset="0"/>
                <a:ea typeface="Aptos" pitchFamily="34" charset="-122"/>
                <a:cs typeface="Aptos" pitchFamily="34" charset="-120"/>
              </a:rPr>
              <a:t>That experiment uses 900M generated records and 64 threads — not our workload.</a:t>
            </a:r>
            <a:endParaRPr 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46888"/>
            <a:ext cx="10424160" cy="201168"/>
          </a:xfrm>
          <a:prstGeom prst="rect">
            <a:avLst/>
          </a:prstGeom>
          <a:noFill/>
          <a:ln/>
        </p:spPr>
        <p:txBody>
          <a:bodyPr wrap="square" lIns="0" tIns="0" rIns="0" bIns="0" rtlCol="0" anchor="ctr">
            <a:normAutofit/>
          </a:bodyPr>
          <a:lstStyle/>
          <a:p>
            <a:pPr indent="0" marL="0">
              <a:buNone/>
            </a:pPr>
            <a:r>
              <a:rPr lang="en-US" sz="1000" b="1" spc="110" kern="0" dirty="0">
                <a:solidFill>
                  <a:srgbClr val="11727B"/>
                </a:solidFill>
                <a:latin typeface="Aptos" pitchFamily="34" charset="0"/>
                <a:ea typeface="Aptos" pitchFamily="34" charset="-122"/>
                <a:cs typeface="Aptos" pitchFamily="34" charset="-120"/>
              </a:rPr>
              <a:t>LOCAL EXPERIMENTAL MAP • NOT LECO</a:t>
            </a:r>
            <a:endParaRPr lang="en-US" sz="1000" dirty="0"/>
          </a:p>
        </p:txBody>
      </p:sp>
      <p:sp>
        <p:nvSpPr>
          <p:cNvPr id="3" name="Text 1"/>
          <p:cNvSpPr/>
          <p:nvPr/>
        </p:nvSpPr>
        <p:spPr>
          <a:xfrm>
            <a:off x="548640" y="640080"/>
            <a:ext cx="11064240" cy="603504"/>
          </a:xfrm>
          <a:prstGeom prst="rect">
            <a:avLst/>
          </a:prstGeom>
          <a:noFill/>
          <a:ln/>
        </p:spPr>
        <p:txBody>
          <a:bodyPr wrap="square" lIns="0" tIns="0" rIns="0" bIns="0" rtlCol="0" anchor="ctr">
            <a:normAutofit/>
          </a:bodyPr>
          <a:lstStyle/>
          <a:p>
            <a:pPr indent="0" marL="0">
              <a:buNone/>
            </a:pPr>
            <a:r>
              <a:rPr lang="en-US" sz="3000" b="1" dirty="0">
                <a:solidFill>
                  <a:srgbClr val="162733"/>
                </a:solidFill>
                <a:latin typeface="Aptos Display" pitchFamily="34" charset="0"/>
                <a:ea typeface="Aptos Display" pitchFamily="34" charset="-122"/>
                <a:cs typeface="Aptos Display" pitchFamily="34" charset="-120"/>
              </a:rPr>
              <a:t>Run a control: compression can save space yet slow reads</a:t>
            </a:r>
            <a:endParaRPr lang="en-US" sz="3000" dirty="0"/>
          </a:p>
        </p:txBody>
      </p:sp>
      <p:sp>
        <p:nvSpPr>
          <p:cNvPr id="4" name="Text 2"/>
          <p:cNvSpPr/>
          <p:nvPr/>
        </p:nvSpPr>
        <p:spPr>
          <a:xfrm>
            <a:off x="548640" y="1280160"/>
            <a:ext cx="11064240" cy="420624"/>
          </a:xfrm>
          <a:prstGeom prst="rect">
            <a:avLst/>
          </a:prstGeom>
          <a:noFill/>
          <a:ln/>
        </p:spPr>
        <p:txBody>
          <a:bodyPr wrap="square" lIns="0" tIns="0" rIns="0" bIns="0" rtlCol="0" anchor="ctr">
            <a:normAutofit/>
          </a:bodyPr>
          <a:lstStyle/>
          <a:p>
            <a:pPr indent="0" marL="0">
              <a:buNone/>
            </a:pPr>
            <a:r>
              <a:rPr lang="en-US" sz="1600" dirty="0">
                <a:solidFill>
                  <a:srgbClr val="526571"/>
                </a:solidFill>
                <a:latin typeface="Aptos" pitchFamily="34" charset="0"/>
                <a:ea typeface="Aptos" pitchFamily="34" charset="-122"/>
                <a:cs typeface="Aptos" pitchFamily="34" charset="-120"/>
              </a:rPr>
              <a:t>Hold keys, block boundaries, query traces and exact map semantics fixed.</a:t>
            </a:r>
            <a:endParaRPr lang="en-US" sz="1600" dirty="0"/>
          </a:p>
        </p:txBody>
      </p:sp>
      <p:sp>
        <p:nvSpPr>
          <p:cNvPr id="5" name="Shape 3"/>
          <p:cNvSpPr/>
          <p:nvPr/>
        </p:nvSpPr>
        <p:spPr>
          <a:xfrm>
            <a:off x="548640" y="6364224"/>
            <a:ext cx="11064240" cy="0"/>
          </a:xfrm>
          <a:prstGeom prst="line">
            <a:avLst/>
          </a:prstGeom>
          <a:noFill/>
          <a:ln w="12700">
            <a:solidFill>
              <a:srgbClr val="D9E3E6"/>
            </a:solidFill>
            <a:prstDash val="solid"/>
          </a:ln>
        </p:spPr>
      </p:sp>
      <p:sp>
        <p:nvSpPr>
          <p:cNvPr id="6" name="Text 4"/>
          <p:cNvSpPr/>
          <p:nvPr/>
        </p:nvSpPr>
        <p:spPr>
          <a:xfrm>
            <a:off x="548640" y="5934456"/>
            <a:ext cx="10424160" cy="292608"/>
          </a:xfrm>
          <a:prstGeom prst="rect">
            <a:avLst/>
          </a:prstGeom>
          <a:noFill/>
          <a:ln/>
        </p:spPr>
        <p:txBody>
          <a:bodyPr wrap="square" lIns="0" tIns="0" rIns="0" bIns="0" rtlCol="0" anchor="ctr">
            <a:normAutofit/>
          </a:bodyPr>
          <a:lstStyle/>
          <a:p>
            <a:pPr indent="0" marL="0">
              <a:buNone/>
            </a:pPr>
            <a:r>
              <a:rPr lang="en-US" sz="1400" dirty="0">
                <a:solidFill>
                  <a:srgbClr val="11727B"/>
                </a:solidFill>
                <a:latin typeface="Aptos Mono" pitchFamily="34" charset="0"/>
                <a:ea typeface="Aptos Mono" pitchFamily="34" charset="-122"/>
                <a:cs typeface="Aptos Mono" pitchFamily="34" charset="-120"/>
              </a:rPr>
              <a:t>L04   python3 walkthrough.py demo 04</a:t>
            </a:r>
            <a:endParaRPr lang="en-US" sz="1400" dirty="0"/>
          </a:p>
        </p:txBody>
      </p:sp>
      <p:sp>
        <p:nvSpPr>
          <p:cNvPr id="7" name="Text 5"/>
          <p:cNvSpPr/>
          <p:nvPr/>
        </p:nvSpPr>
        <p:spPr>
          <a:xfrm>
            <a:off x="548640" y="6464808"/>
            <a:ext cx="10607040" cy="192024"/>
          </a:xfrm>
          <a:prstGeom prst="rect">
            <a:avLst/>
          </a:prstGeom>
          <a:noFill/>
          <a:ln/>
        </p:spPr>
        <p:txBody>
          <a:bodyPr wrap="square" lIns="0" tIns="0" rIns="0" bIns="0" rtlCol="0" anchor="ctr">
            <a:normAutofit/>
          </a:bodyPr>
          <a:lstStyle/>
          <a:p>
            <a:pPr indent="0" marL="0">
              <a:buNone/>
            </a:pPr>
            <a:r>
              <a:rPr lang="en-US" sz="900" dirty="0">
                <a:solidFill>
                  <a:srgbClr val="526571"/>
                </a:solidFill>
                <a:latin typeface="Aptos" pitchFamily="34" charset="0"/>
                <a:ea typeface="Aptos" pitchFamily="34" charset="-122"/>
                <a:cs typeface="Aptos" pitchFamily="34" charset="-120"/>
              </a:rPr>
              <a:t>results/saved/04/ • 16,384 synthetic records; 10K ops/seed; three seeds; full initial load</a:t>
            </a:r>
            <a:endParaRPr lang="en-US" sz="900" dirty="0"/>
          </a:p>
        </p:txBody>
      </p:sp>
      <p:sp>
        <p:nvSpPr>
          <p:cNvPr id="8" name="Text 6"/>
          <p:cNvSpPr/>
          <p:nvPr/>
        </p:nvSpPr>
        <p:spPr>
          <a:xfrm>
            <a:off x="11082528" y="6446520"/>
            <a:ext cx="548640" cy="228600"/>
          </a:xfrm>
          <a:prstGeom prst="rect">
            <a:avLst/>
          </a:prstGeom>
          <a:noFill/>
          <a:ln/>
        </p:spPr>
        <p:txBody>
          <a:bodyPr wrap="square" lIns="0" tIns="0" rIns="0" bIns="0" rtlCol="0" anchor="ctr">
            <a:normAutofit/>
          </a:bodyPr>
          <a:lstStyle/>
          <a:p>
            <a:pPr algn="r" indent="0" marL="0">
              <a:buNone/>
            </a:pPr>
            <a:r>
              <a:rPr lang="en-US" sz="1100" dirty="0">
                <a:solidFill>
                  <a:srgbClr val="526571"/>
                </a:solidFill>
                <a:latin typeface="Aptos" pitchFamily="34" charset="0"/>
                <a:ea typeface="Aptos" pitchFamily="34" charset="-122"/>
                <a:cs typeface="Aptos" pitchFamily="34" charset="-120"/>
              </a:rPr>
              <a:t>13</a:t>
            </a:r>
            <a:endParaRPr lang="en-US" sz="1100" dirty="0"/>
          </a:p>
        </p:txBody>
      </p:sp>
      <p:sp>
        <p:nvSpPr>
          <p:cNvPr id="10" name="Shape 7"/>
          <p:cNvSpPr/>
          <p:nvPr/>
        </p:nvSpPr>
        <p:spPr>
          <a:xfrm>
            <a:off x="548640" y="1874520"/>
            <a:ext cx="4206240" cy="1051560"/>
          </a:xfrm>
          <a:prstGeom prst="rect">
            <a:avLst/>
          </a:prstGeom>
          <a:solidFill>
            <a:srgbClr val="EFF5F6"/>
          </a:solidFill>
          <a:ln w="12700">
            <a:solidFill>
              <a:srgbClr val="EFF5F6"/>
            </a:solidFill>
            <a:prstDash val="solid"/>
          </a:ln>
        </p:spPr>
      </p:sp>
      <p:sp>
        <p:nvSpPr>
          <p:cNvPr id="11" name="Text 8"/>
          <p:cNvSpPr/>
          <p:nvPr/>
        </p:nvSpPr>
        <p:spPr>
          <a:xfrm>
            <a:off x="704088" y="1984248"/>
            <a:ext cx="3895344" cy="246888"/>
          </a:xfrm>
          <a:prstGeom prst="rect">
            <a:avLst/>
          </a:prstGeom>
          <a:noFill/>
          <a:ln/>
        </p:spPr>
        <p:txBody>
          <a:bodyPr wrap="square" lIns="0" tIns="0" rIns="0" bIns="0" rtlCol="0" anchor="ctr">
            <a:normAutofit/>
          </a:bodyPr>
          <a:lstStyle/>
          <a:p>
            <a:pPr indent="0" marL="0">
              <a:buNone/>
            </a:pPr>
            <a:r>
              <a:rPr lang="en-US" sz="1400" b="1" dirty="0">
                <a:solidFill>
                  <a:srgbClr val="11727B"/>
                </a:solidFill>
                <a:latin typeface="Aptos" pitchFamily="34" charset="0"/>
                <a:ea typeface="Aptos" pitchFamily="34" charset="-122"/>
                <a:cs typeface="Aptos" pitchFamily="34" charset="-120"/>
              </a:rPr>
              <a:t>REPRESENTATIONS</a:t>
            </a:r>
            <a:endParaRPr lang="en-US" sz="1400" dirty="0"/>
          </a:p>
        </p:txBody>
      </p:sp>
      <p:sp>
        <p:nvSpPr>
          <p:cNvPr id="12" name="Text 9"/>
          <p:cNvSpPr/>
          <p:nvPr/>
        </p:nvSpPr>
        <p:spPr>
          <a:xfrm>
            <a:off x="704088" y="2304288"/>
            <a:ext cx="3895344" cy="557784"/>
          </a:xfrm>
          <a:prstGeom prst="rect">
            <a:avLst/>
          </a:prstGeom>
          <a:noFill/>
          <a:ln/>
        </p:spPr>
        <p:txBody>
          <a:bodyPr wrap="square" lIns="0" tIns="0" rIns="0" bIns="0" rtlCol="0" anchor="ctr">
            <a:normAutofit/>
          </a:bodyPr>
          <a:lstStyle/>
          <a:p>
            <a:pPr indent="0" marL="0">
              <a:buNone/>
            </a:pPr>
            <a:r>
              <a:rPr lang="en-US" sz="1700" dirty="0">
                <a:solidFill>
                  <a:srgbClr val="162733"/>
                </a:solidFill>
                <a:latin typeface="Aptos" pitchFamily="34" charset="0"/>
                <a:ea typeface="Aptos" pitchFamily="34" charset="-122"/>
                <a:cs typeface="Aptos" pitchFamily="34" charset="-120"/>
              </a:rPr>
              <a:t>Raw, FOR, restarted delta and integer-linear residual blocks.</a:t>
            </a:r>
            <a:endParaRPr lang="en-US" sz="1700" dirty="0"/>
          </a:p>
        </p:txBody>
      </p:sp>
      <p:sp>
        <p:nvSpPr>
          <p:cNvPr id="13" name="Shape 10"/>
          <p:cNvSpPr/>
          <p:nvPr/>
        </p:nvSpPr>
        <p:spPr>
          <a:xfrm>
            <a:off x="548640" y="3072384"/>
            <a:ext cx="4206240" cy="1051560"/>
          </a:xfrm>
          <a:prstGeom prst="rect">
            <a:avLst/>
          </a:prstGeom>
          <a:solidFill>
            <a:srgbClr val="EFF5F6"/>
          </a:solidFill>
          <a:ln w="12700">
            <a:solidFill>
              <a:srgbClr val="EFF5F6"/>
            </a:solidFill>
            <a:prstDash val="solid"/>
          </a:ln>
        </p:spPr>
      </p:sp>
      <p:sp>
        <p:nvSpPr>
          <p:cNvPr id="14" name="Text 11"/>
          <p:cNvSpPr/>
          <p:nvPr/>
        </p:nvSpPr>
        <p:spPr>
          <a:xfrm>
            <a:off x="704088" y="3182112"/>
            <a:ext cx="3895344" cy="246888"/>
          </a:xfrm>
          <a:prstGeom prst="rect">
            <a:avLst/>
          </a:prstGeom>
          <a:noFill/>
          <a:ln/>
        </p:spPr>
        <p:txBody>
          <a:bodyPr wrap="square" lIns="0" tIns="0" rIns="0" bIns="0" rtlCol="0" anchor="ctr">
            <a:normAutofit/>
          </a:bodyPr>
          <a:lstStyle/>
          <a:p>
            <a:pPr indent="0" marL="0">
              <a:buNone/>
            </a:pPr>
            <a:r>
              <a:rPr lang="en-US" sz="1400" b="1" dirty="0">
                <a:solidFill>
                  <a:srgbClr val="11727B"/>
                </a:solidFill>
                <a:latin typeface="Aptos" pitchFamily="34" charset="0"/>
                <a:ea typeface="Aptos" pitchFamily="34" charset="-122"/>
                <a:cs typeface="Aptos" pitchFamily="34" charset="-120"/>
              </a:rPr>
              <a:t>MATCHED COMPARISONS</a:t>
            </a:r>
            <a:endParaRPr lang="en-US" sz="1400" dirty="0"/>
          </a:p>
        </p:txBody>
      </p:sp>
      <p:sp>
        <p:nvSpPr>
          <p:cNvPr id="15" name="Text 12"/>
          <p:cNvSpPr/>
          <p:nvPr/>
        </p:nvSpPr>
        <p:spPr>
          <a:xfrm>
            <a:off x="704088" y="3502152"/>
            <a:ext cx="3895344" cy="557784"/>
          </a:xfrm>
          <a:prstGeom prst="rect">
            <a:avLst/>
          </a:prstGeom>
          <a:noFill/>
          <a:ln/>
        </p:spPr>
        <p:txBody>
          <a:bodyPr wrap="square" lIns="0" tIns="0" rIns="0" bIns="0" rtlCol="0" anchor="ctr">
            <a:normAutofit/>
          </a:bodyPr>
          <a:lstStyle/>
          <a:p>
            <a:pPr indent="0" marL="0">
              <a:buNone/>
            </a:pPr>
            <a:r>
              <a:rPr lang="en-US" sz="1700" dirty="0">
                <a:solidFill>
                  <a:srgbClr val="162733"/>
                </a:solidFill>
                <a:latin typeface="Aptos" pitchFamily="34" charset="0"/>
                <a:ea typeface="Aptos" pitchFamily="34" charset="-122"/>
                <a:cs typeface="Aptos" pitchFamily="34" charset="-120"/>
              </a:rPr>
              <a:t>Raw/rank → packed/rank → packed/byte. Packed/binary is another control.</a:t>
            </a:r>
            <a:endParaRPr lang="en-US" sz="1700" dirty="0"/>
          </a:p>
        </p:txBody>
      </p:sp>
      <p:sp>
        <p:nvSpPr>
          <p:cNvPr id="16" name="Shape 13"/>
          <p:cNvSpPr/>
          <p:nvPr/>
        </p:nvSpPr>
        <p:spPr>
          <a:xfrm>
            <a:off x="548640" y="4270248"/>
            <a:ext cx="4206240" cy="1051560"/>
          </a:xfrm>
          <a:prstGeom prst="rect">
            <a:avLst/>
          </a:prstGeom>
          <a:solidFill>
            <a:srgbClr val="EFF5F6"/>
          </a:solidFill>
          <a:ln w="12700">
            <a:solidFill>
              <a:srgbClr val="EFF5F6"/>
            </a:solidFill>
            <a:prstDash val="solid"/>
          </a:ln>
        </p:spPr>
      </p:sp>
      <p:sp>
        <p:nvSpPr>
          <p:cNvPr id="17" name="Text 14"/>
          <p:cNvSpPr/>
          <p:nvPr/>
        </p:nvSpPr>
        <p:spPr>
          <a:xfrm>
            <a:off x="704088" y="4379976"/>
            <a:ext cx="3895344" cy="246888"/>
          </a:xfrm>
          <a:prstGeom prst="rect">
            <a:avLst/>
          </a:prstGeom>
          <a:noFill/>
          <a:ln/>
        </p:spPr>
        <p:txBody>
          <a:bodyPr wrap="square" lIns="0" tIns="0" rIns="0" bIns="0" rtlCol="0" anchor="ctr">
            <a:normAutofit/>
          </a:bodyPr>
          <a:lstStyle/>
          <a:p>
            <a:pPr indent="0" marL="0">
              <a:buNone/>
            </a:pPr>
            <a:r>
              <a:rPr lang="en-US" sz="1400" b="1" dirty="0">
                <a:solidFill>
                  <a:srgbClr val="11727B"/>
                </a:solidFill>
                <a:latin typeface="Aptos" pitchFamily="34" charset="0"/>
                <a:ea typeface="Aptos" pitchFamily="34" charset="-122"/>
                <a:cs typeface="Aptos" pitchFamily="34" charset="-120"/>
              </a:rPr>
              <a:t>OBSERVATION</a:t>
            </a:r>
            <a:endParaRPr lang="en-US" sz="1400" dirty="0"/>
          </a:p>
        </p:txBody>
      </p:sp>
      <p:sp>
        <p:nvSpPr>
          <p:cNvPr id="18" name="Text 15"/>
          <p:cNvSpPr/>
          <p:nvPr/>
        </p:nvSpPr>
        <p:spPr>
          <a:xfrm>
            <a:off x="704088" y="4700016"/>
            <a:ext cx="3895344" cy="557784"/>
          </a:xfrm>
          <a:prstGeom prst="rect">
            <a:avLst/>
          </a:prstGeom>
          <a:noFill/>
          <a:ln/>
        </p:spPr>
        <p:txBody>
          <a:bodyPr wrap="square" lIns="0" tIns="0" rIns="0" bIns="0" rtlCol="0" anchor="ctr">
            <a:normAutofit/>
          </a:bodyPr>
          <a:lstStyle/>
          <a:p>
            <a:pPr indent="0" marL="0">
              <a:buNone/>
            </a:pPr>
            <a:r>
              <a:rPr lang="en-US" sz="1700" dirty="0">
                <a:solidFill>
                  <a:srgbClr val="162733"/>
                </a:solidFill>
                <a:latin typeface="Aptos" pitchFamily="34" charset="0"/>
                <a:ea typeface="Aptos" pitchFamily="34" charset="-122"/>
                <a:cs typeface="Aptos" pitchFamily="34" charset="-120"/>
              </a:rPr>
              <a:t>The packed footprint is smaller. This run does not show a throughput win.</a:t>
            </a:r>
            <a:endParaRPr lang="en-US" sz="1700" dirty="0"/>
          </a:p>
        </p:txBody>
      </p:sp>
      <p:pic>
        <p:nvPicPr>
          <p:cNvPr id="19" name="Image 0" descr="/mnt/data/scaleli_sota/slides/figures/compression.png">    </p:cNvPr>
          <p:cNvPicPr>
            <a:picLocks noChangeAspect="1"/>
          </p:cNvPicPr>
          <p:nvPr/>
        </p:nvPicPr>
        <p:blipFill>
          <a:blip r:embed="rId1"/>
          <a:stretch>
            <a:fillRect/>
          </a:stretch>
        </p:blipFill>
        <p:spPr>
          <a:xfrm>
            <a:off x="5029200" y="1949682"/>
            <a:ext cx="6537960" cy="357128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46888"/>
            <a:ext cx="10424160" cy="201168"/>
          </a:xfrm>
          <a:prstGeom prst="rect">
            <a:avLst/>
          </a:prstGeom>
          <a:noFill/>
          <a:ln/>
        </p:spPr>
        <p:txBody>
          <a:bodyPr wrap="square" lIns="0" tIns="0" rIns="0" bIns="0" rtlCol="0" anchor="ctr">
            <a:normAutofit/>
          </a:bodyPr>
          <a:lstStyle/>
          <a:p>
            <a:pPr indent="0" marL="0">
              <a:buNone/>
            </a:pPr>
            <a:r>
              <a:rPr lang="en-US" sz="1000" b="1" spc="110" kern="0" dirty="0">
                <a:solidFill>
                  <a:srgbClr val="11727B"/>
                </a:solidFill>
                <a:latin typeface="Aptos" pitchFamily="34" charset="0"/>
                <a:ea typeface="Aptos" pitchFamily="34" charset="-122"/>
                <a:cs typeface="Aptos" pitchFamily="34" charset="-120"/>
              </a:rPr>
              <a:t>PUBLISHED RESULT • ATTACHED 2024/25 VERSION</a:t>
            </a:r>
            <a:endParaRPr lang="en-US" sz="1000" dirty="0"/>
          </a:p>
        </p:txBody>
      </p:sp>
      <p:sp>
        <p:nvSpPr>
          <p:cNvPr id="3" name="Text 1"/>
          <p:cNvSpPr/>
          <p:nvPr/>
        </p:nvSpPr>
        <p:spPr>
          <a:xfrm>
            <a:off x="548640" y="640080"/>
            <a:ext cx="11064240" cy="603504"/>
          </a:xfrm>
          <a:prstGeom prst="rect">
            <a:avLst/>
          </a:prstGeom>
          <a:noFill/>
          <a:ln/>
        </p:spPr>
        <p:txBody>
          <a:bodyPr wrap="square" lIns="0" tIns="0" rIns="0" bIns="0" rtlCol="0" anchor="ctr">
            <a:normAutofit/>
          </a:bodyPr>
          <a:lstStyle/>
          <a:p>
            <a:pPr indent="0" marL="0">
              <a:buNone/>
            </a:pPr>
            <a:r>
              <a:rPr lang="en-US" sz="3000" b="1" dirty="0">
                <a:solidFill>
                  <a:srgbClr val="162733"/>
                </a:solidFill>
                <a:latin typeface="Aptos Display" pitchFamily="34" charset="0"/>
                <a:ea typeface="Aptos Display" pitchFamily="34" charset="-122"/>
                <a:cs typeface="Aptos Display" pitchFamily="34" charset="-120"/>
              </a:rPr>
              <a:t>CSV · change positions with virtual points</a:t>
            </a:r>
            <a:endParaRPr lang="en-US" sz="3000" dirty="0"/>
          </a:p>
        </p:txBody>
      </p:sp>
      <p:sp>
        <p:nvSpPr>
          <p:cNvPr id="4" name="Text 2"/>
          <p:cNvSpPr/>
          <p:nvPr/>
        </p:nvSpPr>
        <p:spPr>
          <a:xfrm>
            <a:off x="548640" y="1280160"/>
            <a:ext cx="11064240" cy="420624"/>
          </a:xfrm>
          <a:prstGeom prst="rect">
            <a:avLst/>
          </a:prstGeom>
          <a:noFill/>
          <a:ln/>
        </p:spPr>
        <p:txBody>
          <a:bodyPr wrap="square" lIns="0" tIns="0" rIns="0" bIns="0" rtlCol="0" anchor="ctr">
            <a:normAutofit/>
          </a:bodyPr>
          <a:lstStyle/>
          <a:p>
            <a:pPr indent="0" marL="0">
              <a:buNone/>
            </a:pPr>
            <a:r>
              <a:rPr lang="en-US" sz="1600" dirty="0">
                <a:solidFill>
                  <a:srgbClr val="526571"/>
                </a:solidFill>
                <a:latin typeface="Aptos" pitchFamily="34" charset="0"/>
                <a:ea typeface="Aptos" pitchFamily="34" charset="-122"/>
                <a:cs typeface="Aptos" pitchFamily="34" charset="-120"/>
              </a:rPr>
              <a:t>Refit models and reconstruct selected subtrees when the cost condition permits.</a:t>
            </a:r>
            <a:endParaRPr lang="en-US" sz="1600" dirty="0"/>
          </a:p>
        </p:txBody>
      </p:sp>
      <p:sp>
        <p:nvSpPr>
          <p:cNvPr id="5" name="Shape 3"/>
          <p:cNvSpPr/>
          <p:nvPr/>
        </p:nvSpPr>
        <p:spPr>
          <a:xfrm>
            <a:off x="548640" y="6364224"/>
            <a:ext cx="11064240" cy="0"/>
          </a:xfrm>
          <a:prstGeom prst="line">
            <a:avLst/>
          </a:prstGeom>
          <a:noFill/>
          <a:ln w="12700">
            <a:solidFill>
              <a:srgbClr val="D9E3E6"/>
            </a:solidFill>
            <a:prstDash val="solid"/>
          </a:ln>
        </p:spPr>
      </p:sp>
      <p:sp>
        <p:nvSpPr>
          <p:cNvPr id="6" name="Text 4"/>
          <p:cNvSpPr/>
          <p:nvPr/>
        </p:nvSpPr>
        <p:spPr>
          <a:xfrm>
            <a:off x="548640" y="6464808"/>
            <a:ext cx="10607040" cy="192024"/>
          </a:xfrm>
          <a:prstGeom prst="rect">
            <a:avLst/>
          </a:prstGeom>
          <a:noFill/>
          <a:ln/>
        </p:spPr>
        <p:txBody>
          <a:bodyPr wrap="square" lIns="0" tIns="0" rIns="0" bIns="0" rtlCol="0" anchor="ctr">
            <a:normAutofit/>
          </a:bodyPr>
          <a:lstStyle/>
          <a:p>
            <a:pPr indent="0" marL="0">
              <a:buNone/>
            </a:pPr>
            <a:r>
              <a:rPr lang="en-US" sz="900" dirty="0">
                <a:solidFill>
                  <a:srgbClr val="526571"/>
                </a:solidFill>
                <a:latin typeface="Aptos" pitchFamily="34" charset="0"/>
                <a:ea typeface="Aptos" pitchFamily="34" charset="-122"/>
                <a:cs typeface="Aptos" pitchFamily="34" charset="-120"/>
              </a:rPr>
              <a:t>Uploaded CSV paper • Figure 2 p.2; §6.1 p.9; Figure 7 p.10; Table 4 p.11</a:t>
            </a:r>
            <a:endParaRPr lang="en-US" sz="900" dirty="0"/>
          </a:p>
        </p:txBody>
      </p:sp>
      <p:sp>
        <p:nvSpPr>
          <p:cNvPr id="7" name="Text 5"/>
          <p:cNvSpPr/>
          <p:nvPr/>
        </p:nvSpPr>
        <p:spPr>
          <a:xfrm>
            <a:off x="11082528" y="6446520"/>
            <a:ext cx="548640" cy="228600"/>
          </a:xfrm>
          <a:prstGeom prst="rect">
            <a:avLst/>
          </a:prstGeom>
          <a:noFill/>
          <a:ln/>
        </p:spPr>
        <p:txBody>
          <a:bodyPr wrap="square" lIns="0" tIns="0" rIns="0" bIns="0" rtlCol="0" anchor="ctr">
            <a:normAutofit/>
          </a:bodyPr>
          <a:lstStyle/>
          <a:p>
            <a:pPr algn="r" indent="0" marL="0">
              <a:buNone/>
            </a:pPr>
            <a:r>
              <a:rPr lang="en-US" sz="1100" dirty="0">
                <a:solidFill>
                  <a:srgbClr val="526571"/>
                </a:solidFill>
                <a:latin typeface="Aptos" pitchFamily="34" charset="0"/>
                <a:ea typeface="Aptos" pitchFamily="34" charset="-122"/>
                <a:cs typeface="Aptos" pitchFamily="34" charset="-120"/>
              </a:rPr>
              <a:t>14</a:t>
            </a:r>
            <a:endParaRPr lang="en-US" sz="1100" dirty="0"/>
          </a:p>
        </p:txBody>
      </p:sp>
      <p:sp>
        <p:nvSpPr>
          <p:cNvPr id="9" name="Shape 6"/>
          <p:cNvSpPr/>
          <p:nvPr/>
        </p:nvSpPr>
        <p:spPr>
          <a:xfrm>
            <a:off x="548640" y="1901952"/>
            <a:ext cx="3529584" cy="2148840"/>
          </a:xfrm>
          <a:prstGeom prst="rect">
            <a:avLst/>
          </a:prstGeom>
          <a:solidFill>
            <a:srgbClr val="EFF5F6"/>
          </a:solidFill>
          <a:ln w="12700">
            <a:solidFill>
              <a:srgbClr val="EFF5F6"/>
            </a:solidFill>
            <a:prstDash val="solid"/>
          </a:ln>
        </p:spPr>
      </p:sp>
      <p:sp>
        <p:nvSpPr>
          <p:cNvPr id="10" name="Text 7"/>
          <p:cNvSpPr/>
          <p:nvPr/>
        </p:nvSpPr>
        <p:spPr>
          <a:xfrm>
            <a:off x="704088" y="2011680"/>
            <a:ext cx="3218688" cy="246888"/>
          </a:xfrm>
          <a:prstGeom prst="rect">
            <a:avLst/>
          </a:prstGeom>
          <a:noFill/>
          <a:ln/>
        </p:spPr>
        <p:txBody>
          <a:bodyPr wrap="square" lIns="0" tIns="0" rIns="0" bIns="0" rtlCol="0" anchor="ctr">
            <a:normAutofit/>
          </a:bodyPr>
          <a:lstStyle/>
          <a:p>
            <a:pPr indent="0" marL="0">
              <a:buNone/>
            </a:pPr>
            <a:r>
              <a:rPr lang="en-US" sz="1400" b="1" dirty="0">
                <a:solidFill>
                  <a:srgbClr val="11727B"/>
                </a:solidFill>
                <a:latin typeface="Aptos" pitchFamily="34" charset="0"/>
                <a:ea typeface="Aptos" pitchFamily="34" charset="-122"/>
                <a:cs typeface="Aptos" pitchFamily="34" charset="-120"/>
              </a:rPr>
              <a:t>MECHANISM</a:t>
            </a:r>
            <a:endParaRPr lang="en-US" sz="1400" dirty="0"/>
          </a:p>
        </p:txBody>
      </p:sp>
      <p:sp>
        <p:nvSpPr>
          <p:cNvPr id="11" name="Text 8"/>
          <p:cNvSpPr/>
          <p:nvPr/>
        </p:nvSpPr>
        <p:spPr>
          <a:xfrm>
            <a:off x="704088" y="2331720"/>
            <a:ext cx="3218688" cy="1655064"/>
          </a:xfrm>
          <a:prstGeom prst="rect">
            <a:avLst/>
          </a:prstGeom>
          <a:noFill/>
          <a:ln/>
        </p:spPr>
        <p:txBody>
          <a:bodyPr wrap="square" lIns="0" tIns="0" rIns="0" bIns="0" rtlCol="0" anchor="ctr">
            <a:normAutofit/>
          </a:bodyPr>
          <a:lstStyle/>
          <a:p>
            <a:pPr indent="0" marL="0">
              <a:buNone/>
            </a:pPr>
            <a:r>
              <a:rPr lang="en-US" sz="1700" dirty="0">
                <a:solidFill>
                  <a:srgbClr val="162733"/>
                </a:solidFill>
                <a:latin typeface="Aptos" pitchFamily="34" charset="0"/>
                <a:ea typeface="Aptos" pitchFamily="34" charset="-122"/>
                <a:cs typeface="Aptos" pitchFamily="34" charset="-120"/>
              </a:rPr>
              <a:t>Insert virtual positions, refit, then potentially reduce traversal depth.</a:t>
            </a:r>
            <a:endParaRPr lang="en-US" sz="1700" dirty="0"/>
          </a:p>
        </p:txBody>
      </p:sp>
      <p:sp>
        <p:nvSpPr>
          <p:cNvPr id="12" name="Shape 9"/>
          <p:cNvSpPr/>
          <p:nvPr/>
        </p:nvSpPr>
        <p:spPr>
          <a:xfrm>
            <a:off x="4334256" y="1901952"/>
            <a:ext cx="3529584" cy="2148840"/>
          </a:xfrm>
          <a:prstGeom prst="rect">
            <a:avLst/>
          </a:prstGeom>
          <a:solidFill>
            <a:srgbClr val="EFF5F6"/>
          </a:solidFill>
          <a:ln w="12700">
            <a:solidFill>
              <a:srgbClr val="EFF5F6"/>
            </a:solidFill>
            <a:prstDash val="solid"/>
          </a:ln>
        </p:spPr>
      </p:sp>
      <p:sp>
        <p:nvSpPr>
          <p:cNvPr id="13" name="Text 10"/>
          <p:cNvSpPr/>
          <p:nvPr/>
        </p:nvSpPr>
        <p:spPr>
          <a:xfrm>
            <a:off x="4489704" y="2011680"/>
            <a:ext cx="3218688" cy="246888"/>
          </a:xfrm>
          <a:prstGeom prst="rect">
            <a:avLst/>
          </a:prstGeom>
          <a:noFill/>
          <a:ln/>
        </p:spPr>
        <p:txBody>
          <a:bodyPr wrap="square" lIns="0" tIns="0" rIns="0" bIns="0" rtlCol="0" anchor="ctr">
            <a:normAutofit/>
          </a:bodyPr>
          <a:lstStyle/>
          <a:p>
            <a:pPr indent="0" marL="0">
              <a:buNone/>
            </a:pPr>
            <a:r>
              <a:rPr lang="en-US" sz="1400" b="1" dirty="0">
                <a:solidFill>
                  <a:srgbClr val="11727B"/>
                </a:solidFill>
                <a:latin typeface="Aptos" pitchFamily="34" charset="0"/>
                <a:ea typeface="Aptos" pitchFamily="34" charset="-122"/>
                <a:cs typeface="Aptos" pitchFamily="34" charset="-120"/>
              </a:rPr>
              <a:t>REPORTED BENEFIT</a:t>
            </a:r>
            <a:endParaRPr lang="en-US" sz="1400" dirty="0"/>
          </a:p>
        </p:txBody>
      </p:sp>
      <p:sp>
        <p:nvSpPr>
          <p:cNvPr id="14" name="Text 11"/>
          <p:cNvSpPr/>
          <p:nvPr/>
        </p:nvSpPr>
        <p:spPr>
          <a:xfrm>
            <a:off x="4489704" y="2331720"/>
            <a:ext cx="3218688" cy="1655064"/>
          </a:xfrm>
          <a:prstGeom prst="rect">
            <a:avLst/>
          </a:prstGeom>
          <a:noFill/>
          <a:ln/>
        </p:spPr>
        <p:txBody>
          <a:bodyPr wrap="square" lIns="0" tIns="0" rIns="0" bIns="0" rtlCol="0" anchor="ctr">
            <a:normAutofit/>
          </a:bodyPr>
          <a:lstStyle/>
          <a:p>
            <a:pPr indent="0" marL="0">
              <a:buNone/>
            </a:pPr>
            <a:r>
              <a:rPr lang="en-US" sz="1700" dirty="0">
                <a:solidFill>
                  <a:srgbClr val="162733"/>
                </a:solidFill>
                <a:latin typeface="Aptos" pitchFamily="34" charset="0"/>
                <a:ea typeface="Aptos" pitchFamily="34" charset="-122"/>
                <a:cs typeface="Aptos" pitchFamily="34" charset="-120"/>
              </a:rPr>
              <a:t>Up to 34% less query time for the selected promoted keys.</a:t>
            </a:r>
            <a:endParaRPr lang="en-US" sz="1700" dirty="0"/>
          </a:p>
        </p:txBody>
      </p:sp>
      <p:sp>
        <p:nvSpPr>
          <p:cNvPr id="15" name="Shape 12"/>
          <p:cNvSpPr/>
          <p:nvPr/>
        </p:nvSpPr>
        <p:spPr>
          <a:xfrm>
            <a:off x="8119872" y="1901952"/>
            <a:ext cx="3529584" cy="2148840"/>
          </a:xfrm>
          <a:prstGeom prst="rect">
            <a:avLst/>
          </a:prstGeom>
          <a:solidFill>
            <a:srgbClr val="EFF5F6"/>
          </a:solidFill>
          <a:ln w="12700">
            <a:solidFill>
              <a:srgbClr val="EFF5F6"/>
            </a:solidFill>
            <a:prstDash val="solid"/>
          </a:ln>
        </p:spPr>
      </p:sp>
      <p:sp>
        <p:nvSpPr>
          <p:cNvPr id="16" name="Text 13"/>
          <p:cNvSpPr/>
          <p:nvPr/>
        </p:nvSpPr>
        <p:spPr>
          <a:xfrm>
            <a:off x="8275320" y="2011680"/>
            <a:ext cx="3218688" cy="246888"/>
          </a:xfrm>
          <a:prstGeom prst="rect">
            <a:avLst/>
          </a:prstGeom>
          <a:noFill/>
          <a:ln/>
        </p:spPr>
        <p:txBody>
          <a:bodyPr wrap="square" lIns="0" tIns="0" rIns="0" bIns="0" rtlCol="0" anchor="ctr">
            <a:normAutofit/>
          </a:bodyPr>
          <a:lstStyle/>
          <a:p>
            <a:pPr indent="0" marL="0">
              <a:buNone/>
            </a:pPr>
            <a:r>
              <a:rPr lang="en-US" sz="1400" b="1" dirty="0">
                <a:solidFill>
                  <a:srgbClr val="11727B"/>
                </a:solidFill>
                <a:latin typeface="Aptos" pitchFamily="34" charset="0"/>
                <a:ea typeface="Aptos" pitchFamily="34" charset="-122"/>
                <a:cs typeface="Aptos" pitchFamily="34" charset="-120"/>
              </a:rPr>
              <a:t>COST TO REPORT</a:t>
            </a:r>
            <a:endParaRPr lang="en-US" sz="1400" dirty="0"/>
          </a:p>
        </p:txBody>
      </p:sp>
      <p:sp>
        <p:nvSpPr>
          <p:cNvPr id="17" name="Text 14"/>
          <p:cNvSpPr/>
          <p:nvPr/>
        </p:nvSpPr>
        <p:spPr>
          <a:xfrm>
            <a:off x="8275320" y="2331720"/>
            <a:ext cx="3218688" cy="1655064"/>
          </a:xfrm>
          <a:prstGeom prst="rect">
            <a:avLst/>
          </a:prstGeom>
          <a:noFill/>
          <a:ln/>
        </p:spPr>
        <p:txBody>
          <a:bodyPr wrap="square" lIns="0" tIns="0" rIns="0" bIns="0" rtlCol="0" anchor="ctr">
            <a:normAutofit/>
          </a:bodyPr>
          <a:lstStyle/>
          <a:p>
            <a:pPr indent="0" marL="0">
              <a:buNone/>
            </a:pPr>
            <a:r>
              <a:rPr lang="en-US" sz="1700" dirty="0">
                <a:solidFill>
                  <a:srgbClr val="162733"/>
                </a:solidFill>
                <a:latin typeface="Aptos" pitchFamily="34" charset="0"/>
                <a:ea typeface="Aptos" pitchFamily="34" charset="-122"/>
                <a:cs typeface="Aptos" pitchFamily="34" charset="-120"/>
              </a:rPr>
              <a:t>At α = 0.1, ALEX preprocessing ranges from 889 to 2,902 seconds.</a:t>
            </a:r>
            <a:endParaRPr lang="en-US" sz="1700" dirty="0"/>
          </a:p>
        </p:txBody>
      </p:sp>
      <p:sp>
        <p:nvSpPr>
          <p:cNvPr id="18" name="Text 15"/>
          <p:cNvSpPr/>
          <p:nvPr/>
        </p:nvSpPr>
        <p:spPr>
          <a:xfrm>
            <a:off x="594360" y="4754880"/>
            <a:ext cx="10789920" cy="731520"/>
          </a:xfrm>
          <a:prstGeom prst="rect">
            <a:avLst/>
          </a:prstGeom>
          <a:noFill/>
          <a:ln/>
        </p:spPr>
        <p:txBody>
          <a:bodyPr wrap="square" lIns="0" tIns="0" rIns="0" bIns="0" rtlCol="0" anchor="ctr">
            <a:normAutofit/>
          </a:bodyPr>
          <a:lstStyle/>
          <a:p>
            <a:pPr indent="0" marL="0">
              <a:buNone/>
            </a:pPr>
            <a:r>
              <a:rPr lang="en-US" sz="2300" b="1" dirty="0">
                <a:solidFill>
                  <a:srgbClr val="162733"/>
                </a:solidFill>
                <a:latin typeface="Aptos" pitchFamily="34" charset="0"/>
                <a:ea typeface="Aptos" pitchFamily="34" charset="-122"/>
                <a:cs typeface="Aptos" pitchFamily="34" charset="-120"/>
              </a:rPr>
              <a:t>Conditional query gain ≠ whole-workload speedup. Preprocessing is not free.</a:t>
            </a:r>
            <a:endParaRPr lang="en-US" sz="2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46888"/>
            <a:ext cx="10424160" cy="201168"/>
          </a:xfrm>
          <a:prstGeom prst="rect">
            <a:avLst/>
          </a:prstGeom>
          <a:noFill/>
          <a:ln/>
        </p:spPr>
        <p:txBody>
          <a:bodyPr wrap="square" lIns="0" tIns="0" rIns="0" bIns="0" rtlCol="0" anchor="ctr">
            <a:normAutofit/>
          </a:bodyPr>
          <a:lstStyle/>
          <a:p>
            <a:pPr indent="0" marL="0">
              <a:buNone/>
            </a:pPr>
            <a:r>
              <a:rPr lang="en-US" sz="1000" b="1" spc="110" kern="0" dirty="0">
                <a:solidFill>
                  <a:srgbClr val="11727B"/>
                </a:solidFill>
                <a:latin typeface="Aptos" pitchFamily="34" charset="0"/>
                <a:ea typeface="Aptos" pitchFamily="34" charset="-122"/>
                <a:cs typeface="Aptos" pitchFamily="34" charset="-120"/>
              </a:rPr>
              <a:t>INDEPENDENT TEACHING DEMO • NOT CSV</a:t>
            </a:r>
            <a:endParaRPr lang="en-US" sz="1000" dirty="0"/>
          </a:p>
        </p:txBody>
      </p:sp>
      <p:sp>
        <p:nvSpPr>
          <p:cNvPr id="3" name="Text 1"/>
          <p:cNvSpPr/>
          <p:nvPr/>
        </p:nvSpPr>
        <p:spPr>
          <a:xfrm>
            <a:off x="548640" y="640080"/>
            <a:ext cx="11064240" cy="603504"/>
          </a:xfrm>
          <a:prstGeom prst="rect">
            <a:avLst/>
          </a:prstGeom>
          <a:noFill/>
          <a:ln/>
        </p:spPr>
        <p:txBody>
          <a:bodyPr wrap="square" lIns="0" tIns="0" rIns="0" bIns="0" rtlCol="0" anchor="ctr">
            <a:normAutofit/>
          </a:bodyPr>
          <a:lstStyle/>
          <a:p>
            <a:pPr indent="0" marL="0">
              <a:buNone/>
            </a:pPr>
            <a:r>
              <a:rPr lang="en-US" sz="3000" b="1" dirty="0">
                <a:solidFill>
                  <a:srgbClr val="162733"/>
                </a:solidFill>
                <a:latin typeface="Aptos Display" pitchFamily="34" charset="0"/>
                <a:ea typeface="Aptos Display" pitchFamily="34" charset="-122"/>
                <a:cs typeface="Aptos Display" pitchFamily="34" charset="-120"/>
              </a:rPr>
              <a:t>Make virtual-point smoothing inspectable</a:t>
            </a:r>
            <a:endParaRPr lang="en-US" sz="3000" dirty="0"/>
          </a:p>
        </p:txBody>
      </p:sp>
      <p:sp>
        <p:nvSpPr>
          <p:cNvPr id="4" name="Text 2"/>
          <p:cNvSpPr/>
          <p:nvPr/>
        </p:nvSpPr>
        <p:spPr>
          <a:xfrm>
            <a:off x="548640" y="1280160"/>
            <a:ext cx="11064240" cy="420624"/>
          </a:xfrm>
          <a:prstGeom prst="rect">
            <a:avLst/>
          </a:prstGeom>
          <a:noFill/>
          <a:ln/>
        </p:spPr>
        <p:txBody>
          <a:bodyPr wrap="square" lIns="0" tIns="0" rIns="0" bIns="0" rtlCol="0" anchor="ctr">
            <a:normAutofit/>
          </a:bodyPr>
          <a:lstStyle/>
          <a:p>
            <a:pPr indent="0" marL="0">
              <a:buNone/>
            </a:pPr>
            <a:r>
              <a:rPr lang="en-US" sz="1600" dirty="0">
                <a:solidFill>
                  <a:srgbClr val="526571"/>
                </a:solidFill>
                <a:latin typeface="Aptos" pitchFamily="34" charset="0"/>
                <a:ea typeface="Aptos" pitchFamily="34" charset="-122"/>
                <a:cs typeface="Aptos" pitchFamily="34" charset="-120"/>
              </a:rPr>
              <a:t>A ten-key teaching example exposes exactly what the objective changes.</a:t>
            </a:r>
            <a:endParaRPr lang="en-US" sz="1600" dirty="0"/>
          </a:p>
        </p:txBody>
      </p:sp>
      <p:sp>
        <p:nvSpPr>
          <p:cNvPr id="5" name="Shape 3"/>
          <p:cNvSpPr/>
          <p:nvPr/>
        </p:nvSpPr>
        <p:spPr>
          <a:xfrm>
            <a:off x="548640" y="6364224"/>
            <a:ext cx="11064240" cy="0"/>
          </a:xfrm>
          <a:prstGeom prst="line">
            <a:avLst/>
          </a:prstGeom>
          <a:noFill/>
          <a:ln w="12700">
            <a:solidFill>
              <a:srgbClr val="D9E3E6"/>
            </a:solidFill>
            <a:prstDash val="solid"/>
          </a:ln>
        </p:spPr>
      </p:sp>
      <p:sp>
        <p:nvSpPr>
          <p:cNvPr id="6" name="Text 4"/>
          <p:cNvSpPr/>
          <p:nvPr/>
        </p:nvSpPr>
        <p:spPr>
          <a:xfrm>
            <a:off x="548640" y="5934456"/>
            <a:ext cx="10424160" cy="292608"/>
          </a:xfrm>
          <a:prstGeom prst="rect">
            <a:avLst/>
          </a:prstGeom>
          <a:noFill/>
          <a:ln/>
        </p:spPr>
        <p:txBody>
          <a:bodyPr wrap="square" lIns="0" tIns="0" rIns="0" bIns="0" rtlCol="0" anchor="ctr">
            <a:normAutofit/>
          </a:bodyPr>
          <a:lstStyle/>
          <a:p>
            <a:pPr indent="0" marL="0">
              <a:buNone/>
            </a:pPr>
            <a:r>
              <a:rPr lang="en-US" sz="1400" dirty="0">
                <a:solidFill>
                  <a:srgbClr val="11727B"/>
                </a:solidFill>
                <a:latin typeface="Aptos Mono" pitchFamily="34" charset="0"/>
                <a:ea typeface="Aptos Mono" pitchFamily="34" charset="-122"/>
                <a:cs typeface="Aptos Mono" pitchFamily="34" charset="-120"/>
              </a:rPr>
              <a:t>L05   python3 walkthrough.py demo 05</a:t>
            </a:r>
            <a:endParaRPr lang="en-US" sz="1400" dirty="0"/>
          </a:p>
        </p:txBody>
      </p:sp>
      <p:sp>
        <p:nvSpPr>
          <p:cNvPr id="7" name="Text 5"/>
          <p:cNvSpPr/>
          <p:nvPr/>
        </p:nvSpPr>
        <p:spPr>
          <a:xfrm>
            <a:off x="548640" y="6464808"/>
            <a:ext cx="10607040" cy="192024"/>
          </a:xfrm>
          <a:prstGeom prst="rect">
            <a:avLst/>
          </a:prstGeom>
          <a:noFill/>
          <a:ln/>
        </p:spPr>
        <p:txBody>
          <a:bodyPr wrap="square" lIns="0" tIns="0" rIns="0" bIns="0" rtlCol="0" anchor="ctr">
            <a:normAutofit/>
          </a:bodyPr>
          <a:lstStyle/>
          <a:p>
            <a:pPr indent="0" marL="0">
              <a:buNone/>
            </a:pPr>
            <a:r>
              <a:rPr lang="en-US" sz="900" dirty="0">
                <a:solidFill>
                  <a:srgbClr val="526571"/>
                </a:solidFill>
                <a:latin typeface="Aptos" pitchFamily="34" charset="0"/>
                <a:ea typeface="Aptos" pitchFamily="34" charset="-122"/>
                <a:cs typeface="Aptos" pitchFamily="34" charset="-120"/>
              </a:rPr>
              <a:t>experiments/lessons.py::lesson05 • inherited virtual_points_lab.py • results/saved/05/</a:t>
            </a:r>
            <a:endParaRPr lang="en-US" sz="900" dirty="0"/>
          </a:p>
        </p:txBody>
      </p:sp>
      <p:sp>
        <p:nvSpPr>
          <p:cNvPr id="8" name="Text 6"/>
          <p:cNvSpPr/>
          <p:nvPr/>
        </p:nvSpPr>
        <p:spPr>
          <a:xfrm>
            <a:off x="11082528" y="6446520"/>
            <a:ext cx="548640" cy="228600"/>
          </a:xfrm>
          <a:prstGeom prst="rect">
            <a:avLst/>
          </a:prstGeom>
          <a:noFill/>
          <a:ln/>
        </p:spPr>
        <p:txBody>
          <a:bodyPr wrap="square" lIns="0" tIns="0" rIns="0" bIns="0" rtlCol="0" anchor="ctr">
            <a:normAutofit/>
          </a:bodyPr>
          <a:lstStyle/>
          <a:p>
            <a:pPr algn="r" indent="0" marL="0">
              <a:buNone/>
            </a:pPr>
            <a:r>
              <a:rPr lang="en-US" sz="1100" dirty="0">
                <a:solidFill>
                  <a:srgbClr val="526571"/>
                </a:solidFill>
                <a:latin typeface="Aptos" pitchFamily="34" charset="0"/>
                <a:ea typeface="Aptos" pitchFamily="34" charset="-122"/>
                <a:cs typeface="Aptos" pitchFamily="34" charset="-120"/>
              </a:rPr>
              <a:t>15</a:t>
            </a:r>
            <a:endParaRPr lang="en-US" sz="1100" dirty="0"/>
          </a:p>
        </p:txBody>
      </p:sp>
      <p:sp>
        <p:nvSpPr>
          <p:cNvPr id="10" name="Shape 7"/>
          <p:cNvSpPr/>
          <p:nvPr/>
        </p:nvSpPr>
        <p:spPr>
          <a:xfrm>
            <a:off x="548640" y="1874520"/>
            <a:ext cx="4206240" cy="1051560"/>
          </a:xfrm>
          <a:prstGeom prst="rect">
            <a:avLst/>
          </a:prstGeom>
          <a:solidFill>
            <a:srgbClr val="EFF5F6"/>
          </a:solidFill>
          <a:ln w="12700">
            <a:solidFill>
              <a:srgbClr val="EFF5F6"/>
            </a:solidFill>
            <a:prstDash val="solid"/>
          </a:ln>
        </p:spPr>
      </p:sp>
      <p:sp>
        <p:nvSpPr>
          <p:cNvPr id="11" name="Text 8"/>
          <p:cNvSpPr/>
          <p:nvPr/>
        </p:nvSpPr>
        <p:spPr>
          <a:xfrm>
            <a:off x="704088" y="1984248"/>
            <a:ext cx="3895344" cy="246888"/>
          </a:xfrm>
          <a:prstGeom prst="rect">
            <a:avLst/>
          </a:prstGeom>
          <a:noFill/>
          <a:ln/>
        </p:spPr>
        <p:txBody>
          <a:bodyPr wrap="square" lIns="0" tIns="0" rIns="0" bIns="0" rtlCol="0" anchor="ctr">
            <a:normAutofit/>
          </a:bodyPr>
          <a:lstStyle/>
          <a:p>
            <a:pPr indent="0" marL="0">
              <a:buNone/>
            </a:pPr>
            <a:r>
              <a:rPr lang="en-US" sz="1400" b="1" dirty="0">
                <a:solidFill>
                  <a:srgbClr val="11727B"/>
                </a:solidFill>
                <a:latin typeface="Aptos" pitchFamily="34" charset="0"/>
                <a:ea typeface="Aptos" pitchFamily="34" charset="-122"/>
                <a:cs typeface="Aptos" pitchFamily="34" charset="-120"/>
              </a:rPr>
              <a:t>INPUT</a:t>
            </a:r>
            <a:endParaRPr lang="en-US" sz="1400" dirty="0"/>
          </a:p>
        </p:txBody>
      </p:sp>
      <p:sp>
        <p:nvSpPr>
          <p:cNvPr id="12" name="Text 9"/>
          <p:cNvSpPr/>
          <p:nvPr/>
        </p:nvSpPr>
        <p:spPr>
          <a:xfrm>
            <a:off x="704088" y="2304288"/>
            <a:ext cx="3895344" cy="557784"/>
          </a:xfrm>
          <a:prstGeom prst="rect">
            <a:avLst/>
          </a:prstGeom>
          <a:noFill/>
          <a:ln/>
        </p:spPr>
        <p:txBody>
          <a:bodyPr wrap="square" lIns="0" tIns="0" rIns="0" bIns="0" rtlCol="0" anchor="ctr">
            <a:normAutofit/>
          </a:bodyPr>
          <a:lstStyle/>
          <a:p>
            <a:pPr indent="0" marL="0">
              <a:buNone/>
            </a:pPr>
            <a:r>
              <a:rPr lang="en-US" sz="1700" dirty="0">
                <a:solidFill>
                  <a:srgbClr val="162733"/>
                </a:solidFill>
                <a:latin typeface="Aptos" pitchFamily="34" charset="0"/>
                <a:ea typeface="Aptos" pitchFamily="34" charset="-122"/>
                <a:cs typeface="Aptos" pitchFamily="34" charset="-120"/>
              </a:rPr>
              <a:t>10 explicit keys; budget = 3 virtual points. No hidden dataset.</a:t>
            </a:r>
            <a:endParaRPr lang="en-US" sz="1700" dirty="0"/>
          </a:p>
        </p:txBody>
      </p:sp>
      <p:sp>
        <p:nvSpPr>
          <p:cNvPr id="13" name="Shape 10"/>
          <p:cNvSpPr/>
          <p:nvPr/>
        </p:nvSpPr>
        <p:spPr>
          <a:xfrm>
            <a:off x="548640" y="3072384"/>
            <a:ext cx="4206240" cy="1051560"/>
          </a:xfrm>
          <a:prstGeom prst="rect">
            <a:avLst/>
          </a:prstGeom>
          <a:solidFill>
            <a:srgbClr val="EFF5F6"/>
          </a:solidFill>
          <a:ln w="12700">
            <a:solidFill>
              <a:srgbClr val="EFF5F6"/>
            </a:solidFill>
            <a:prstDash val="solid"/>
          </a:ln>
        </p:spPr>
      </p:sp>
      <p:sp>
        <p:nvSpPr>
          <p:cNvPr id="14" name="Text 11"/>
          <p:cNvSpPr/>
          <p:nvPr/>
        </p:nvSpPr>
        <p:spPr>
          <a:xfrm>
            <a:off x="704088" y="3182112"/>
            <a:ext cx="3895344" cy="246888"/>
          </a:xfrm>
          <a:prstGeom prst="rect">
            <a:avLst/>
          </a:prstGeom>
          <a:noFill/>
          <a:ln/>
        </p:spPr>
        <p:txBody>
          <a:bodyPr wrap="square" lIns="0" tIns="0" rIns="0" bIns="0" rtlCol="0" anchor="ctr">
            <a:normAutofit/>
          </a:bodyPr>
          <a:lstStyle/>
          <a:p>
            <a:pPr indent="0" marL="0">
              <a:buNone/>
            </a:pPr>
            <a:r>
              <a:rPr lang="en-US" sz="1400" b="1" dirty="0">
                <a:solidFill>
                  <a:srgbClr val="11727B"/>
                </a:solidFill>
                <a:latin typeface="Aptos" pitchFamily="34" charset="0"/>
                <a:ea typeface="Aptos" pitchFamily="34" charset="-122"/>
                <a:cs typeface="Aptos" pitchFamily="34" charset="-120"/>
              </a:rPr>
              <a:t>VERIFY</a:t>
            </a:r>
            <a:endParaRPr lang="en-US" sz="1400" dirty="0"/>
          </a:p>
        </p:txBody>
      </p:sp>
      <p:sp>
        <p:nvSpPr>
          <p:cNvPr id="15" name="Text 12"/>
          <p:cNvSpPr/>
          <p:nvPr/>
        </p:nvSpPr>
        <p:spPr>
          <a:xfrm>
            <a:off x="704088" y="3502152"/>
            <a:ext cx="3895344" cy="557784"/>
          </a:xfrm>
          <a:prstGeom prst="rect">
            <a:avLst/>
          </a:prstGeom>
          <a:noFill/>
          <a:ln/>
        </p:spPr>
        <p:txBody>
          <a:bodyPr wrap="square" lIns="0" tIns="0" rIns="0" bIns="0" rtlCol="0" anchor="ctr">
            <a:normAutofit/>
          </a:bodyPr>
          <a:lstStyle/>
          <a:p>
            <a:pPr indent="0" marL="0">
              <a:buNone/>
            </a:pPr>
            <a:r>
              <a:rPr lang="en-US" sz="1700" dirty="0">
                <a:solidFill>
                  <a:srgbClr val="162733"/>
                </a:solidFill>
                <a:latin typeface="Aptos" pitchFamily="34" charset="0"/>
                <a:ea typeface="Aptos" pitchFamily="34" charset="-122"/>
                <a:cs typeface="Aptos" pitchFamily="34" charset="-120"/>
              </a:rPr>
              <a:t>Exhaustive search provides a ceiling over this finite candidate set.</a:t>
            </a:r>
            <a:endParaRPr lang="en-US" sz="1700" dirty="0"/>
          </a:p>
        </p:txBody>
      </p:sp>
      <p:sp>
        <p:nvSpPr>
          <p:cNvPr id="16" name="Shape 13"/>
          <p:cNvSpPr/>
          <p:nvPr/>
        </p:nvSpPr>
        <p:spPr>
          <a:xfrm>
            <a:off x="548640" y="4270248"/>
            <a:ext cx="4206240" cy="1051560"/>
          </a:xfrm>
          <a:prstGeom prst="rect">
            <a:avLst/>
          </a:prstGeom>
          <a:solidFill>
            <a:srgbClr val="EFF5F6"/>
          </a:solidFill>
          <a:ln w="12700">
            <a:solidFill>
              <a:srgbClr val="EFF5F6"/>
            </a:solidFill>
            <a:prstDash val="solid"/>
          </a:ln>
        </p:spPr>
      </p:sp>
      <p:sp>
        <p:nvSpPr>
          <p:cNvPr id="17" name="Text 14"/>
          <p:cNvSpPr/>
          <p:nvPr/>
        </p:nvSpPr>
        <p:spPr>
          <a:xfrm>
            <a:off x="704088" y="4379976"/>
            <a:ext cx="3895344" cy="246888"/>
          </a:xfrm>
          <a:prstGeom prst="rect">
            <a:avLst/>
          </a:prstGeom>
          <a:noFill/>
          <a:ln/>
        </p:spPr>
        <p:txBody>
          <a:bodyPr wrap="square" lIns="0" tIns="0" rIns="0" bIns="0" rtlCol="0" anchor="ctr">
            <a:normAutofit/>
          </a:bodyPr>
          <a:lstStyle/>
          <a:p>
            <a:pPr indent="0" marL="0">
              <a:buNone/>
            </a:pPr>
            <a:r>
              <a:rPr lang="en-US" sz="1400" b="1" dirty="0">
                <a:solidFill>
                  <a:srgbClr val="11727B"/>
                </a:solidFill>
                <a:latin typeface="Aptos" pitchFamily="34" charset="0"/>
                <a:ea typeface="Aptos" pitchFamily="34" charset="-122"/>
                <a:cs typeface="Aptos" pitchFamily="34" charset="-120"/>
              </a:rPr>
              <a:t>LIMIT</a:t>
            </a:r>
            <a:endParaRPr lang="en-US" sz="1400" dirty="0"/>
          </a:p>
        </p:txBody>
      </p:sp>
      <p:sp>
        <p:nvSpPr>
          <p:cNvPr id="18" name="Text 15"/>
          <p:cNvSpPr/>
          <p:nvPr/>
        </p:nvSpPr>
        <p:spPr>
          <a:xfrm>
            <a:off x="704088" y="4700016"/>
            <a:ext cx="3895344" cy="557784"/>
          </a:xfrm>
          <a:prstGeom prst="rect">
            <a:avLst/>
          </a:prstGeom>
          <a:noFill/>
          <a:ln/>
        </p:spPr>
        <p:txBody>
          <a:bodyPr wrap="square" lIns="0" tIns="0" rIns="0" bIns="0" rtlCol="0" anchor="ctr">
            <a:normAutofit/>
          </a:bodyPr>
          <a:lstStyle/>
          <a:p>
            <a:pPr indent="0" marL="0">
              <a:buNone/>
            </a:pPr>
            <a:r>
              <a:rPr lang="en-US" sz="1700" dirty="0">
                <a:solidFill>
                  <a:srgbClr val="162733"/>
                </a:solidFill>
                <a:latin typeface="Aptos" pitchFamily="34" charset="0"/>
                <a:ea typeface="Aptos" pitchFamily="34" charset="-122"/>
                <a:cs typeface="Aptos" pitchFamily="34" charset="-120"/>
              </a:rPr>
              <a:t>These are fitting errors, not query-time savings. The full CSV hierarchy is absent.</a:t>
            </a:r>
            <a:endParaRPr lang="en-US" sz="1700" dirty="0"/>
          </a:p>
        </p:txBody>
      </p:sp>
      <p:pic>
        <p:nvPicPr>
          <p:cNvPr id="19" name="Image 0" descr="/mnt/data/scaleli_sota/slides/figures/virtual.png">    </p:cNvPr>
          <p:cNvPicPr>
            <a:picLocks noChangeAspect="1"/>
          </p:cNvPicPr>
          <p:nvPr/>
        </p:nvPicPr>
        <p:blipFill>
          <a:blip r:embed="rId1"/>
          <a:stretch>
            <a:fillRect/>
          </a:stretch>
        </p:blipFill>
        <p:spPr>
          <a:xfrm>
            <a:off x="5029200" y="1947120"/>
            <a:ext cx="6537960" cy="357640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46888"/>
            <a:ext cx="10424160" cy="201168"/>
          </a:xfrm>
          <a:prstGeom prst="rect">
            <a:avLst/>
          </a:prstGeom>
          <a:noFill/>
          <a:ln/>
        </p:spPr>
        <p:txBody>
          <a:bodyPr wrap="square" lIns="0" tIns="0" rIns="0" bIns="0" rtlCol="0" anchor="ctr">
            <a:normAutofit/>
          </a:bodyPr>
          <a:lstStyle/>
          <a:p>
            <a:pPr indent="0" marL="0">
              <a:buNone/>
            </a:pPr>
            <a:r>
              <a:rPr lang="en-US" sz="1000" b="1" spc="110" kern="0" dirty="0">
                <a:solidFill>
                  <a:srgbClr val="11727B"/>
                </a:solidFill>
                <a:latin typeface="Aptos" pitchFamily="34" charset="0"/>
                <a:ea typeface="Aptos" pitchFamily="34" charset="-122"/>
                <a:cs typeface="Aptos" pitchFamily="34" charset="-120"/>
              </a:rPr>
              <a:t>LOCAL EXPERIMENTAL GEOMETRY</a:t>
            </a:r>
            <a:endParaRPr lang="en-US" sz="1000" dirty="0"/>
          </a:p>
        </p:txBody>
      </p:sp>
      <p:sp>
        <p:nvSpPr>
          <p:cNvPr id="3" name="Text 1"/>
          <p:cNvSpPr/>
          <p:nvPr/>
        </p:nvSpPr>
        <p:spPr>
          <a:xfrm>
            <a:off x="548640" y="640080"/>
            <a:ext cx="11064240" cy="603504"/>
          </a:xfrm>
          <a:prstGeom prst="rect">
            <a:avLst/>
          </a:prstGeom>
          <a:noFill/>
          <a:ln/>
        </p:spPr>
        <p:txBody>
          <a:bodyPr wrap="square" lIns="0" tIns="0" rIns="0" bIns="0" rtlCol="0" anchor="ctr">
            <a:normAutofit/>
          </a:bodyPr>
          <a:lstStyle/>
          <a:p>
            <a:pPr indent="0" marL="0">
              <a:buNone/>
            </a:pPr>
            <a:r>
              <a:rPr lang="en-US" sz="3000" b="1" dirty="0">
                <a:solidFill>
                  <a:srgbClr val="162733"/>
                </a:solidFill>
                <a:latin typeface="Aptos Display" pitchFamily="34" charset="0"/>
                <a:ea typeface="Aptos Display" pitchFamily="34" charset="-122"/>
                <a:cs typeface="Aptos Display" pitchFamily="34" charset="-120"/>
              </a:rPr>
              <a:t>The project hypothesis must distinguish rank from bytes</a:t>
            </a:r>
            <a:endParaRPr lang="en-US" sz="3000" dirty="0"/>
          </a:p>
        </p:txBody>
      </p:sp>
      <p:sp>
        <p:nvSpPr>
          <p:cNvPr id="4" name="Text 2"/>
          <p:cNvSpPr/>
          <p:nvPr/>
        </p:nvSpPr>
        <p:spPr>
          <a:xfrm>
            <a:off x="548640" y="1280160"/>
            <a:ext cx="11064240" cy="420624"/>
          </a:xfrm>
          <a:prstGeom prst="rect">
            <a:avLst/>
          </a:prstGeom>
          <a:noFill/>
          <a:ln/>
        </p:spPr>
        <p:txBody>
          <a:bodyPr wrap="square" lIns="0" tIns="0" rIns="0" bIns="0" rtlCol="0" anchor="ctr">
            <a:normAutofit/>
          </a:bodyPr>
          <a:lstStyle/>
          <a:p>
            <a:pPr indent="0" marL="0">
              <a:buNone/>
            </a:pPr>
            <a:r>
              <a:rPr lang="en-US" sz="1600" dirty="0">
                <a:solidFill>
                  <a:srgbClr val="526571"/>
                </a:solidFill>
                <a:latin typeface="Aptos" pitchFamily="34" charset="0"/>
                <a:ea typeface="Aptos" pitchFamily="34" charset="-122"/>
                <a:cs typeface="Aptos" pitchFamily="34" charset="-120"/>
              </a:rPr>
              <a:t>Lossless compression changes representation, not the order of the same keys.</a:t>
            </a:r>
            <a:endParaRPr lang="en-US" sz="1600" dirty="0"/>
          </a:p>
        </p:txBody>
      </p:sp>
      <p:sp>
        <p:nvSpPr>
          <p:cNvPr id="5" name="Shape 3"/>
          <p:cNvSpPr/>
          <p:nvPr/>
        </p:nvSpPr>
        <p:spPr>
          <a:xfrm>
            <a:off x="548640" y="6364224"/>
            <a:ext cx="11064240" cy="0"/>
          </a:xfrm>
          <a:prstGeom prst="line">
            <a:avLst/>
          </a:prstGeom>
          <a:noFill/>
          <a:ln w="12700">
            <a:solidFill>
              <a:srgbClr val="D9E3E6"/>
            </a:solidFill>
            <a:prstDash val="solid"/>
          </a:ln>
        </p:spPr>
      </p:sp>
      <p:sp>
        <p:nvSpPr>
          <p:cNvPr id="6" name="Text 4"/>
          <p:cNvSpPr/>
          <p:nvPr/>
        </p:nvSpPr>
        <p:spPr>
          <a:xfrm>
            <a:off x="548640" y="5934456"/>
            <a:ext cx="10424160" cy="292608"/>
          </a:xfrm>
          <a:prstGeom prst="rect">
            <a:avLst/>
          </a:prstGeom>
          <a:noFill/>
          <a:ln/>
        </p:spPr>
        <p:txBody>
          <a:bodyPr wrap="square" lIns="0" tIns="0" rIns="0" bIns="0" rtlCol="0" anchor="ctr">
            <a:normAutofit/>
          </a:bodyPr>
          <a:lstStyle/>
          <a:p>
            <a:pPr indent="0" marL="0">
              <a:buNone/>
            </a:pPr>
            <a:r>
              <a:rPr lang="en-US" sz="1400" dirty="0">
                <a:solidFill>
                  <a:srgbClr val="11727B"/>
                </a:solidFill>
                <a:latin typeface="Aptos Mono" pitchFamily="34" charset="0"/>
                <a:ea typeface="Aptos Mono" pitchFamily="34" charset="-122"/>
                <a:cs typeface="Aptos Mono" pitchFamily="34" charset="-120"/>
              </a:rPr>
              <a:t>L06   python3 walkthrough.py demo 06</a:t>
            </a:r>
            <a:endParaRPr lang="en-US" sz="1400" dirty="0"/>
          </a:p>
        </p:txBody>
      </p:sp>
      <p:sp>
        <p:nvSpPr>
          <p:cNvPr id="7" name="Text 5"/>
          <p:cNvSpPr/>
          <p:nvPr/>
        </p:nvSpPr>
        <p:spPr>
          <a:xfrm>
            <a:off x="548640" y="6464808"/>
            <a:ext cx="10607040" cy="192024"/>
          </a:xfrm>
          <a:prstGeom prst="rect">
            <a:avLst/>
          </a:prstGeom>
          <a:noFill/>
          <a:ln/>
        </p:spPr>
        <p:txBody>
          <a:bodyPr wrap="square" lIns="0" tIns="0" rIns="0" bIns="0" rtlCol="0" anchor="ctr">
            <a:normAutofit/>
          </a:bodyPr>
          <a:lstStyle/>
          <a:p>
            <a:pPr indent="0" marL="0">
              <a:buNone/>
            </a:pPr>
            <a:r>
              <a:rPr lang="en-US" sz="900" dirty="0">
                <a:solidFill>
                  <a:srgbClr val="526571"/>
                </a:solidFill>
                <a:latin typeface="Aptos" pitchFamily="34" charset="0"/>
                <a:ea typeface="Aptos" pitchFamily="34" charset="-122"/>
                <a:cs typeface="Aptos" pitchFamily="34" charset="-120"/>
              </a:rPr>
              <a:t>results/saved/06/layout_*.csv • same fixture and block boundaries; full initial load</a:t>
            </a:r>
            <a:endParaRPr lang="en-US" sz="900" dirty="0"/>
          </a:p>
        </p:txBody>
      </p:sp>
      <p:sp>
        <p:nvSpPr>
          <p:cNvPr id="8" name="Text 6"/>
          <p:cNvSpPr/>
          <p:nvPr/>
        </p:nvSpPr>
        <p:spPr>
          <a:xfrm>
            <a:off x="11082528" y="6446520"/>
            <a:ext cx="548640" cy="228600"/>
          </a:xfrm>
          <a:prstGeom prst="rect">
            <a:avLst/>
          </a:prstGeom>
          <a:noFill/>
          <a:ln/>
        </p:spPr>
        <p:txBody>
          <a:bodyPr wrap="square" lIns="0" tIns="0" rIns="0" bIns="0" rtlCol="0" anchor="ctr">
            <a:normAutofit/>
          </a:bodyPr>
          <a:lstStyle/>
          <a:p>
            <a:pPr algn="r" indent="0" marL="0">
              <a:buNone/>
            </a:pPr>
            <a:r>
              <a:rPr lang="en-US" sz="1100" dirty="0">
                <a:solidFill>
                  <a:srgbClr val="526571"/>
                </a:solidFill>
                <a:latin typeface="Aptos" pitchFamily="34" charset="0"/>
                <a:ea typeface="Aptos" pitchFamily="34" charset="-122"/>
                <a:cs typeface="Aptos" pitchFamily="34" charset="-120"/>
              </a:rPr>
              <a:t>16</a:t>
            </a:r>
            <a:endParaRPr lang="en-US" sz="1100" dirty="0"/>
          </a:p>
        </p:txBody>
      </p:sp>
      <p:sp>
        <p:nvSpPr>
          <p:cNvPr id="10" name="Shape 7"/>
          <p:cNvSpPr/>
          <p:nvPr/>
        </p:nvSpPr>
        <p:spPr>
          <a:xfrm>
            <a:off x="548640" y="1874520"/>
            <a:ext cx="4206240" cy="1051560"/>
          </a:xfrm>
          <a:prstGeom prst="rect">
            <a:avLst/>
          </a:prstGeom>
          <a:solidFill>
            <a:srgbClr val="EFF5F6"/>
          </a:solidFill>
          <a:ln w="12700">
            <a:solidFill>
              <a:srgbClr val="EFF5F6"/>
            </a:solidFill>
            <a:prstDash val="solid"/>
          </a:ln>
        </p:spPr>
      </p:sp>
      <p:sp>
        <p:nvSpPr>
          <p:cNvPr id="11" name="Text 8"/>
          <p:cNvSpPr/>
          <p:nvPr/>
        </p:nvSpPr>
        <p:spPr>
          <a:xfrm>
            <a:off x="704088" y="1984248"/>
            <a:ext cx="3895344" cy="246888"/>
          </a:xfrm>
          <a:prstGeom prst="rect">
            <a:avLst/>
          </a:prstGeom>
          <a:noFill/>
          <a:ln/>
        </p:spPr>
        <p:txBody>
          <a:bodyPr wrap="square" lIns="0" tIns="0" rIns="0" bIns="0" rtlCol="0" anchor="ctr">
            <a:normAutofit/>
          </a:bodyPr>
          <a:lstStyle/>
          <a:p>
            <a:pPr indent="0" marL="0">
              <a:buNone/>
            </a:pPr>
            <a:r>
              <a:rPr lang="en-US" sz="1400" b="1" dirty="0">
                <a:solidFill>
                  <a:srgbClr val="11727B"/>
                </a:solidFill>
                <a:latin typeface="Aptos" pitchFamily="34" charset="0"/>
                <a:ea typeface="Aptos" pitchFamily="34" charset="-122"/>
                <a:cs typeface="Aptos" pitchFamily="34" charset="-120"/>
              </a:rPr>
              <a:t>INVARIANT</a:t>
            </a:r>
            <a:endParaRPr lang="en-US" sz="1400" dirty="0"/>
          </a:p>
        </p:txBody>
      </p:sp>
      <p:sp>
        <p:nvSpPr>
          <p:cNvPr id="12" name="Text 9"/>
          <p:cNvSpPr/>
          <p:nvPr/>
        </p:nvSpPr>
        <p:spPr>
          <a:xfrm>
            <a:off x="704088" y="2304288"/>
            <a:ext cx="3895344" cy="557784"/>
          </a:xfrm>
          <a:prstGeom prst="rect">
            <a:avLst/>
          </a:prstGeom>
          <a:noFill/>
          <a:ln/>
        </p:spPr>
        <p:txBody>
          <a:bodyPr wrap="square" lIns="0" tIns="0" rIns="0" bIns="0" rtlCol="0" anchor="ctr">
            <a:normAutofit/>
          </a:bodyPr>
          <a:lstStyle/>
          <a:p>
            <a:pPr indent="0" marL="0">
              <a:buNone/>
            </a:pPr>
            <a:r>
              <a:rPr lang="en-US" sz="1700" dirty="0">
                <a:solidFill>
                  <a:srgbClr val="162733"/>
                </a:solidFill>
                <a:latin typeface="Aptos" pitchFamily="34" charset="0"/>
                <a:ea typeface="Aptos" pitchFamily="34" charset="-122"/>
                <a:cs typeface="Aptos" pitchFamily="34" charset="-120"/>
              </a:rPr>
              <a:t>Logical rank model unchanged across raw, packed and density-target layouts.</a:t>
            </a:r>
            <a:endParaRPr lang="en-US" sz="1700" dirty="0"/>
          </a:p>
        </p:txBody>
      </p:sp>
      <p:sp>
        <p:nvSpPr>
          <p:cNvPr id="13" name="Shape 10"/>
          <p:cNvSpPr/>
          <p:nvPr/>
        </p:nvSpPr>
        <p:spPr>
          <a:xfrm>
            <a:off x="548640" y="3072384"/>
            <a:ext cx="4206240" cy="1051560"/>
          </a:xfrm>
          <a:prstGeom prst="rect">
            <a:avLst/>
          </a:prstGeom>
          <a:solidFill>
            <a:srgbClr val="EFF5F6"/>
          </a:solidFill>
          <a:ln w="12700">
            <a:solidFill>
              <a:srgbClr val="EFF5F6"/>
            </a:solidFill>
            <a:prstDash val="solid"/>
          </a:ln>
        </p:spPr>
      </p:sp>
      <p:sp>
        <p:nvSpPr>
          <p:cNvPr id="14" name="Text 11"/>
          <p:cNvSpPr/>
          <p:nvPr/>
        </p:nvSpPr>
        <p:spPr>
          <a:xfrm>
            <a:off x="704088" y="3182112"/>
            <a:ext cx="3895344" cy="246888"/>
          </a:xfrm>
          <a:prstGeom prst="rect">
            <a:avLst/>
          </a:prstGeom>
          <a:noFill/>
          <a:ln/>
        </p:spPr>
        <p:txBody>
          <a:bodyPr wrap="square" lIns="0" tIns="0" rIns="0" bIns="0" rtlCol="0" anchor="ctr">
            <a:normAutofit/>
          </a:bodyPr>
          <a:lstStyle/>
          <a:p>
            <a:pPr indent="0" marL="0">
              <a:buNone/>
            </a:pPr>
            <a:r>
              <a:rPr lang="en-US" sz="1400" b="1" dirty="0">
                <a:solidFill>
                  <a:srgbClr val="11727B"/>
                </a:solidFill>
                <a:latin typeface="Aptos" pitchFamily="34" charset="0"/>
                <a:ea typeface="Aptos" pitchFamily="34" charset="-122"/>
                <a:cs typeface="Aptos" pitchFamily="34" charset="-120"/>
              </a:rPr>
              <a:t>WHAT WE MEASURE</a:t>
            </a:r>
            <a:endParaRPr lang="en-US" sz="1400" dirty="0"/>
          </a:p>
        </p:txBody>
      </p:sp>
      <p:sp>
        <p:nvSpPr>
          <p:cNvPr id="15" name="Text 12"/>
          <p:cNvSpPr/>
          <p:nvPr/>
        </p:nvSpPr>
        <p:spPr>
          <a:xfrm>
            <a:off x="704088" y="3502152"/>
            <a:ext cx="3895344" cy="557784"/>
          </a:xfrm>
          <a:prstGeom prst="rect">
            <a:avLst/>
          </a:prstGeom>
          <a:noFill/>
          <a:ln/>
        </p:spPr>
        <p:txBody>
          <a:bodyPr wrap="square" lIns="0" tIns="0" rIns="0" bIns="0" rtlCol="0" anchor="ctr">
            <a:normAutofit/>
          </a:bodyPr>
          <a:lstStyle/>
          <a:p>
            <a:pPr indent="0" marL="0">
              <a:buNone/>
            </a:pPr>
            <a:r>
              <a:rPr lang="en-US" sz="1700" dirty="0">
                <a:solidFill>
                  <a:srgbClr val="162733"/>
                </a:solidFill>
                <a:latin typeface="Aptos" pitchFamily="34" charset="0"/>
                <a:ea typeface="Aptos" pitchFamily="34" charset="-122"/>
                <a:cs typeface="Aptos" pitchFamily="34" charset="-120"/>
              </a:rPr>
              <a:t>Encoded bytes, normalized fitting error, initial block displacement.</a:t>
            </a:r>
            <a:endParaRPr lang="en-US" sz="1700" dirty="0"/>
          </a:p>
        </p:txBody>
      </p:sp>
      <p:sp>
        <p:nvSpPr>
          <p:cNvPr id="16" name="Shape 13"/>
          <p:cNvSpPr/>
          <p:nvPr/>
        </p:nvSpPr>
        <p:spPr>
          <a:xfrm>
            <a:off x="548640" y="4270248"/>
            <a:ext cx="4206240" cy="1051560"/>
          </a:xfrm>
          <a:prstGeom prst="rect">
            <a:avLst/>
          </a:prstGeom>
          <a:solidFill>
            <a:srgbClr val="EFF5F6"/>
          </a:solidFill>
          <a:ln w="12700">
            <a:solidFill>
              <a:srgbClr val="EFF5F6"/>
            </a:solidFill>
            <a:prstDash val="solid"/>
          </a:ln>
        </p:spPr>
      </p:sp>
      <p:sp>
        <p:nvSpPr>
          <p:cNvPr id="17" name="Text 14"/>
          <p:cNvSpPr/>
          <p:nvPr/>
        </p:nvSpPr>
        <p:spPr>
          <a:xfrm>
            <a:off x="704088" y="4379976"/>
            <a:ext cx="3895344" cy="246888"/>
          </a:xfrm>
          <a:prstGeom prst="rect">
            <a:avLst/>
          </a:prstGeom>
          <a:noFill/>
          <a:ln/>
        </p:spPr>
        <p:txBody>
          <a:bodyPr wrap="square" lIns="0" tIns="0" rIns="0" bIns="0" rtlCol="0" anchor="ctr">
            <a:normAutofit/>
          </a:bodyPr>
          <a:lstStyle/>
          <a:p>
            <a:pPr indent="0" marL="0">
              <a:buNone/>
            </a:pPr>
            <a:r>
              <a:rPr lang="en-US" sz="1400" b="1" dirty="0">
                <a:solidFill>
                  <a:srgbClr val="11727B"/>
                </a:solidFill>
                <a:latin typeface="Aptos" pitchFamily="34" charset="0"/>
                <a:ea typeface="Aptos" pitchFamily="34" charset="-122"/>
                <a:cs typeface="Aptos" pitchFamily="34" charset="-120"/>
              </a:rPr>
              <a:t>OBSERVATION</a:t>
            </a:r>
            <a:endParaRPr lang="en-US" sz="1400" dirty="0"/>
          </a:p>
        </p:txBody>
      </p:sp>
      <p:sp>
        <p:nvSpPr>
          <p:cNvPr id="18" name="Text 15"/>
          <p:cNvSpPr/>
          <p:nvPr/>
        </p:nvSpPr>
        <p:spPr>
          <a:xfrm>
            <a:off x="704088" y="4700016"/>
            <a:ext cx="3895344" cy="557784"/>
          </a:xfrm>
          <a:prstGeom prst="rect">
            <a:avLst/>
          </a:prstGeom>
          <a:noFill/>
          <a:ln/>
        </p:spPr>
        <p:txBody>
          <a:bodyPr wrap="square" lIns="0" tIns="0" rIns="0" bIns="0" rtlCol="0" anchor="ctr">
            <a:normAutofit/>
          </a:bodyPr>
          <a:lstStyle/>
          <a:p>
            <a:pPr indent="0" marL="0">
              <a:buNone/>
            </a:pPr>
            <a:r>
              <a:rPr lang="en-US" sz="1700" dirty="0">
                <a:solidFill>
                  <a:srgbClr val="162733"/>
                </a:solidFill>
                <a:latin typeface="Aptos" pitchFamily="34" charset="0"/>
                <a:ea typeface="Aptos" pitchFamily="34" charset="-122"/>
                <a:cs typeface="Aptos" pitchFamily="34" charset="-120"/>
              </a:rPr>
              <a:t>Lower byte-fitting error did not imply lower block-search error here.</a:t>
            </a:r>
            <a:endParaRPr lang="en-US" sz="1700" dirty="0"/>
          </a:p>
        </p:txBody>
      </p:sp>
      <p:pic>
        <p:nvPicPr>
          <p:cNvPr id="19" name="Image 0" descr="/mnt/data/scaleli_sota/slides/figures/geometry.png">    </p:cNvPr>
          <p:cNvPicPr>
            <a:picLocks noChangeAspect="1"/>
          </p:cNvPicPr>
          <p:nvPr/>
        </p:nvPicPr>
        <p:blipFill>
          <a:blip r:embed="rId1"/>
          <a:stretch>
            <a:fillRect/>
          </a:stretch>
        </p:blipFill>
        <p:spPr>
          <a:xfrm>
            <a:off x="5029200" y="1948521"/>
            <a:ext cx="6537960" cy="3573607"/>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46888"/>
            <a:ext cx="10424160" cy="201168"/>
          </a:xfrm>
          <a:prstGeom prst="rect">
            <a:avLst/>
          </a:prstGeom>
          <a:noFill/>
          <a:ln/>
        </p:spPr>
        <p:txBody>
          <a:bodyPr wrap="square" lIns="0" tIns="0" rIns="0" bIns="0" rtlCol="0" anchor="ctr">
            <a:normAutofit/>
          </a:bodyPr>
          <a:lstStyle/>
          <a:p>
            <a:pPr indent="0" marL="0">
              <a:buNone/>
            </a:pPr>
            <a:r>
              <a:rPr lang="en-US" sz="1000" b="1" spc="110" kern="0" dirty="0">
                <a:solidFill>
                  <a:srgbClr val="11727B"/>
                </a:solidFill>
                <a:latin typeface="Aptos" pitchFamily="34" charset="0"/>
                <a:ea typeface="Aptos" pitchFamily="34" charset="-122"/>
                <a:cs typeface="Aptos" pitchFamily="34" charset="-120"/>
              </a:rPr>
              <a:t>MATCHED LOCAL UPDATE CONTROLS</a:t>
            </a:r>
            <a:endParaRPr lang="en-US" sz="1000" dirty="0"/>
          </a:p>
        </p:txBody>
      </p:sp>
      <p:sp>
        <p:nvSpPr>
          <p:cNvPr id="3" name="Text 1"/>
          <p:cNvSpPr/>
          <p:nvPr/>
        </p:nvSpPr>
        <p:spPr>
          <a:xfrm>
            <a:off x="548640" y="640080"/>
            <a:ext cx="11064240" cy="603504"/>
          </a:xfrm>
          <a:prstGeom prst="rect">
            <a:avLst/>
          </a:prstGeom>
          <a:noFill/>
          <a:ln/>
        </p:spPr>
        <p:txBody>
          <a:bodyPr wrap="square" lIns="0" tIns="0" rIns="0" bIns="0" rtlCol="0" anchor="ctr">
            <a:normAutofit/>
          </a:bodyPr>
          <a:lstStyle/>
          <a:p>
            <a:pPr indent="0" marL="0">
              <a:buNone/>
            </a:pPr>
            <a:r>
              <a:rPr lang="en-US" sz="3000" b="1" dirty="0">
                <a:solidFill>
                  <a:srgbClr val="162733"/>
                </a:solidFill>
                <a:latin typeface="Aptos Display" pitchFamily="34" charset="0"/>
                <a:ea typeface="Aptos Display" pitchFamily="34" charset="-122"/>
                <a:cs typeface="Aptos Display" pitchFamily="34" charset="-120"/>
              </a:rPr>
              <a:t>Updates expose another cost: rebuilding a region</a:t>
            </a:r>
            <a:endParaRPr lang="en-US" sz="3000" dirty="0"/>
          </a:p>
        </p:txBody>
      </p:sp>
      <p:sp>
        <p:nvSpPr>
          <p:cNvPr id="4" name="Text 2"/>
          <p:cNvSpPr/>
          <p:nvPr/>
        </p:nvSpPr>
        <p:spPr>
          <a:xfrm>
            <a:off x="548640" y="1280160"/>
            <a:ext cx="11064240" cy="420624"/>
          </a:xfrm>
          <a:prstGeom prst="rect">
            <a:avLst/>
          </a:prstGeom>
          <a:noFill/>
          <a:ln/>
        </p:spPr>
        <p:txBody>
          <a:bodyPr wrap="square" lIns="0" tIns="0" rIns="0" bIns="0" rtlCol="0" anchor="ctr">
            <a:normAutofit/>
          </a:bodyPr>
          <a:lstStyle/>
          <a:p>
            <a:pPr indent="0" marL="0">
              <a:buNone/>
            </a:pPr>
            <a:r>
              <a:rPr lang="en-US" sz="1600" dirty="0">
                <a:solidFill>
                  <a:srgbClr val="526571"/>
                </a:solidFill>
                <a:latin typeface="Aptos" pitchFamily="34" charset="0"/>
                <a:ea typeface="Aptos" pitchFamily="34" charset="-122"/>
                <a:cs typeface="Aptos" pitchFamily="34" charset="-120"/>
              </a:rPr>
              <a:t>A compression benefit must survive maintenance, not just the initial build.</a:t>
            </a:r>
            <a:endParaRPr lang="en-US" sz="1600" dirty="0"/>
          </a:p>
        </p:txBody>
      </p:sp>
      <p:sp>
        <p:nvSpPr>
          <p:cNvPr id="5" name="Shape 3"/>
          <p:cNvSpPr/>
          <p:nvPr/>
        </p:nvSpPr>
        <p:spPr>
          <a:xfrm>
            <a:off x="548640" y="6364224"/>
            <a:ext cx="11064240" cy="0"/>
          </a:xfrm>
          <a:prstGeom prst="line">
            <a:avLst/>
          </a:prstGeom>
          <a:noFill/>
          <a:ln w="12700">
            <a:solidFill>
              <a:srgbClr val="D9E3E6"/>
            </a:solidFill>
            <a:prstDash val="solid"/>
          </a:ln>
        </p:spPr>
      </p:sp>
      <p:sp>
        <p:nvSpPr>
          <p:cNvPr id="6" name="Text 4"/>
          <p:cNvSpPr/>
          <p:nvPr/>
        </p:nvSpPr>
        <p:spPr>
          <a:xfrm>
            <a:off x="548640" y="5934456"/>
            <a:ext cx="10424160" cy="292608"/>
          </a:xfrm>
          <a:prstGeom prst="rect">
            <a:avLst/>
          </a:prstGeom>
          <a:noFill/>
          <a:ln/>
        </p:spPr>
        <p:txBody>
          <a:bodyPr wrap="square" lIns="0" tIns="0" rIns="0" bIns="0" rtlCol="0" anchor="ctr">
            <a:normAutofit/>
          </a:bodyPr>
          <a:lstStyle/>
          <a:p>
            <a:pPr indent="0" marL="0">
              <a:buNone/>
            </a:pPr>
            <a:r>
              <a:rPr lang="en-US" sz="1400" dirty="0">
                <a:solidFill>
                  <a:srgbClr val="11727B"/>
                </a:solidFill>
                <a:latin typeface="Aptos Mono" pitchFamily="34" charset="0"/>
                <a:ea typeface="Aptos Mono" pitchFamily="34" charset="-122"/>
                <a:cs typeface="Aptos Mono" pitchFamily="34" charset="-120"/>
              </a:rPr>
              <a:t>L06   python3 walkthrough.py demo 06</a:t>
            </a:r>
            <a:endParaRPr lang="en-US" sz="1400" dirty="0"/>
          </a:p>
        </p:txBody>
      </p:sp>
      <p:sp>
        <p:nvSpPr>
          <p:cNvPr id="7" name="Text 5"/>
          <p:cNvSpPr/>
          <p:nvPr/>
        </p:nvSpPr>
        <p:spPr>
          <a:xfrm>
            <a:off x="548640" y="6464808"/>
            <a:ext cx="10607040" cy="192024"/>
          </a:xfrm>
          <a:prstGeom prst="rect">
            <a:avLst/>
          </a:prstGeom>
          <a:noFill/>
          <a:ln/>
        </p:spPr>
        <p:txBody>
          <a:bodyPr wrap="square" lIns="0" tIns="0" rIns="0" bIns="0" rtlCol="0" anchor="ctr">
            <a:normAutofit/>
          </a:bodyPr>
          <a:lstStyle/>
          <a:p>
            <a:pPr indent="0" marL="0">
              <a:buNone/>
            </a:pPr>
            <a:r>
              <a:rPr lang="en-US" sz="900" dirty="0">
                <a:solidFill>
                  <a:srgbClr val="526571"/>
                </a:solidFill>
                <a:latin typeface="Aptos" pitchFamily="34" charset="0"/>
                <a:ea typeface="Aptos" pitchFamily="34" charset="-122"/>
                <a:cs typeface="Aptos" pitchFamily="34" charset="-120"/>
              </a:rPr>
              <a:t>results/saved/06/updates_*.json • same trace; 75% initial load; read-heavy mix</a:t>
            </a:r>
            <a:endParaRPr lang="en-US" sz="900" dirty="0"/>
          </a:p>
        </p:txBody>
      </p:sp>
      <p:sp>
        <p:nvSpPr>
          <p:cNvPr id="8" name="Text 6"/>
          <p:cNvSpPr/>
          <p:nvPr/>
        </p:nvSpPr>
        <p:spPr>
          <a:xfrm>
            <a:off x="11082528" y="6446520"/>
            <a:ext cx="548640" cy="228600"/>
          </a:xfrm>
          <a:prstGeom prst="rect">
            <a:avLst/>
          </a:prstGeom>
          <a:noFill/>
          <a:ln/>
        </p:spPr>
        <p:txBody>
          <a:bodyPr wrap="square" lIns="0" tIns="0" rIns="0" bIns="0" rtlCol="0" anchor="ctr">
            <a:normAutofit/>
          </a:bodyPr>
          <a:lstStyle/>
          <a:p>
            <a:pPr algn="r" indent="0" marL="0">
              <a:buNone/>
            </a:pPr>
            <a:r>
              <a:rPr lang="en-US" sz="1100" dirty="0">
                <a:solidFill>
                  <a:srgbClr val="526571"/>
                </a:solidFill>
                <a:latin typeface="Aptos" pitchFamily="34" charset="0"/>
                <a:ea typeface="Aptos" pitchFamily="34" charset="-122"/>
                <a:cs typeface="Aptos" pitchFamily="34" charset="-120"/>
              </a:rPr>
              <a:t>17</a:t>
            </a:r>
            <a:endParaRPr lang="en-US" sz="1100" dirty="0"/>
          </a:p>
        </p:txBody>
      </p:sp>
      <p:sp>
        <p:nvSpPr>
          <p:cNvPr id="10" name="Shape 7"/>
          <p:cNvSpPr/>
          <p:nvPr/>
        </p:nvSpPr>
        <p:spPr>
          <a:xfrm>
            <a:off x="548640" y="1874520"/>
            <a:ext cx="4206240" cy="1051560"/>
          </a:xfrm>
          <a:prstGeom prst="rect">
            <a:avLst/>
          </a:prstGeom>
          <a:solidFill>
            <a:srgbClr val="EFF5F6"/>
          </a:solidFill>
          <a:ln w="12700">
            <a:solidFill>
              <a:srgbClr val="EFF5F6"/>
            </a:solidFill>
            <a:prstDash val="solid"/>
          </a:ln>
        </p:spPr>
      </p:sp>
      <p:sp>
        <p:nvSpPr>
          <p:cNvPr id="11" name="Text 8"/>
          <p:cNvSpPr/>
          <p:nvPr/>
        </p:nvSpPr>
        <p:spPr>
          <a:xfrm>
            <a:off x="704088" y="1984248"/>
            <a:ext cx="3895344" cy="246888"/>
          </a:xfrm>
          <a:prstGeom prst="rect">
            <a:avLst/>
          </a:prstGeom>
          <a:noFill/>
          <a:ln/>
        </p:spPr>
        <p:txBody>
          <a:bodyPr wrap="square" lIns="0" tIns="0" rIns="0" bIns="0" rtlCol="0" anchor="ctr">
            <a:normAutofit/>
          </a:bodyPr>
          <a:lstStyle/>
          <a:p>
            <a:pPr indent="0" marL="0">
              <a:buNone/>
            </a:pPr>
            <a:r>
              <a:rPr lang="en-US" sz="1400" b="1" dirty="0">
                <a:solidFill>
                  <a:srgbClr val="11727B"/>
                </a:solidFill>
                <a:latin typeface="Aptos" pitchFamily="34" charset="0"/>
                <a:ea typeface="Aptos" pitchFamily="34" charset="-122"/>
                <a:cs typeface="Aptos" pitchFamily="34" charset="-120"/>
              </a:rPr>
              <a:t>UPDATE PATH</a:t>
            </a:r>
            <a:endParaRPr lang="en-US" sz="1400" dirty="0"/>
          </a:p>
        </p:txBody>
      </p:sp>
      <p:sp>
        <p:nvSpPr>
          <p:cNvPr id="12" name="Text 9"/>
          <p:cNvSpPr/>
          <p:nvPr/>
        </p:nvSpPr>
        <p:spPr>
          <a:xfrm>
            <a:off x="704088" y="2304288"/>
            <a:ext cx="3895344" cy="557784"/>
          </a:xfrm>
          <a:prstGeom prst="rect">
            <a:avLst/>
          </a:prstGeom>
          <a:noFill/>
          <a:ln/>
        </p:spPr>
        <p:txBody>
          <a:bodyPr wrap="square" lIns="0" tIns="0" rIns="0" bIns="0" rtlCol="0" anchor="ctr">
            <a:normAutofit/>
          </a:bodyPr>
          <a:lstStyle/>
          <a:p>
            <a:pPr indent="0" marL="0">
              <a:buNone/>
            </a:pPr>
            <a:r>
              <a:rPr lang="en-US" sz="1700" dirty="0">
                <a:solidFill>
                  <a:srgbClr val="162733"/>
                </a:solidFill>
                <a:latin typeface="Aptos" pitchFamily="34" charset="0"/>
                <a:ea typeface="Aptos" pitchFamily="34" charset="-122"/>
                <a:cs typeface="Aptos" pitchFamily="34" charset="-120"/>
              </a:rPr>
              <a:t>Recent changes enter a sorted overlay. A full overlay triggers local rebuilding.</a:t>
            </a:r>
            <a:endParaRPr lang="en-US" sz="1700" dirty="0"/>
          </a:p>
        </p:txBody>
      </p:sp>
      <p:sp>
        <p:nvSpPr>
          <p:cNvPr id="13" name="Shape 10"/>
          <p:cNvSpPr/>
          <p:nvPr/>
        </p:nvSpPr>
        <p:spPr>
          <a:xfrm>
            <a:off x="548640" y="3072384"/>
            <a:ext cx="4206240" cy="1051560"/>
          </a:xfrm>
          <a:prstGeom prst="rect">
            <a:avLst/>
          </a:prstGeom>
          <a:solidFill>
            <a:srgbClr val="EFF5F6"/>
          </a:solidFill>
          <a:ln w="12700">
            <a:solidFill>
              <a:srgbClr val="EFF5F6"/>
            </a:solidFill>
            <a:prstDash val="solid"/>
          </a:ln>
        </p:spPr>
      </p:sp>
      <p:sp>
        <p:nvSpPr>
          <p:cNvPr id="14" name="Text 11"/>
          <p:cNvSpPr/>
          <p:nvPr/>
        </p:nvSpPr>
        <p:spPr>
          <a:xfrm>
            <a:off x="704088" y="3182112"/>
            <a:ext cx="3895344" cy="246888"/>
          </a:xfrm>
          <a:prstGeom prst="rect">
            <a:avLst/>
          </a:prstGeom>
          <a:noFill/>
          <a:ln/>
        </p:spPr>
        <p:txBody>
          <a:bodyPr wrap="square" lIns="0" tIns="0" rIns="0" bIns="0" rtlCol="0" anchor="ctr">
            <a:normAutofit/>
          </a:bodyPr>
          <a:lstStyle/>
          <a:p>
            <a:pPr indent="0" marL="0">
              <a:buNone/>
            </a:pPr>
            <a:r>
              <a:rPr lang="en-US" sz="1400" b="1" dirty="0">
                <a:solidFill>
                  <a:srgbClr val="11727B"/>
                </a:solidFill>
                <a:latin typeface="Aptos" pitchFamily="34" charset="0"/>
                <a:ea typeface="Aptos" pitchFamily="34" charset="-122"/>
                <a:cs typeface="Aptos" pitchFamily="34" charset="-120"/>
              </a:rPr>
              <a:t>FAIR CONTROL</a:t>
            </a:r>
            <a:endParaRPr lang="en-US" sz="1400" dirty="0"/>
          </a:p>
        </p:txBody>
      </p:sp>
      <p:sp>
        <p:nvSpPr>
          <p:cNvPr id="15" name="Text 12"/>
          <p:cNvSpPr/>
          <p:nvPr/>
        </p:nvSpPr>
        <p:spPr>
          <a:xfrm>
            <a:off x="704088" y="3502152"/>
            <a:ext cx="3895344" cy="557784"/>
          </a:xfrm>
          <a:prstGeom prst="rect">
            <a:avLst/>
          </a:prstGeom>
          <a:noFill/>
          <a:ln/>
        </p:spPr>
        <p:txBody>
          <a:bodyPr wrap="square" lIns="0" tIns="0" rIns="0" bIns="0" rtlCol="0" anchor="ctr">
            <a:normAutofit/>
          </a:bodyPr>
          <a:lstStyle/>
          <a:p>
            <a:pPr indent="0" marL="0">
              <a:buNone/>
            </a:pPr>
            <a:r>
              <a:rPr lang="en-US" sz="1700" dirty="0">
                <a:solidFill>
                  <a:srgbClr val="162733"/>
                </a:solidFill>
                <a:latin typeface="Aptos" pitchFamily="34" charset="0"/>
                <a:ea typeface="Aptos" pitchFamily="34" charset="-122"/>
                <a:cs typeface="Aptos" pitchFamily="34" charset="-120"/>
              </a:rPr>
              <a:t>Raw and compressed variants both perform maintenance on the same trace.</a:t>
            </a:r>
            <a:endParaRPr lang="en-US" sz="1700" dirty="0"/>
          </a:p>
        </p:txBody>
      </p:sp>
      <p:sp>
        <p:nvSpPr>
          <p:cNvPr id="16" name="Shape 13"/>
          <p:cNvSpPr/>
          <p:nvPr/>
        </p:nvSpPr>
        <p:spPr>
          <a:xfrm>
            <a:off x="548640" y="4270248"/>
            <a:ext cx="4206240" cy="1051560"/>
          </a:xfrm>
          <a:prstGeom prst="rect">
            <a:avLst/>
          </a:prstGeom>
          <a:solidFill>
            <a:srgbClr val="EFF5F6"/>
          </a:solidFill>
          <a:ln w="12700">
            <a:solidFill>
              <a:srgbClr val="EFF5F6"/>
            </a:solidFill>
            <a:prstDash val="solid"/>
          </a:ln>
        </p:spPr>
      </p:sp>
      <p:sp>
        <p:nvSpPr>
          <p:cNvPr id="17" name="Text 14"/>
          <p:cNvSpPr/>
          <p:nvPr/>
        </p:nvSpPr>
        <p:spPr>
          <a:xfrm>
            <a:off x="704088" y="4379976"/>
            <a:ext cx="3895344" cy="246888"/>
          </a:xfrm>
          <a:prstGeom prst="rect">
            <a:avLst/>
          </a:prstGeom>
          <a:noFill/>
          <a:ln/>
        </p:spPr>
        <p:txBody>
          <a:bodyPr wrap="square" lIns="0" tIns="0" rIns="0" bIns="0" rtlCol="0" anchor="ctr">
            <a:normAutofit/>
          </a:bodyPr>
          <a:lstStyle/>
          <a:p>
            <a:pPr indent="0" marL="0">
              <a:buNone/>
            </a:pPr>
            <a:r>
              <a:rPr lang="en-US" sz="1400" b="1" dirty="0">
                <a:solidFill>
                  <a:srgbClr val="11727B"/>
                </a:solidFill>
                <a:latin typeface="Aptos" pitchFamily="34" charset="0"/>
                <a:ea typeface="Aptos" pitchFamily="34" charset="-122"/>
                <a:cs typeface="Aptos" pitchFamily="34" charset="-120"/>
              </a:rPr>
              <a:t>QUESTION</a:t>
            </a:r>
            <a:endParaRPr lang="en-US" sz="1400" dirty="0"/>
          </a:p>
        </p:txBody>
      </p:sp>
      <p:sp>
        <p:nvSpPr>
          <p:cNvPr id="18" name="Text 15"/>
          <p:cNvSpPr/>
          <p:nvPr/>
        </p:nvSpPr>
        <p:spPr>
          <a:xfrm>
            <a:off x="704088" y="4700016"/>
            <a:ext cx="3895344" cy="557784"/>
          </a:xfrm>
          <a:prstGeom prst="rect">
            <a:avLst/>
          </a:prstGeom>
          <a:noFill/>
          <a:ln/>
        </p:spPr>
        <p:txBody>
          <a:bodyPr wrap="square" lIns="0" tIns="0" rIns="0" bIns="0" rtlCol="0" anchor="ctr">
            <a:normAutofit/>
          </a:bodyPr>
          <a:lstStyle/>
          <a:p>
            <a:pPr indent="0" marL="0">
              <a:buNone/>
            </a:pPr>
            <a:r>
              <a:rPr lang="en-US" sz="1700" dirty="0">
                <a:solidFill>
                  <a:srgbClr val="162733"/>
                </a:solidFill>
                <a:latin typeface="Aptos" pitchFamily="34" charset="0"/>
                <a:ea typeface="Aptos" pitchFamily="34" charset="-122"/>
                <a:cs typeface="Aptos" pitchFamily="34" charset="-120"/>
              </a:rPr>
              <a:t>Which cost comes from decoding, copying, allocation, fitting or rewriting?</a:t>
            </a:r>
            <a:endParaRPr lang="en-US" sz="1700" dirty="0"/>
          </a:p>
        </p:txBody>
      </p:sp>
      <p:pic>
        <p:nvPicPr>
          <p:cNvPr id="19" name="Image 0" descr="/mnt/data/scaleli_sota/slides/figures/updates.png">    </p:cNvPr>
          <p:cNvPicPr>
            <a:picLocks noChangeAspect="1"/>
          </p:cNvPicPr>
          <p:nvPr/>
        </p:nvPicPr>
        <p:blipFill>
          <a:blip r:embed="rId1"/>
          <a:stretch>
            <a:fillRect/>
          </a:stretch>
        </p:blipFill>
        <p:spPr>
          <a:xfrm>
            <a:off x="5029200" y="1948521"/>
            <a:ext cx="6537960" cy="3573607"/>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46888"/>
            <a:ext cx="10424160" cy="201168"/>
          </a:xfrm>
          <a:prstGeom prst="rect">
            <a:avLst/>
          </a:prstGeom>
          <a:noFill/>
          <a:ln/>
        </p:spPr>
        <p:txBody>
          <a:bodyPr wrap="square" lIns="0" tIns="0" rIns="0" bIns="0" rtlCol="0" anchor="ctr">
            <a:normAutofit/>
          </a:bodyPr>
          <a:lstStyle/>
          <a:p>
            <a:pPr indent="0" marL="0">
              <a:buNone/>
            </a:pPr>
            <a:r>
              <a:rPr lang="en-US" sz="1000" b="1" spc="110" kern="0" dirty="0">
                <a:solidFill>
                  <a:srgbClr val="11727B"/>
                </a:solidFill>
                <a:latin typeface="Aptos" pitchFamily="34" charset="0"/>
                <a:ea typeface="Aptos" pitchFamily="34" charset="-122"/>
                <a:cs typeface="Aptos" pitchFamily="34" charset="-120"/>
              </a:rPr>
              <a:t>LITERATURE • NOT LOCALLY REPRODUCED</a:t>
            </a:r>
            <a:endParaRPr lang="en-US" sz="1000" dirty="0"/>
          </a:p>
        </p:txBody>
      </p:sp>
      <p:sp>
        <p:nvSpPr>
          <p:cNvPr id="3" name="Text 1"/>
          <p:cNvSpPr/>
          <p:nvPr/>
        </p:nvSpPr>
        <p:spPr>
          <a:xfrm>
            <a:off x="548640" y="640080"/>
            <a:ext cx="11064240" cy="603504"/>
          </a:xfrm>
          <a:prstGeom prst="rect">
            <a:avLst/>
          </a:prstGeom>
          <a:noFill/>
          <a:ln/>
        </p:spPr>
        <p:txBody>
          <a:bodyPr wrap="square" lIns="0" tIns="0" rIns="0" bIns="0" rtlCol="0" anchor="ctr">
            <a:normAutofit/>
          </a:bodyPr>
          <a:lstStyle/>
          <a:p>
            <a:pPr indent="0" marL="0">
              <a:buNone/>
            </a:pPr>
            <a:r>
              <a:rPr lang="en-US" sz="3000" b="1" dirty="0">
                <a:solidFill>
                  <a:srgbClr val="162733"/>
                </a:solidFill>
                <a:latin typeface="Aptos Display" pitchFamily="34" charset="0"/>
                <a:ea typeface="Aptos Display" pitchFamily="34" charset="-122"/>
                <a:cs typeface="Aptos Display" pitchFamily="34" charset="-120"/>
              </a:rPr>
              <a:t>2025–26 · robustness is part of the baseline</a:t>
            </a:r>
            <a:endParaRPr lang="en-US" sz="3000" dirty="0"/>
          </a:p>
        </p:txBody>
      </p:sp>
      <p:sp>
        <p:nvSpPr>
          <p:cNvPr id="4" name="Text 2"/>
          <p:cNvSpPr/>
          <p:nvPr/>
        </p:nvSpPr>
        <p:spPr>
          <a:xfrm>
            <a:off x="548640" y="1280160"/>
            <a:ext cx="11064240" cy="420624"/>
          </a:xfrm>
          <a:prstGeom prst="rect">
            <a:avLst/>
          </a:prstGeom>
          <a:noFill/>
          <a:ln/>
        </p:spPr>
        <p:txBody>
          <a:bodyPr wrap="square" lIns="0" tIns="0" rIns="0" bIns="0" rtlCol="0" anchor="ctr">
            <a:normAutofit/>
          </a:bodyPr>
          <a:lstStyle/>
          <a:p>
            <a:pPr indent="0" marL="0">
              <a:buNone/>
            </a:pPr>
            <a:r>
              <a:rPr lang="en-US" sz="1600" dirty="0">
                <a:solidFill>
                  <a:srgbClr val="526571"/>
                </a:solidFill>
                <a:latin typeface="Aptos" pitchFamily="34" charset="0"/>
                <a:ea typeface="Aptos" pitchFamily="34" charset="-122"/>
                <a:cs typeface="Aptos" pitchFamily="34" charset="-120"/>
              </a:rPr>
              <a:t>Recent work reinforces the need to vary workloads and control maintenance tails.</a:t>
            </a:r>
            <a:endParaRPr lang="en-US" sz="1600" dirty="0"/>
          </a:p>
        </p:txBody>
      </p:sp>
      <p:sp>
        <p:nvSpPr>
          <p:cNvPr id="5" name="Shape 3"/>
          <p:cNvSpPr/>
          <p:nvPr/>
        </p:nvSpPr>
        <p:spPr>
          <a:xfrm>
            <a:off x="548640" y="6364224"/>
            <a:ext cx="11064240" cy="0"/>
          </a:xfrm>
          <a:prstGeom prst="line">
            <a:avLst/>
          </a:prstGeom>
          <a:noFill/>
          <a:ln w="12700">
            <a:solidFill>
              <a:srgbClr val="D9E3E6"/>
            </a:solidFill>
            <a:prstDash val="solid"/>
          </a:ln>
        </p:spPr>
      </p:sp>
      <p:sp>
        <p:nvSpPr>
          <p:cNvPr id="6" name="Text 4"/>
          <p:cNvSpPr/>
          <p:nvPr/>
        </p:nvSpPr>
        <p:spPr>
          <a:xfrm>
            <a:off x="548640" y="6464808"/>
            <a:ext cx="10607040" cy="192024"/>
          </a:xfrm>
          <a:prstGeom prst="rect">
            <a:avLst/>
          </a:prstGeom>
          <a:noFill/>
          <a:ln/>
        </p:spPr>
        <p:txBody>
          <a:bodyPr wrap="square" lIns="0" tIns="0" rIns="0" bIns="0" rtlCol="0" anchor="ctr">
            <a:normAutofit/>
          </a:bodyPr>
          <a:lstStyle/>
          <a:p>
            <a:pPr indent="0" marL="0">
              <a:buNone/>
            </a:pPr>
            <a:r>
              <a:rPr lang="en-US" sz="900" dirty="0">
                <a:solidFill>
                  <a:srgbClr val="526571"/>
                </a:solidFill>
                <a:latin typeface="Aptos" pitchFamily="34" charset="0"/>
                <a:ea typeface="Aptos" pitchFamily="34" charset="-122"/>
                <a:cs typeface="Aptos" pitchFamily="34" charset="-120"/>
              </a:rPr>
              <a:t>SEA 2025 comparison • RoBin, PACMMOD 2025 / SIGMOD context • LINE, SIGMOD 2026</a:t>
            </a:r>
            <a:endParaRPr lang="en-US" sz="900" dirty="0"/>
          </a:p>
        </p:txBody>
      </p:sp>
      <p:sp>
        <p:nvSpPr>
          <p:cNvPr id="7" name="Text 5"/>
          <p:cNvSpPr/>
          <p:nvPr/>
        </p:nvSpPr>
        <p:spPr>
          <a:xfrm>
            <a:off x="11082528" y="6446520"/>
            <a:ext cx="548640" cy="228600"/>
          </a:xfrm>
          <a:prstGeom prst="rect">
            <a:avLst/>
          </a:prstGeom>
          <a:noFill/>
          <a:ln/>
        </p:spPr>
        <p:txBody>
          <a:bodyPr wrap="square" lIns="0" tIns="0" rIns="0" bIns="0" rtlCol="0" anchor="ctr">
            <a:normAutofit/>
          </a:bodyPr>
          <a:lstStyle/>
          <a:p>
            <a:pPr algn="r" indent="0" marL="0">
              <a:buNone/>
            </a:pPr>
            <a:r>
              <a:rPr lang="en-US" sz="1100" dirty="0">
                <a:solidFill>
                  <a:srgbClr val="526571"/>
                </a:solidFill>
                <a:latin typeface="Aptos" pitchFamily="34" charset="0"/>
                <a:ea typeface="Aptos" pitchFamily="34" charset="-122"/>
                <a:cs typeface="Aptos" pitchFamily="34" charset="-120"/>
              </a:rPr>
              <a:t>18</a:t>
            </a:r>
            <a:endParaRPr lang="en-US" sz="1100" dirty="0"/>
          </a:p>
        </p:txBody>
      </p:sp>
      <p:sp>
        <p:nvSpPr>
          <p:cNvPr id="9" name="Shape 6"/>
          <p:cNvSpPr/>
          <p:nvPr/>
        </p:nvSpPr>
        <p:spPr>
          <a:xfrm>
            <a:off x="548640" y="2011680"/>
            <a:ext cx="3529584" cy="2286000"/>
          </a:xfrm>
          <a:prstGeom prst="rect">
            <a:avLst/>
          </a:prstGeom>
          <a:solidFill>
            <a:srgbClr val="EFF5F6"/>
          </a:solidFill>
          <a:ln w="12700">
            <a:solidFill>
              <a:srgbClr val="EFF5F6"/>
            </a:solidFill>
            <a:prstDash val="solid"/>
          </a:ln>
        </p:spPr>
      </p:sp>
      <p:sp>
        <p:nvSpPr>
          <p:cNvPr id="10" name="Text 7"/>
          <p:cNvSpPr/>
          <p:nvPr/>
        </p:nvSpPr>
        <p:spPr>
          <a:xfrm>
            <a:off x="704088" y="2121408"/>
            <a:ext cx="3218688" cy="246888"/>
          </a:xfrm>
          <a:prstGeom prst="rect">
            <a:avLst/>
          </a:prstGeom>
          <a:noFill/>
          <a:ln/>
        </p:spPr>
        <p:txBody>
          <a:bodyPr wrap="square" lIns="0" tIns="0" rIns="0" bIns="0" rtlCol="0" anchor="ctr">
            <a:normAutofit/>
          </a:bodyPr>
          <a:lstStyle/>
          <a:p>
            <a:pPr indent="0" marL="0">
              <a:buNone/>
            </a:pPr>
            <a:r>
              <a:rPr lang="en-US" sz="1400" b="1" dirty="0">
                <a:solidFill>
                  <a:srgbClr val="11727B"/>
                </a:solidFill>
                <a:latin typeface="Aptos" pitchFamily="34" charset="0"/>
                <a:ea typeface="Aptos" pitchFamily="34" charset="-122"/>
                <a:cs typeface="Aptos" pitchFamily="34" charset="-120"/>
              </a:rPr>
              <a:t>STRONG CONTROLS</a:t>
            </a:r>
            <a:endParaRPr lang="en-US" sz="1400" dirty="0"/>
          </a:p>
        </p:txBody>
      </p:sp>
      <p:sp>
        <p:nvSpPr>
          <p:cNvPr id="11" name="Text 8"/>
          <p:cNvSpPr/>
          <p:nvPr/>
        </p:nvSpPr>
        <p:spPr>
          <a:xfrm>
            <a:off x="704088" y="2441448"/>
            <a:ext cx="3218688" cy="1792224"/>
          </a:xfrm>
          <a:prstGeom prst="rect">
            <a:avLst/>
          </a:prstGeom>
          <a:noFill/>
          <a:ln/>
        </p:spPr>
        <p:txBody>
          <a:bodyPr wrap="square" lIns="0" tIns="0" rIns="0" bIns="0" rtlCol="0" anchor="ctr">
            <a:normAutofit/>
          </a:bodyPr>
          <a:lstStyle/>
          <a:p>
            <a:pPr indent="0" marL="0">
              <a:buNone/>
            </a:pPr>
            <a:r>
              <a:rPr lang="en-US" sz="1700" dirty="0">
                <a:solidFill>
                  <a:srgbClr val="162733"/>
                </a:solidFill>
                <a:latin typeface="Aptos" pitchFamily="34" charset="0"/>
                <a:ea typeface="Aptos" pitchFamily="34" charset="-122"/>
                <a:cs typeface="Aptos" pitchFamily="34" charset="-120"/>
              </a:rPr>
              <a:t>Compare against optimized traditional and compressed representations.</a:t>
            </a:r>
            <a:endParaRPr lang="en-US" sz="1700" dirty="0"/>
          </a:p>
        </p:txBody>
      </p:sp>
      <p:sp>
        <p:nvSpPr>
          <p:cNvPr id="12" name="Shape 9"/>
          <p:cNvSpPr/>
          <p:nvPr/>
        </p:nvSpPr>
        <p:spPr>
          <a:xfrm>
            <a:off x="4334256" y="2011680"/>
            <a:ext cx="3529584" cy="2286000"/>
          </a:xfrm>
          <a:prstGeom prst="rect">
            <a:avLst/>
          </a:prstGeom>
          <a:solidFill>
            <a:srgbClr val="EFF5F6"/>
          </a:solidFill>
          <a:ln w="12700">
            <a:solidFill>
              <a:srgbClr val="EFF5F6"/>
            </a:solidFill>
            <a:prstDash val="solid"/>
          </a:ln>
        </p:spPr>
      </p:sp>
      <p:sp>
        <p:nvSpPr>
          <p:cNvPr id="13" name="Text 10"/>
          <p:cNvSpPr/>
          <p:nvPr/>
        </p:nvSpPr>
        <p:spPr>
          <a:xfrm>
            <a:off x="4489704" y="2121408"/>
            <a:ext cx="3218688" cy="246888"/>
          </a:xfrm>
          <a:prstGeom prst="rect">
            <a:avLst/>
          </a:prstGeom>
          <a:noFill/>
          <a:ln/>
        </p:spPr>
        <p:txBody>
          <a:bodyPr wrap="square" lIns="0" tIns="0" rIns="0" bIns="0" rtlCol="0" anchor="ctr">
            <a:normAutofit/>
          </a:bodyPr>
          <a:lstStyle/>
          <a:p>
            <a:pPr indent="0" marL="0">
              <a:buNone/>
            </a:pPr>
            <a:r>
              <a:rPr lang="en-US" sz="1400" b="1" dirty="0">
                <a:solidFill>
                  <a:srgbClr val="11727B"/>
                </a:solidFill>
                <a:latin typeface="Aptos" pitchFamily="34" charset="0"/>
                <a:ea typeface="Aptos" pitchFamily="34" charset="-122"/>
                <a:cs typeface="Aptos" pitchFamily="34" charset="-120"/>
              </a:rPr>
              <a:t>ROBUSTNESS GRID</a:t>
            </a:r>
            <a:endParaRPr lang="en-US" sz="1400" dirty="0"/>
          </a:p>
        </p:txBody>
      </p:sp>
      <p:sp>
        <p:nvSpPr>
          <p:cNvPr id="14" name="Text 11"/>
          <p:cNvSpPr/>
          <p:nvPr/>
        </p:nvSpPr>
        <p:spPr>
          <a:xfrm>
            <a:off x="4489704" y="2441448"/>
            <a:ext cx="3218688" cy="1792224"/>
          </a:xfrm>
          <a:prstGeom prst="rect">
            <a:avLst/>
          </a:prstGeom>
          <a:noFill/>
          <a:ln/>
        </p:spPr>
        <p:txBody>
          <a:bodyPr wrap="square" lIns="0" tIns="0" rIns="0" bIns="0" rtlCol="0" anchor="ctr">
            <a:normAutofit/>
          </a:bodyPr>
          <a:lstStyle/>
          <a:p>
            <a:pPr indent="0" marL="0">
              <a:buNone/>
            </a:pPr>
            <a:r>
              <a:rPr lang="en-US" sz="1700" dirty="0">
                <a:solidFill>
                  <a:srgbClr val="162733"/>
                </a:solidFill>
                <a:latin typeface="Aptos" pitchFamily="34" charset="0"/>
                <a:ea typeface="Aptos" pitchFamily="34" charset="-122"/>
                <a:cs typeface="Aptos" pitchFamily="34" charset="-120"/>
              </a:rPr>
              <a:t>Vary initial sampling, initial size, insertion order and domain growth.</a:t>
            </a:r>
            <a:endParaRPr lang="en-US" sz="1700" dirty="0"/>
          </a:p>
        </p:txBody>
      </p:sp>
      <p:sp>
        <p:nvSpPr>
          <p:cNvPr id="15" name="Shape 12"/>
          <p:cNvSpPr/>
          <p:nvPr/>
        </p:nvSpPr>
        <p:spPr>
          <a:xfrm>
            <a:off x="8119872" y="2011680"/>
            <a:ext cx="3529584" cy="2286000"/>
          </a:xfrm>
          <a:prstGeom prst="rect">
            <a:avLst/>
          </a:prstGeom>
          <a:solidFill>
            <a:srgbClr val="EFF5F6"/>
          </a:solidFill>
          <a:ln w="12700">
            <a:solidFill>
              <a:srgbClr val="EFF5F6"/>
            </a:solidFill>
            <a:prstDash val="solid"/>
          </a:ln>
        </p:spPr>
      </p:sp>
      <p:sp>
        <p:nvSpPr>
          <p:cNvPr id="16" name="Text 13"/>
          <p:cNvSpPr/>
          <p:nvPr/>
        </p:nvSpPr>
        <p:spPr>
          <a:xfrm>
            <a:off x="8275320" y="2121408"/>
            <a:ext cx="3218688" cy="246888"/>
          </a:xfrm>
          <a:prstGeom prst="rect">
            <a:avLst/>
          </a:prstGeom>
          <a:noFill/>
          <a:ln/>
        </p:spPr>
        <p:txBody>
          <a:bodyPr wrap="square" lIns="0" tIns="0" rIns="0" bIns="0" rtlCol="0" anchor="ctr">
            <a:normAutofit/>
          </a:bodyPr>
          <a:lstStyle/>
          <a:p>
            <a:pPr indent="0" marL="0">
              <a:buNone/>
            </a:pPr>
            <a:r>
              <a:rPr lang="en-US" sz="1400" b="1" dirty="0">
                <a:solidFill>
                  <a:srgbClr val="11727B"/>
                </a:solidFill>
                <a:latin typeface="Aptos" pitchFamily="34" charset="0"/>
                <a:ea typeface="Aptos" pitchFamily="34" charset="-122"/>
                <a:cs typeface="Aptos" pitchFamily="34" charset="-120"/>
              </a:rPr>
              <a:t>MAINTENANCE</a:t>
            </a:r>
            <a:endParaRPr lang="en-US" sz="1400" dirty="0"/>
          </a:p>
        </p:txBody>
      </p:sp>
      <p:sp>
        <p:nvSpPr>
          <p:cNvPr id="17" name="Text 14"/>
          <p:cNvSpPr/>
          <p:nvPr/>
        </p:nvSpPr>
        <p:spPr>
          <a:xfrm>
            <a:off x="8275320" y="2441448"/>
            <a:ext cx="3218688" cy="1792224"/>
          </a:xfrm>
          <a:prstGeom prst="rect">
            <a:avLst/>
          </a:prstGeom>
          <a:noFill/>
          <a:ln/>
        </p:spPr>
        <p:txBody>
          <a:bodyPr wrap="square" lIns="0" tIns="0" rIns="0" bIns="0" rtlCol="0" anchor="ctr">
            <a:normAutofit/>
          </a:bodyPr>
          <a:lstStyle/>
          <a:p>
            <a:pPr indent="0" marL="0">
              <a:buNone/>
            </a:pPr>
            <a:r>
              <a:rPr lang="en-US" sz="1700" dirty="0">
                <a:solidFill>
                  <a:srgbClr val="162733"/>
                </a:solidFill>
                <a:latin typeface="Aptos" pitchFamily="34" charset="0"/>
                <a:ea typeface="Aptos" pitchFamily="34" charset="-122"/>
                <a:cs typeface="Aptos" pitchFamily="34" charset="-120"/>
              </a:rPr>
              <a:t>LINE decomposes lengthy structural changes into group-wise migrations.</a:t>
            </a:r>
            <a:endParaRPr lang="en-US" sz="1700" dirty="0"/>
          </a:p>
        </p:txBody>
      </p:sp>
      <p:sp>
        <p:nvSpPr>
          <p:cNvPr id="18" name="Text 15"/>
          <p:cNvSpPr/>
          <p:nvPr/>
        </p:nvSpPr>
        <p:spPr>
          <a:xfrm>
            <a:off x="594360" y="4892040"/>
            <a:ext cx="10789920" cy="640080"/>
          </a:xfrm>
          <a:prstGeom prst="rect">
            <a:avLst/>
          </a:prstGeom>
          <a:noFill/>
          <a:ln/>
        </p:spPr>
        <p:txBody>
          <a:bodyPr wrap="square" lIns="0" tIns="0" rIns="0" bIns="0" rtlCol="0" anchor="ctr">
            <a:normAutofit/>
          </a:bodyPr>
          <a:lstStyle/>
          <a:p>
            <a:pPr indent="0" marL="0">
              <a:buNone/>
            </a:pPr>
            <a:r>
              <a:rPr lang="en-US" sz="2300" b="1" dirty="0">
                <a:solidFill>
                  <a:srgbClr val="162733"/>
                </a:solidFill>
                <a:latin typeface="Aptos" pitchFamily="34" charset="0"/>
                <a:ea typeface="Aptos" pitchFamily="34" charset="-122"/>
                <a:cs typeface="Aptos" pitchFamily="34" charset="-120"/>
              </a:rPr>
              <a:t>Do not infer a universal ranking from a favorable read-only dataset.</a:t>
            </a:r>
            <a:endParaRPr lang="en-US" sz="2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46888"/>
            <a:ext cx="10424160" cy="201168"/>
          </a:xfrm>
          <a:prstGeom prst="rect">
            <a:avLst/>
          </a:prstGeom>
          <a:noFill/>
          <a:ln/>
        </p:spPr>
        <p:txBody>
          <a:bodyPr wrap="square" lIns="0" tIns="0" rIns="0" bIns="0" rtlCol="0" anchor="ctr">
            <a:normAutofit/>
          </a:bodyPr>
          <a:lstStyle/>
          <a:p>
            <a:pPr indent="0" marL="0">
              <a:buNone/>
            </a:pPr>
            <a:r>
              <a:rPr lang="en-US" sz="1000" b="1" spc="110" kern="0" dirty="0">
                <a:solidFill>
                  <a:srgbClr val="11727B"/>
                </a:solidFill>
                <a:latin typeface="Aptos" pitchFamily="34" charset="0"/>
                <a:ea typeface="Aptos" pitchFamily="34" charset="-122"/>
                <a:cs typeface="Aptos" pitchFamily="34" charset="-120"/>
              </a:rPr>
              <a:t>IMPLEMENTATION STATUS</a:t>
            </a:r>
            <a:endParaRPr lang="en-US" sz="1000" dirty="0"/>
          </a:p>
        </p:txBody>
      </p:sp>
      <p:sp>
        <p:nvSpPr>
          <p:cNvPr id="3" name="Text 1"/>
          <p:cNvSpPr/>
          <p:nvPr/>
        </p:nvSpPr>
        <p:spPr>
          <a:xfrm>
            <a:off x="548640" y="640080"/>
            <a:ext cx="11064240" cy="603504"/>
          </a:xfrm>
          <a:prstGeom prst="rect">
            <a:avLst/>
          </a:prstGeom>
          <a:noFill/>
          <a:ln/>
        </p:spPr>
        <p:txBody>
          <a:bodyPr wrap="square" lIns="0" tIns="0" rIns="0" bIns="0" rtlCol="0" anchor="ctr">
            <a:normAutofit/>
          </a:bodyPr>
          <a:lstStyle/>
          <a:p>
            <a:pPr indent="0" marL="0">
              <a:buNone/>
            </a:pPr>
            <a:r>
              <a:rPr lang="en-US" sz="3000" b="1" dirty="0">
                <a:solidFill>
                  <a:srgbClr val="162733"/>
                </a:solidFill>
                <a:latin typeface="Aptos Display" pitchFamily="34" charset="0"/>
                <a:ea typeface="Aptos Display" pitchFamily="34" charset="-122"/>
                <a:cs typeface="Aptos Display" pitchFamily="34" charset="-120"/>
              </a:rPr>
              <a:t>What is ready — and what still needs reproduction</a:t>
            </a:r>
            <a:endParaRPr lang="en-US" sz="3000" dirty="0"/>
          </a:p>
        </p:txBody>
      </p:sp>
      <p:sp>
        <p:nvSpPr>
          <p:cNvPr id="4" name="Text 2"/>
          <p:cNvSpPr/>
          <p:nvPr/>
        </p:nvSpPr>
        <p:spPr>
          <a:xfrm>
            <a:off x="548640" y="1280160"/>
            <a:ext cx="11064240" cy="420624"/>
          </a:xfrm>
          <a:prstGeom prst="rect">
            <a:avLst/>
          </a:prstGeom>
          <a:noFill/>
          <a:ln/>
        </p:spPr>
        <p:txBody>
          <a:bodyPr wrap="square" lIns="0" tIns="0" rIns="0" bIns="0" rtlCol="0" anchor="ctr">
            <a:normAutofit/>
          </a:bodyPr>
          <a:lstStyle/>
          <a:p>
            <a:pPr indent="0" marL="0">
              <a:buNone/>
            </a:pPr>
            <a:r>
              <a:rPr lang="en-US" sz="1600" dirty="0">
                <a:solidFill>
                  <a:srgbClr val="526571"/>
                </a:solidFill>
                <a:latin typeface="Aptos" pitchFamily="34" charset="0"/>
                <a:ea typeface="Aptos" pitchFamily="34" charset="-122"/>
                <a:cs typeface="Aptos" pitchFamily="34" charset="-120"/>
              </a:rPr>
              <a:t>A transparent baseline plan is stronger than overstating coverage.</a:t>
            </a:r>
            <a:endParaRPr lang="en-US" sz="1600" dirty="0"/>
          </a:p>
        </p:txBody>
      </p:sp>
      <p:sp>
        <p:nvSpPr>
          <p:cNvPr id="5" name="Shape 3"/>
          <p:cNvSpPr/>
          <p:nvPr/>
        </p:nvSpPr>
        <p:spPr>
          <a:xfrm>
            <a:off x="548640" y="6364224"/>
            <a:ext cx="11064240" cy="0"/>
          </a:xfrm>
          <a:prstGeom prst="line">
            <a:avLst/>
          </a:prstGeom>
          <a:noFill/>
          <a:ln w="12700">
            <a:solidFill>
              <a:srgbClr val="D9E3E6"/>
            </a:solidFill>
            <a:prstDash val="solid"/>
          </a:ln>
        </p:spPr>
      </p:sp>
      <p:sp>
        <p:nvSpPr>
          <p:cNvPr id="6" name="Text 4"/>
          <p:cNvSpPr/>
          <p:nvPr/>
        </p:nvSpPr>
        <p:spPr>
          <a:xfrm>
            <a:off x="548640" y="6464808"/>
            <a:ext cx="10607040" cy="192024"/>
          </a:xfrm>
          <a:prstGeom prst="rect">
            <a:avLst/>
          </a:prstGeom>
          <a:noFill/>
          <a:ln/>
        </p:spPr>
        <p:txBody>
          <a:bodyPr wrap="square" lIns="0" tIns="0" rIns="0" bIns="0" rtlCol="0" anchor="ctr">
            <a:normAutofit/>
          </a:bodyPr>
          <a:lstStyle/>
          <a:p>
            <a:pPr indent="0" marL="0">
              <a:buNone/>
            </a:pPr>
            <a:r>
              <a:rPr lang="en-US" sz="900" dirty="0">
                <a:solidFill>
                  <a:srgbClr val="526571"/>
                </a:solidFill>
                <a:latin typeface="Aptos" pitchFamily="34" charset="0"/>
                <a:ea typeface="Aptos" pitchFamily="34" charset="-122"/>
                <a:cs typeface="Aptos" pitchFamily="34" charset="-120"/>
              </a:rPr>
              <a:t>docs/APPROACHES.md • evidence/VALIDATION.md</a:t>
            </a:r>
            <a:endParaRPr lang="en-US" sz="900" dirty="0"/>
          </a:p>
        </p:txBody>
      </p:sp>
      <p:sp>
        <p:nvSpPr>
          <p:cNvPr id="7" name="Text 5"/>
          <p:cNvSpPr/>
          <p:nvPr/>
        </p:nvSpPr>
        <p:spPr>
          <a:xfrm>
            <a:off x="11082528" y="6446520"/>
            <a:ext cx="548640" cy="228600"/>
          </a:xfrm>
          <a:prstGeom prst="rect">
            <a:avLst/>
          </a:prstGeom>
          <a:noFill/>
          <a:ln/>
        </p:spPr>
        <p:txBody>
          <a:bodyPr wrap="square" lIns="0" tIns="0" rIns="0" bIns="0" rtlCol="0" anchor="ctr">
            <a:normAutofit/>
          </a:bodyPr>
          <a:lstStyle/>
          <a:p>
            <a:pPr algn="r" indent="0" marL="0">
              <a:buNone/>
            </a:pPr>
            <a:r>
              <a:rPr lang="en-US" sz="1100" dirty="0">
                <a:solidFill>
                  <a:srgbClr val="526571"/>
                </a:solidFill>
                <a:latin typeface="Aptos" pitchFamily="34" charset="0"/>
                <a:ea typeface="Aptos" pitchFamily="34" charset="-122"/>
                <a:cs typeface="Aptos" pitchFamily="34" charset="-120"/>
              </a:rPr>
              <a:t>19</a:t>
            </a:r>
            <a:endParaRPr lang="en-US" sz="1100" dirty="0"/>
          </a:p>
        </p:txBody>
      </p:sp>
      <p:sp>
        <p:nvSpPr>
          <p:cNvPr id="9" name="Shape 6"/>
          <p:cNvSpPr/>
          <p:nvPr/>
        </p:nvSpPr>
        <p:spPr>
          <a:xfrm>
            <a:off x="548640" y="1828800"/>
            <a:ext cx="5577840" cy="704088"/>
          </a:xfrm>
          <a:prstGeom prst="rect">
            <a:avLst/>
          </a:prstGeom>
          <a:solidFill>
            <a:srgbClr val="112C39"/>
          </a:solidFill>
          <a:ln w="12700">
            <a:solidFill>
              <a:srgbClr val="FFFFFF"/>
            </a:solidFill>
            <a:prstDash val="solid"/>
          </a:ln>
        </p:spPr>
      </p:sp>
      <p:sp>
        <p:nvSpPr>
          <p:cNvPr id="10" name="Text 7"/>
          <p:cNvSpPr/>
          <p:nvPr/>
        </p:nvSpPr>
        <p:spPr>
          <a:xfrm>
            <a:off x="658368" y="1938528"/>
            <a:ext cx="5358384" cy="566928"/>
          </a:xfrm>
          <a:prstGeom prst="rect">
            <a:avLst/>
          </a:prstGeom>
          <a:noFill/>
          <a:ln/>
        </p:spPr>
        <p:txBody>
          <a:bodyPr wrap="square" lIns="0" tIns="0" rIns="0" bIns="0" rtlCol="0" anchor="ctr">
            <a:normAutofit/>
          </a:bodyPr>
          <a:lstStyle/>
          <a:p>
            <a:pPr indent="0" marL="0">
              <a:buNone/>
            </a:pPr>
            <a:r>
              <a:rPr lang="en-US" sz="1700" b="1" dirty="0">
                <a:solidFill>
                  <a:srgbClr val="FFFFFF"/>
                </a:solidFill>
                <a:latin typeface="Aptos" pitchFamily="34" charset="0"/>
                <a:ea typeface="Aptos" pitchFamily="34" charset="-122"/>
                <a:cs typeface="Aptos" pitchFamily="34" charset="-120"/>
              </a:rPr>
              <a:t>Ready now</a:t>
            </a:r>
            <a:endParaRPr lang="en-US" sz="1700" dirty="0"/>
          </a:p>
        </p:txBody>
      </p:sp>
      <p:sp>
        <p:nvSpPr>
          <p:cNvPr id="11" name="Shape 8"/>
          <p:cNvSpPr/>
          <p:nvPr/>
        </p:nvSpPr>
        <p:spPr>
          <a:xfrm>
            <a:off x="6126480" y="1828800"/>
            <a:ext cx="5486400" cy="704088"/>
          </a:xfrm>
          <a:prstGeom prst="rect">
            <a:avLst/>
          </a:prstGeom>
          <a:solidFill>
            <a:srgbClr val="112C39"/>
          </a:solidFill>
          <a:ln w="12700">
            <a:solidFill>
              <a:srgbClr val="FFFFFF"/>
            </a:solidFill>
            <a:prstDash val="solid"/>
          </a:ln>
        </p:spPr>
      </p:sp>
      <p:sp>
        <p:nvSpPr>
          <p:cNvPr id="12" name="Text 9"/>
          <p:cNvSpPr/>
          <p:nvPr/>
        </p:nvSpPr>
        <p:spPr>
          <a:xfrm>
            <a:off x="6236208" y="1938528"/>
            <a:ext cx="5266944" cy="566928"/>
          </a:xfrm>
          <a:prstGeom prst="rect">
            <a:avLst/>
          </a:prstGeom>
          <a:noFill/>
          <a:ln/>
        </p:spPr>
        <p:txBody>
          <a:bodyPr wrap="square" lIns="0" tIns="0" rIns="0" bIns="0" rtlCol="0" anchor="ctr">
            <a:normAutofit/>
          </a:bodyPr>
          <a:lstStyle/>
          <a:p>
            <a:pPr indent="0" marL="0">
              <a:buNone/>
            </a:pPr>
            <a:r>
              <a:rPr lang="en-US" sz="1700" b="1" dirty="0">
                <a:solidFill>
                  <a:srgbClr val="FFFFFF"/>
                </a:solidFill>
                <a:latin typeface="Aptos" pitchFamily="34" charset="0"/>
                <a:ea typeface="Aptos" pitchFamily="34" charset="-122"/>
                <a:cs typeface="Aptos" pitchFamily="34" charset="-120"/>
              </a:rPr>
              <a:t>Not yet established</a:t>
            </a:r>
            <a:endParaRPr lang="en-US" sz="1700" dirty="0"/>
          </a:p>
        </p:txBody>
      </p:sp>
      <p:sp>
        <p:nvSpPr>
          <p:cNvPr id="13" name="Shape 10"/>
          <p:cNvSpPr/>
          <p:nvPr/>
        </p:nvSpPr>
        <p:spPr>
          <a:xfrm>
            <a:off x="548640" y="2532888"/>
            <a:ext cx="5577840" cy="704088"/>
          </a:xfrm>
          <a:prstGeom prst="rect">
            <a:avLst/>
          </a:prstGeom>
          <a:solidFill>
            <a:srgbClr val="EFF5F6"/>
          </a:solidFill>
          <a:ln w="6350">
            <a:solidFill>
              <a:srgbClr val="D9E3E6"/>
            </a:solidFill>
            <a:prstDash val="solid"/>
          </a:ln>
        </p:spPr>
      </p:sp>
      <p:sp>
        <p:nvSpPr>
          <p:cNvPr id="14" name="Text 11"/>
          <p:cNvSpPr/>
          <p:nvPr/>
        </p:nvSpPr>
        <p:spPr>
          <a:xfrm>
            <a:off x="658368" y="2633472"/>
            <a:ext cx="5358384" cy="548640"/>
          </a:xfrm>
          <a:prstGeom prst="rect">
            <a:avLst/>
          </a:prstGeom>
          <a:noFill/>
          <a:ln/>
        </p:spPr>
        <p:txBody>
          <a:bodyPr wrap="square" lIns="0" tIns="0" rIns="0" bIns="0" rtlCol="0" anchor="ctr">
            <a:normAutofit/>
          </a:bodyPr>
          <a:lstStyle/>
          <a:p>
            <a:pPr indent="0" marL="0">
              <a:buNone/>
            </a:pPr>
            <a:r>
              <a:rPr lang="en-US" sz="1700" dirty="0">
                <a:solidFill>
                  <a:srgbClr val="162733"/>
                </a:solidFill>
                <a:latin typeface="Aptos" pitchFamily="34" charset="0"/>
                <a:ea typeface="Aptos" pitchFamily="34" charset="-122"/>
                <a:cs typeface="Aptos" pitchFamily="34" charset="-120"/>
              </a:rPr>
              <a:t>Chronological deck + traceable paper evidence</a:t>
            </a:r>
            <a:endParaRPr lang="en-US" sz="1700" dirty="0"/>
          </a:p>
        </p:txBody>
      </p:sp>
      <p:sp>
        <p:nvSpPr>
          <p:cNvPr id="15" name="Shape 12"/>
          <p:cNvSpPr/>
          <p:nvPr/>
        </p:nvSpPr>
        <p:spPr>
          <a:xfrm>
            <a:off x="6126480" y="2532888"/>
            <a:ext cx="5486400" cy="704088"/>
          </a:xfrm>
          <a:prstGeom prst="rect">
            <a:avLst/>
          </a:prstGeom>
          <a:solidFill>
            <a:srgbClr val="EFF5F6"/>
          </a:solidFill>
          <a:ln w="6350">
            <a:solidFill>
              <a:srgbClr val="D9E3E6"/>
            </a:solidFill>
            <a:prstDash val="solid"/>
          </a:ln>
        </p:spPr>
      </p:sp>
      <p:sp>
        <p:nvSpPr>
          <p:cNvPr id="16" name="Text 13"/>
          <p:cNvSpPr/>
          <p:nvPr/>
        </p:nvSpPr>
        <p:spPr>
          <a:xfrm>
            <a:off x="6236208" y="2633472"/>
            <a:ext cx="5266944" cy="548640"/>
          </a:xfrm>
          <a:prstGeom prst="rect">
            <a:avLst/>
          </a:prstGeom>
          <a:noFill/>
          <a:ln/>
        </p:spPr>
        <p:txBody>
          <a:bodyPr wrap="square" lIns="0" tIns="0" rIns="0" bIns="0" rtlCol="0" anchor="ctr">
            <a:normAutofit/>
          </a:bodyPr>
          <a:lstStyle/>
          <a:p>
            <a:pPr indent="0" marL="0">
              <a:buNone/>
            </a:pPr>
            <a:r>
              <a:rPr lang="en-US" sz="1700" dirty="0">
                <a:solidFill>
                  <a:srgbClr val="162733"/>
                </a:solidFill>
                <a:latin typeface="Aptos" pitchFamily="34" charset="0"/>
                <a:ea typeface="Aptos" pitchFamily="34" charset="-122"/>
                <a:cs typeface="Aptos" pitchFamily="34" charset="-120"/>
              </a:rPr>
              <a:t>Full benchmark reproduction for each paper</a:t>
            </a:r>
            <a:endParaRPr lang="en-US" sz="1700" dirty="0"/>
          </a:p>
        </p:txBody>
      </p:sp>
      <p:sp>
        <p:nvSpPr>
          <p:cNvPr id="17" name="Shape 14"/>
          <p:cNvSpPr/>
          <p:nvPr/>
        </p:nvSpPr>
        <p:spPr>
          <a:xfrm>
            <a:off x="548640" y="3236976"/>
            <a:ext cx="5577840" cy="704088"/>
          </a:xfrm>
          <a:prstGeom prst="rect">
            <a:avLst/>
          </a:prstGeom>
          <a:solidFill>
            <a:srgbClr val="FFFFFF"/>
          </a:solidFill>
          <a:ln w="6350">
            <a:solidFill>
              <a:srgbClr val="D9E3E6"/>
            </a:solidFill>
            <a:prstDash val="solid"/>
          </a:ln>
        </p:spPr>
      </p:sp>
      <p:sp>
        <p:nvSpPr>
          <p:cNvPr id="18" name="Text 15"/>
          <p:cNvSpPr/>
          <p:nvPr/>
        </p:nvSpPr>
        <p:spPr>
          <a:xfrm>
            <a:off x="658368" y="3337560"/>
            <a:ext cx="5358384" cy="548640"/>
          </a:xfrm>
          <a:prstGeom prst="rect">
            <a:avLst/>
          </a:prstGeom>
          <a:noFill/>
          <a:ln/>
        </p:spPr>
        <p:txBody>
          <a:bodyPr wrap="square" lIns="0" tIns="0" rIns="0" bIns="0" rtlCol="0" anchor="ctr">
            <a:normAutofit/>
          </a:bodyPr>
          <a:lstStyle/>
          <a:p>
            <a:pPr indent="0" marL="0">
              <a:buNone/>
            </a:pPr>
            <a:r>
              <a:rPr lang="en-US" sz="1700" dirty="0">
                <a:solidFill>
                  <a:srgbClr val="162733"/>
                </a:solidFill>
                <a:latin typeface="Aptos" pitchFamily="34" charset="0"/>
                <a:ea typeface="Aptos" pitchFamily="34" charset="-122"/>
                <a:cs typeface="Aptos" pitchFamily="34" charset="-120"/>
              </a:rPr>
              <a:t>7 executable lessons + saved offline outputs</a:t>
            </a:r>
            <a:endParaRPr lang="en-US" sz="1700" dirty="0"/>
          </a:p>
        </p:txBody>
      </p:sp>
      <p:sp>
        <p:nvSpPr>
          <p:cNvPr id="19" name="Shape 16"/>
          <p:cNvSpPr/>
          <p:nvPr/>
        </p:nvSpPr>
        <p:spPr>
          <a:xfrm>
            <a:off x="6126480" y="3236976"/>
            <a:ext cx="5486400" cy="704088"/>
          </a:xfrm>
          <a:prstGeom prst="rect">
            <a:avLst/>
          </a:prstGeom>
          <a:solidFill>
            <a:srgbClr val="FFFFFF"/>
          </a:solidFill>
          <a:ln w="6350">
            <a:solidFill>
              <a:srgbClr val="D9E3E6"/>
            </a:solidFill>
            <a:prstDash val="solid"/>
          </a:ln>
        </p:spPr>
      </p:sp>
      <p:sp>
        <p:nvSpPr>
          <p:cNvPr id="20" name="Text 17"/>
          <p:cNvSpPr/>
          <p:nvPr/>
        </p:nvSpPr>
        <p:spPr>
          <a:xfrm>
            <a:off x="6236208" y="3337560"/>
            <a:ext cx="5266944" cy="548640"/>
          </a:xfrm>
          <a:prstGeom prst="rect">
            <a:avLst/>
          </a:prstGeom>
          <a:noFill/>
          <a:ln/>
        </p:spPr>
        <p:txBody>
          <a:bodyPr wrap="square" lIns="0" tIns="0" rIns="0" bIns="0" rtlCol="0" anchor="ctr">
            <a:normAutofit/>
          </a:bodyPr>
          <a:lstStyle/>
          <a:p>
            <a:pPr indent="0" marL="0">
              <a:buNone/>
            </a:pPr>
            <a:r>
              <a:rPr lang="en-US" sz="1700" dirty="0">
                <a:solidFill>
                  <a:srgbClr val="162733"/>
                </a:solidFill>
                <a:latin typeface="Aptos" pitchFamily="34" charset="0"/>
                <a:ea typeface="Aptos" pitchFamily="34" charset="-122"/>
                <a:cs typeface="Aptos" pitchFamily="34" charset="-120"/>
              </a:rPr>
              <a:t>Authors’ RMI/FITing/ALEX/PGM/NFL/CSV runs</a:t>
            </a:r>
            <a:endParaRPr lang="en-US" sz="1700" dirty="0"/>
          </a:p>
        </p:txBody>
      </p:sp>
      <p:sp>
        <p:nvSpPr>
          <p:cNvPr id="21" name="Shape 18"/>
          <p:cNvSpPr/>
          <p:nvPr/>
        </p:nvSpPr>
        <p:spPr>
          <a:xfrm>
            <a:off x="548640" y="3941064"/>
            <a:ext cx="5577840" cy="704088"/>
          </a:xfrm>
          <a:prstGeom prst="rect">
            <a:avLst/>
          </a:prstGeom>
          <a:solidFill>
            <a:srgbClr val="EFF5F6"/>
          </a:solidFill>
          <a:ln w="6350">
            <a:solidFill>
              <a:srgbClr val="D9E3E6"/>
            </a:solidFill>
            <a:prstDash val="solid"/>
          </a:ln>
        </p:spPr>
      </p:sp>
      <p:sp>
        <p:nvSpPr>
          <p:cNvPr id="22" name="Text 19"/>
          <p:cNvSpPr/>
          <p:nvPr/>
        </p:nvSpPr>
        <p:spPr>
          <a:xfrm>
            <a:off x="658368" y="4041648"/>
            <a:ext cx="5358384" cy="548640"/>
          </a:xfrm>
          <a:prstGeom prst="rect">
            <a:avLst/>
          </a:prstGeom>
          <a:noFill/>
          <a:ln/>
        </p:spPr>
        <p:txBody>
          <a:bodyPr wrap="square" lIns="0" tIns="0" rIns="0" bIns="0" rtlCol="0" anchor="ctr">
            <a:normAutofit/>
          </a:bodyPr>
          <a:lstStyle/>
          <a:p>
            <a:pPr indent="0" marL="0">
              <a:buNone/>
            </a:pPr>
            <a:r>
              <a:rPr lang="en-US" sz="1700" dirty="0">
                <a:solidFill>
                  <a:srgbClr val="162733"/>
                </a:solidFill>
                <a:latin typeface="Aptos" pitchFamily="34" charset="0"/>
                <a:ea typeface="Aptos" pitchFamily="34" charset="-122"/>
                <a:cs typeface="Aptos" pitchFamily="34" charset="-120"/>
              </a:rPr>
              <a:t>Native source-derived RadixSpline comparison</a:t>
            </a:r>
            <a:endParaRPr lang="en-US" sz="1700" dirty="0"/>
          </a:p>
        </p:txBody>
      </p:sp>
      <p:sp>
        <p:nvSpPr>
          <p:cNvPr id="23" name="Shape 20"/>
          <p:cNvSpPr/>
          <p:nvPr/>
        </p:nvSpPr>
        <p:spPr>
          <a:xfrm>
            <a:off x="6126480" y="3941064"/>
            <a:ext cx="5486400" cy="704088"/>
          </a:xfrm>
          <a:prstGeom prst="rect">
            <a:avLst/>
          </a:prstGeom>
          <a:solidFill>
            <a:srgbClr val="EFF5F6"/>
          </a:solidFill>
          <a:ln w="6350">
            <a:solidFill>
              <a:srgbClr val="D9E3E6"/>
            </a:solidFill>
            <a:prstDash val="solid"/>
          </a:ln>
        </p:spPr>
      </p:sp>
      <p:sp>
        <p:nvSpPr>
          <p:cNvPr id="24" name="Text 21"/>
          <p:cNvSpPr/>
          <p:nvPr/>
        </p:nvSpPr>
        <p:spPr>
          <a:xfrm>
            <a:off x="6236208" y="4041648"/>
            <a:ext cx="5266944" cy="548640"/>
          </a:xfrm>
          <a:prstGeom prst="rect">
            <a:avLst/>
          </a:prstGeom>
          <a:noFill/>
          <a:ln/>
        </p:spPr>
        <p:txBody>
          <a:bodyPr wrap="square" lIns="0" tIns="0" rIns="0" bIns="0" rtlCol="0" anchor="ctr">
            <a:normAutofit/>
          </a:bodyPr>
          <a:lstStyle/>
          <a:p>
            <a:pPr indent="0" marL="0">
              <a:buNone/>
            </a:pPr>
            <a:r>
              <a:rPr lang="en-US" sz="1700" dirty="0">
                <a:solidFill>
                  <a:srgbClr val="162733"/>
                </a:solidFill>
                <a:latin typeface="Aptos" pitchFamily="34" charset="0"/>
                <a:ea typeface="Aptos" pitchFamily="34" charset="-122"/>
                <a:cs typeface="Aptos" pitchFamily="34" charset="-120"/>
              </a:rPr>
              <a:t>A commit-pinned upstream parity claim</a:t>
            </a:r>
            <a:endParaRPr lang="en-US" sz="1700" dirty="0"/>
          </a:p>
        </p:txBody>
      </p:sp>
      <p:sp>
        <p:nvSpPr>
          <p:cNvPr id="25" name="Shape 22"/>
          <p:cNvSpPr/>
          <p:nvPr/>
        </p:nvSpPr>
        <p:spPr>
          <a:xfrm>
            <a:off x="548640" y="4645152"/>
            <a:ext cx="5577840" cy="704088"/>
          </a:xfrm>
          <a:prstGeom prst="rect">
            <a:avLst/>
          </a:prstGeom>
          <a:solidFill>
            <a:srgbClr val="FFFFFF"/>
          </a:solidFill>
          <a:ln w="6350">
            <a:solidFill>
              <a:srgbClr val="D9E3E6"/>
            </a:solidFill>
            <a:prstDash val="solid"/>
          </a:ln>
        </p:spPr>
      </p:sp>
      <p:sp>
        <p:nvSpPr>
          <p:cNvPr id="26" name="Text 23"/>
          <p:cNvSpPr/>
          <p:nvPr/>
        </p:nvSpPr>
        <p:spPr>
          <a:xfrm>
            <a:off x="658368" y="4745736"/>
            <a:ext cx="5358384" cy="548640"/>
          </a:xfrm>
          <a:prstGeom prst="rect">
            <a:avLst/>
          </a:prstGeom>
          <a:noFill/>
          <a:ln/>
        </p:spPr>
        <p:txBody>
          <a:bodyPr wrap="square" lIns="0" tIns="0" rIns="0" bIns="0" rtlCol="0" anchor="ctr">
            <a:normAutofit/>
          </a:bodyPr>
          <a:lstStyle/>
          <a:p>
            <a:pPr indent="0" marL="0">
              <a:buNone/>
            </a:pPr>
            <a:r>
              <a:rPr lang="en-US" sz="1700" dirty="0">
                <a:solidFill>
                  <a:srgbClr val="162733"/>
                </a:solidFill>
                <a:latin typeface="Aptos" pitchFamily="34" charset="0"/>
                <a:ea typeface="Aptos" pitchFamily="34" charset="-122"/>
                <a:cs typeface="Aptos" pitchFamily="34" charset="-120"/>
              </a:rPr>
              <a:t>Exact custom-map compression/update controls</a:t>
            </a:r>
            <a:endParaRPr lang="en-US" sz="1700" dirty="0"/>
          </a:p>
        </p:txBody>
      </p:sp>
      <p:sp>
        <p:nvSpPr>
          <p:cNvPr id="27" name="Shape 24"/>
          <p:cNvSpPr/>
          <p:nvPr/>
        </p:nvSpPr>
        <p:spPr>
          <a:xfrm>
            <a:off x="6126480" y="4645152"/>
            <a:ext cx="5486400" cy="704088"/>
          </a:xfrm>
          <a:prstGeom prst="rect">
            <a:avLst/>
          </a:prstGeom>
          <a:solidFill>
            <a:srgbClr val="FFFFFF"/>
          </a:solidFill>
          <a:ln w="6350">
            <a:solidFill>
              <a:srgbClr val="D9E3E6"/>
            </a:solidFill>
            <a:prstDash val="solid"/>
          </a:ln>
        </p:spPr>
      </p:sp>
      <p:sp>
        <p:nvSpPr>
          <p:cNvPr id="28" name="Text 25"/>
          <p:cNvSpPr/>
          <p:nvPr/>
        </p:nvSpPr>
        <p:spPr>
          <a:xfrm>
            <a:off x="6236208" y="4745736"/>
            <a:ext cx="5266944" cy="548640"/>
          </a:xfrm>
          <a:prstGeom prst="rect">
            <a:avLst/>
          </a:prstGeom>
          <a:noFill/>
          <a:ln/>
        </p:spPr>
        <p:txBody>
          <a:bodyPr wrap="square" lIns="0" tIns="0" rIns="0" bIns="0" rtlCol="0" anchor="ctr">
            <a:normAutofit/>
          </a:bodyPr>
          <a:lstStyle/>
          <a:p>
            <a:pPr indent="0" marL="0">
              <a:buNone/>
            </a:pPr>
            <a:r>
              <a:rPr lang="en-US" sz="1700" dirty="0">
                <a:solidFill>
                  <a:srgbClr val="162733"/>
                </a:solidFill>
                <a:latin typeface="Aptos" pitchFamily="34" charset="0"/>
                <a:ea typeface="Aptos" pitchFamily="34" charset="-122"/>
                <a:cs typeface="Aptos" pitchFamily="34" charset="-120"/>
              </a:rPr>
              <a:t>Improvement over SOTA or real-data robustness</a:t>
            </a:r>
            <a:endParaRPr lang="en-US" sz="1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46888"/>
            <a:ext cx="10424160" cy="201168"/>
          </a:xfrm>
          <a:prstGeom prst="rect">
            <a:avLst/>
          </a:prstGeom>
          <a:noFill/>
          <a:ln/>
        </p:spPr>
        <p:txBody>
          <a:bodyPr wrap="square" lIns="0" tIns="0" rIns="0" bIns="0" rtlCol="0" anchor="ctr">
            <a:normAutofit/>
          </a:bodyPr>
          <a:lstStyle/>
          <a:p>
            <a:pPr indent="0" marL="0">
              <a:buNone/>
            </a:pPr>
            <a:r>
              <a:rPr lang="en-US" sz="1000" b="1" spc="110" kern="0" dirty="0">
                <a:solidFill>
                  <a:srgbClr val="11727B"/>
                </a:solidFill>
                <a:latin typeface="Aptos" pitchFamily="34" charset="0"/>
                <a:ea typeface="Aptos" pitchFamily="34" charset="-122"/>
                <a:cs typeface="Aptos" pitchFamily="34" charset="-120"/>
              </a:rPr>
              <a:t>SUPERVISOR DISCUSSION</a:t>
            </a:r>
            <a:endParaRPr lang="en-US" sz="1000" dirty="0"/>
          </a:p>
        </p:txBody>
      </p:sp>
      <p:sp>
        <p:nvSpPr>
          <p:cNvPr id="3" name="Text 1"/>
          <p:cNvSpPr/>
          <p:nvPr/>
        </p:nvSpPr>
        <p:spPr>
          <a:xfrm>
            <a:off x="548640" y="640080"/>
            <a:ext cx="11064240" cy="603504"/>
          </a:xfrm>
          <a:prstGeom prst="rect">
            <a:avLst/>
          </a:prstGeom>
          <a:noFill/>
          <a:ln/>
        </p:spPr>
        <p:txBody>
          <a:bodyPr wrap="square" lIns="0" tIns="0" rIns="0" bIns="0" rtlCol="0" anchor="ctr">
            <a:normAutofit/>
          </a:bodyPr>
          <a:lstStyle/>
          <a:p>
            <a:pPr indent="0" marL="0">
              <a:buNone/>
            </a:pPr>
            <a:r>
              <a:rPr lang="en-US" sz="3000" b="1" dirty="0">
                <a:solidFill>
                  <a:srgbClr val="162733"/>
                </a:solidFill>
                <a:latin typeface="Aptos Display" pitchFamily="34" charset="0"/>
                <a:ea typeface="Aptos Display" pitchFamily="34" charset="-122"/>
                <a:cs typeface="Aptos Display" pitchFamily="34" charset="-120"/>
              </a:rPr>
              <a:t>Agree on the next baseline milestone</a:t>
            </a:r>
            <a:endParaRPr lang="en-US" sz="3000" dirty="0"/>
          </a:p>
        </p:txBody>
      </p:sp>
      <p:sp>
        <p:nvSpPr>
          <p:cNvPr id="4" name="Text 2"/>
          <p:cNvSpPr/>
          <p:nvPr/>
        </p:nvSpPr>
        <p:spPr>
          <a:xfrm>
            <a:off x="548640" y="1280160"/>
            <a:ext cx="11064240" cy="420624"/>
          </a:xfrm>
          <a:prstGeom prst="rect">
            <a:avLst/>
          </a:prstGeom>
          <a:noFill/>
          <a:ln/>
        </p:spPr>
        <p:txBody>
          <a:bodyPr wrap="square" lIns="0" tIns="0" rIns="0" bIns="0" rtlCol="0" anchor="ctr">
            <a:normAutofit/>
          </a:bodyPr>
          <a:lstStyle/>
          <a:p>
            <a:pPr indent="0" marL="0">
              <a:buNone/>
            </a:pPr>
            <a:r>
              <a:rPr lang="en-US" sz="1600" dirty="0">
                <a:solidFill>
                  <a:srgbClr val="526571"/>
                </a:solidFill>
                <a:latin typeface="Aptos" pitchFamily="34" charset="0"/>
                <a:ea typeface="Aptos" pitchFamily="34" charset="-122"/>
                <a:cs typeface="Aptos" pitchFamily="34" charset="-120"/>
              </a:rPr>
              <a:t>Use the history to choose experiments, not to preselect a new method.</a:t>
            </a:r>
            <a:endParaRPr lang="en-US" sz="1600" dirty="0"/>
          </a:p>
        </p:txBody>
      </p:sp>
      <p:sp>
        <p:nvSpPr>
          <p:cNvPr id="5" name="Shape 3"/>
          <p:cNvSpPr/>
          <p:nvPr/>
        </p:nvSpPr>
        <p:spPr>
          <a:xfrm>
            <a:off x="548640" y="6364224"/>
            <a:ext cx="11064240" cy="0"/>
          </a:xfrm>
          <a:prstGeom prst="line">
            <a:avLst/>
          </a:prstGeom>
          <a:noFill/>
          <a:ln w="12700">
            <a:solidFill>
              <a:srgbClr val="D9E3E6"/>
            </a:solidFill>
            <a:prstDash val="solid"/>
          </a:ln>
        </p:spPr>
      </p:sp>
      <p:sp>
        <p:nvSpPr>
          <p:cNvPr id="6" name="Text 4"/>
          <p:cNvSpPr/>
          <p:nvPr/>
        </p:nvSpPr>
        <p:spPr>
          <a:xfrm>
            <a:off x="548640" y="6464808"/>
            <a:ext cx="10607040" cy="192024"/>
          </a:xfrm>
          <a:prstGeom prst="rect">
            <a:avLst/>
          </a:prstGeom>
          <a:noFill/>
          <a:ln/>
        </p:spPr>
        <p:txBody>
          <a:bodyPr wrap="square" lIns="0" tIns="0" rIns="0" bIns="0" rtlCol="0" anchor="ctr">
            <a:normAutofit/>
          </a:bodyPr>
          <a:lstStyle/>
          <a:p>
            <a:pPr indent="0" marL="0">
              <a:buNone/>
            </a:pPr>
            <a:r>
              <a:rPr lang="en-US" sz="900" dirty="0">
                <a:solidFill>
                  <a:srgbClr val="526571"/>
                </a:solidFill>
                <a:latin typeface="Aptos" pitchFamily="34" charset="0"/>
                <a:ea typeface="Aptos" pitchFamily="34" charset="-122"/>
                <a:cs typeface="Aptos" pitchFamily="34" charset="-120"/>
              </a:rPr>
              <a:t>Proposed next work • not completed experiments</a:t>
            </a:r>
            <a:endParaRPr lang="en-US" sz="900" dirty="0"/>
          </a:p>
        </p:txBody>
      </p:sp>
      <p:sp>
        <p:nvSpPr>
          <p:cNvPr id="7" name="Text 5"/>
          <p:cNvSpPr/>
          <p:nvPr/>
        </p:nvSpPr>
        <p:spPr>
          <a:xfrm>
            <a:off x="11082528" y="6446520"/>
            <a:ext cx="548640" cy="228600"/>
          </a:xfrm>
          <a:prstGeom prst="rect">
            <a:avLst/>
          </a:prstGeom>
          <a:noFill/>
          <a:ln/>
        </p:spPr>
        <p:txBody>
          <a:bodyPr wrap="square" lIns="0" tIns="0" rIns="0" bIns="0" rtlCol="0" anchor="ctr">
            <a:normAutofit/>
          </a:bodyPr>
          <a:lstStyle/>
          <a:p>
            <a:pPr algn="r" indent="0" marL="0">
              <a:buNone/>
            </a:pPr>
            <a:r>
              <a:rPr lang="en-US" sz="1100" dirty="0">
                <a:solidFill>
                  <a:srgbClr val="526571"/>
                </a:solidFill>
                <a:latin typeface="Aptos" pitchFamily="34" charset="0"/>
                <a:ea typeface="Aptos" pitchFamily="34" charset="-122"/>
                <a:cs typeface="Aptos" pitchFamily="34" charset="-120"/>
              </a:rPr>
              <a:t>20</a:t>
            </a:r>
            <a:endParaRPr lang="en-US" sz="1100" dirty="0"/>
          </a:p>
        </p:txBody>
      </p:sp>
      <p:sp>
        <p:nvSpPr>
          <p:cNvPr id="9" name="Shape 6"/>
          <p:cNvSpPr/>
          <p:nvPr/>
        </p:nvSpPr>
        <p:spPr>
          <a:xfrm>
            <a:off x="548640" y="2011680"/>
            <a:ext cx="3529584" cy="2331720"/>
          </a:xfrm>
          <a:prstGeom prst="rect">
            <a:avLst/>
          </a:prstGeom>
          <a:solidFill>
            <a:srgbClr val="EFF5F6"/>
          </a:solidFill>
          <a:ln w="12700">
            <a:solidFill>
              <a:srgbClr val="EFF5F6"/>
            </a:solidFill>
            <a:prstDash val="solid"/>
          </a:ln>
        </p:spPr>
      </p:sp>
      <p:sp>
        <p:nvSpPr>
          <p:cNvPr id="10" name="Text 7"/>
          <p:cNvSpPr/>
          <p:nvPr/>
        </p:nvSpPr>
        <p:spPr>
          <a:xfrm>
            <a:off x="704088" y="2121408"/>
            <a:ext cx="3218688" cy="246888"/>
          </a:xfrm>
          <a:prstGeom prst="rect">
            <a:avLst/>
          </a:prstGeom>
          <a:noFill/>
          <a:ln/>
        </p:spPr>
        <p:txBody>
          <a:bodyPr wrap="square" lIns="0" tIns="0" rIns="0" bIns="0" rtlCol="0" anchor="ctr">
            <a:normAutofit/>
          </a:bodyPr>
          <a:lstStyle/>
          <a:p>
            <a:pPr indent="0" marL="0">
              <a:buNone/>
            </a:pPr>
            <a:r>
              <a:rPr lang="en-US" sz="1400" b="1" dirty="0">
                <a:solidFill>
                  <a:srgbClr val="11727B"/>
                </a:solidFill>
                <a:latin typeface="Aptos" pitchFamily="34" charset="0"/>
                <a:ea typeface="Aptos" pitchFamily="34" charset="-122"/>
                <a:cs typeface="Aptos" pitchFamily="34" charset="-120"/>
              </a:rPr>
              <a:t>1 · COMMON CONTRACT</a:t>
            </a:r>
            <a:endParaRPr lang="en-US" sz="1400" dirty="0"/>
          </a:p>
        </p:txBody>
      </p:sp>
      <p:sp>
        <p:nvSpPr>
          <p:cNvPr id="11" name="Text 8"/>
          <p:cNvSpPr/>
          <p:nvPr/>
        </p:nvSpPr>
        <p:spPr>
          <a:xfrm>
            <a:off x="704088" y="2441448"/>
            <a:ext cx="3218688" cy="1837944"/>
          </a:xfrm>
          <a:prstGeom prst="rect">
            <a:avLst/>
          </a:prstGeom>
          <a:noFill/>
          <a:ln/>
        </p:spPr>
        <p:txBody>
          <a:bodyPr wrap="square" lIns="0" tIns="0" rIns="0" bIns="0" rtlCol="0" anchor="ctr">
            <a:normAutofit/>
          </a:bodyPr>
          <a:lstStyle/>
          <a:p>
            <a:pPr indent="0" marL="0">
              <a:buNone/>
            </a:pPr>
            <a:r>
              <a:rPr lang="en-US" sz="1700" dirty="0">
                <a:solidFill>
                  <a:srgbClr val="162733"/>
                </a:solidFill>
                <a:latin typeface="Aptos" pitchFamily="34" charset="0"/>
                <a:ea typeface="Aptos" pitchFamily="34" charset="-122"/>
                <a:cs typeface="Aptos" pitchFamily="34" charset="-120"/>
              </a:rPr>
              <a:t>Static lower_bound first? Or point lookup, scans and updates with fixed payloads?</a:t>
            </a:r>
            <a:endParaRPr lang="en-US" sz="1700" dirty="0"/>
          </a:p>
        </p:txBody>
      </p:sp>
      <p:sp>
        <p:nvSpPr>
          <p:cNvPr id="12" name="Shape 9"/>
          <p:cNvSpPr/>
          <p:nvPr/>
        </p:nvSpPr>
        <p:spPr>
          <a:xfrm>
            <a:off x="4334256" y="2011680"/>
            <a:ext cx="3529584" cy="2331720"/>
          </a:xfrm>
          <a:prstGeom prst="rect">
            <a:avLst/>
          </a:prstGeom>
          <a:solidFill>
            <a:srgbClr val="EFF5F6"/>
          </a:solidFill>
          <a:ln w="12700">
            <a:solidFill>
              <a:srgbClr val="EFF5F6"/>
            </a:solidFill>
            <a:prstDash val="solid"/>
          </a:ln>
        </p:spPr>
      </p:sp>
      <p:sp>
        <p:nvSpPr>
          <p:cNvPr id="13" name="Text 10"/>
          <p:cNvSpPr/>
          <p:nvPr/>
        </p:nvSpPr>
        <p:spPr>
          <a:xfrm>
            <a:off x="4489704" y="2121408"/>
            <a:ext cx="3218688" cy="246888"/>
          </a:xfrm>
          <a:prstGeom prst="rect">
            <a:avLst/>
          </a:prstGeom>
          <a:noFill/>
          <a:ln/>
        </p:spPr>
        <p:txBody>
          <a:bodyPr wrap="square" lIns="0" tIns="0" rIns="0" bIns="0" rtlCol="0" anchor="ctr">
            <a:normAutofit/>
          </a:bodyPr>
          <a:lstStyle/>
          <a:p>
            <a:pPr indent="0" marL="0">
              <a:buNone/>
            </a:pPr>
            <a:r>
              <a:rPr lang="en-US" sz="1400" b="1" dirty="0">
                <a:solidFill>
                  <a:srgbClr val="11727B"/>
                </a:solidFill>
                <a:latin typeface="Aptos" pitchFamily="34" charset="0"/>
                <a:ea typeface="Aptos" pitchFamily="34" charset="-122"/>
                <a:cs typeface="Aptos" pitchFamily="34" charset="-120"/>
              </a:rPr>
              <a:t>2 · REPRODUCTIONS</a:t>
            </a:r>
            <a:endParaRPr lang="en-US" sz="1400" dirty="0"/>
          </a:p>
        </p:txBody>
      </p:sp>
      <p:sp>
        <p:nvSpPr>
          <p:cNvPr id="14" name="Text 11"/>
          <p:cNvSpPr/>
          <p:nvPr/>
        </p:nvSpPr>
        <p:spPr>
          <a:xfrm>
            <a:off x="4489704" y="2441448"/>
            <a:ext cx="3218688" cy="1837944"/>
          </a:xfrm>
          <a:prstGeom prst="rect">
            <a:avLst/>
          </a:prstGeom>
          <a:noFill/>
          <a:ln/>
        </p:spPr>
        <p:txBody>
          <a:bodyPr wrap="square" lIns="0" tIns="0" rIns="0" bIns="0" rtlCol="0" anchor="ctr">
            <a:normAutofit/>
          </a:bodyPr>
          <a:lstStyle/>
          <a:p>
            <a:pPr indent="0" marL="0">
              <a:buNone/>
            </a:pPr>
            <a:r>
              <a:rPr lang="en-US" sz="1700" dirty="0">
                <a:solidFill>
                  <a:srgbClr val="162733"/>
                </a:solidFill>
                <a:latin typeface="Aptos" pitchFamily="34" charset="0"/>
                <a:ea typeface="Aptos" pitchFamily="34" charset="-122"/>
                <a:cs typeface="Aptos" pitchFamily="34" charset="-120"/>
              </a:rPr>
              <a:t>Agree on pinned upstream implementations and the first real corpus.</a:t>
            </a:r>
            <a:endParaRPr lang="en-US" sz="1700" dirty="0"/>
          </a:p>
        </p:txBody>
      </p:sp>
      <p:sp>
        <p:nvSpPr>
          <p:cNvPr id="15" name="Shape 12"/>
          <p:cNvSpPr/>
          <p:nvPr/>
        </p:nvSpPr>
        <p:spPr>
          <a:xfrm>
            <a:off x="8119872" y="2011680"/>
            <a:ext cx="3529584" cy="2331720"/>
          </a:xfrm>
          <a:prstGeom prst="rect">
            <a:avLst/>
          </a:prstGeom>
          <a:solidFill>
            <a:srgbClr val="EFF5F6"/>
          </a:solidFill>
          <a:ln w="12700">
            <a:solidFill>
              <a:srgbClr val="EFF5F6"/>
            </a:solidFill>
            <a:prstDash val="solid"/>
          </a:ln>
        </p:spPr>
      </p:sp>
      <p:sp>
        <p:nvSpPr>
          <p:cNvPr id="16" name="Text 13"/>
          <p:cNvSpPr/>
          <p:nvPr/>
        </p:nvSpPr>
        <p:spPr>
          <a:xfrm>
            <a:off x="8275320" y="2121408"/>
            <a:ext cx="3218688" cy="246888"/>
          </a:xfrm>
          <a:prstGeom prst="rect">
            <a:avLst/>
          </a:prstGeom>
          <a:noFill/>
          <a:ln/>
        </p:spPr>
        <p:txBody>
          <a:bodyPr wrap="square" lIns="0" tIns="0" rIns="0" bIns="0" rtlCol="0" anchor="ctr">
            <a:normAutofit/>
          </a:bodyPr>
          <a:lstStyle/>
          <a:p>
            <a:pPr indent="0" marL="0">
              <a:buNone/>
            </a:pPr>
            <a:r>
              <a:rPr lang="en-US" sz="1400" b="1" dirty="0">
                <a:solidFill>
                  <a:srgbClr val="11727B"/>
                </a:solidFill>
                <a:latin typeface="Aptos" pitchFamily="34" charset="0"/>
                <a:ea typeface="Aptos" pitchFamily="34" charset="-122"/>
                <a:cs typeface="Aptos" pitchFamily="34" charset="-120"/>
              </a:rPr>
              <a:t>3 · SUCCESS METRICS</a:t>
            </a:r>
            <a:endParaRPr lang="en-US" sz="1400" dirty="0"/>
          </a:p>
        </p:txBody>
      </p:sp>
      <p:sp>
        <p:nvSpPr>
          <p:cNvPr id="17" name="Text 14"/>
          <p:cNvSpPr/>
          <p:nvPr/>
        </p:nvSpPr>
        <p:spPr>
          <a:xfrm>
            <a:off x="8275320" y="2441448"/>
            <a:ext cx="3218688" cy="1837944"/>
          </a:xfrm>
          <a:prstGeom prst="rect">
            <a:avLst/>
          </a:prstGeom>
          <a:noFill/>
          <a:ln/>
        </p:spPr>
        <p:txBody>
          <a:bodyPr wrap="square" lIns="0" tIns="0" rIns="0" bIns="0" rtlCol="0" anchor="ctr">
            <a:normAutofit/>
          </a:bodyPr>
          <a:lstStyle/>
          <a:p>
            <a:pPr indent="0" marL="0">
              <a:buNone/>
            </a:pPr>
            <a:r>
              <a:rPr lang="en-US" sz="1700" dirty="0">
                <a:solidFill>
                  <a:srgbClr val="162733"/>
                </a:solidFill>
                <a:latin typeface="Aptos" pitchFamily="34" charset="0"/>
                <a:ea typeface="Aptos" pitchFamily="34" charset="-122"/>
                <a:cs typeface="Aptos" pitchFamily="34" charset="-120"/>
              </a:rPr>
              <a:t>Memory budget, exactness, lookup/scan cost, write tails and rebuild debt.</a:t>
            </a:r>
            <a:endParaRPr lang="en-US" sz="1700" dirty="0"/>
          </a:p>
        </p:txBody>
      </p:sp>
      <p:sp>
        <p:nvSpPr>
          <p:cNvPr id="18" name="Text 15"/>
          <p:cNvSpPr/>
          <p:nvPr/>
        </p:nvSpPr>
        <p:spPr>
          <a:xfrm>
            <a:off x="594360" y="4956048"/>
            <a:ext cx="10789920" cy="548640"/>
          </a:xfrm>
          <a:prstGeom prst="rect">
            <a:avLst/>
          </a:prstGeom>
          <a:noFill/>
          <a:ln/>
        </p:spPr>
        <p:txBody>
          <a:bodyPr wrap="square" lIns="0" tIns="0" rIns="0" bIns="0" rtlCol="0" anchor="ctr">
            <a:normAutofit/>
          </a:bodyPr>
          <a:lstStyle/>
          <a:p>
            <a:pPr indent="0" marL="0">
              <a:buNone/>
            </a:pPr>
            <a:r>
              <a:rPr lang="en-US" sz="2300" b="1" dirty="0">
                <a:solidFill>
                  <a:srgbClr val="162733"/>
                </a:solidFill>
                <a:latin typeface="Aptos" pitchFamily="34" charset="0"/>
                <a:ea typeface="Aptos" pitchFamily="34" charset="-122"/>
                <a:cs typeface="Aptos" pitchFamily="34" charset="-120"/>
              </a:rPr>
              <a:t>Next milestone: one reproducible common-data comparison, then iterate.</a:t>
            </a:r>
            <a:endParaRPr lang="en-US" sz="2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46888"/>
            <a:ext cx="10424160" cy="201168"/>
          </a:xfrm>
          <a:prstGeom prst="rect">
            <a:avLst/>
          </a:prstGeom>
          <a:noFill/>
          <a:ln/>
        </p:spPr>
        <p:txBody>
          <a:bodyPr wrap="square" lIns="0" tIns="0" rIns="0" bIns="0" rtlCol="0" anchor="ctr">
            <a:normAutofit/>
          </a:bodyPr>
          <a:lstStyle/>
          <a:p>
            <a:pPr indent="0" marL="0">
              <a:buNone/>
            </a:pPr>
            <a:r>
              <a:rPr lang="en-US" sz="1000" b="1" spc="110" kern="0" dirty="0">
                <a:solidFill>
                  <a:srgbClr val="11727B"/>
                </a:solidFill>
                <a:latin typeface="Aptos" pitchFamily="34" charset="0"/>
                <a:ea typeface="Aptos" pitchFamily="34" charset="-122"/>
                <a:cs typeface="Aptos" pitchFamily="34" charset="-120"/>
              </a:rPr>
              <a:t>RUN MAP</a:t>
            </a:r>
            <a:endParaRPr lang="en-US" sz="1000" dirty="0"/>
          </a:p>
        </p:txBody>
      </p:sp>
      <p:sp>
        <p:nvSpPr>
          <p:cNvPr id="3" name="Text 1"/>
          <p:cNvSpPr/>
          <p:nvPr/>
        </p:nvSpPr>
        <p:spPr>
          <a:xfrm>
            <a:off x="548640" y="640080"/>
            <a:ext cx="11064240" cy="603504"/>
          </a:xfrm>
          <a:prstGeom prst="rect">
            <a:avLst/>
          </a:prstGeom>
          <a:noFill/>
          <a:ln/>
        </p:spPr>
        <p:txBody>
          <a:bodyPr wrap="square" lIns="0" tIns="0" rIns="0" bIns="0" rtlCol="0" anchor="ctr">
            <a:normAutofit/>
          </a:bodyPr>
          <a:lstStyle/>
          <a:p>
            <a:pPr indent="0" marL="0">
              <a:buNone/>
            </a:pPr>
            <a:r>
              <a:rPr lang="en-US" sz="3000" b="1" dirty="0">
                <a:solidFill>
                  <a:srgbClr val="162733"/>
                </a:solidFill>
                <a:latin typeface="Aptos Display" pitchFamily="34" charset="0"/>
                <a:ea typeface="Aptos Display" pitchFamily="34" charset="-122"/>
                <a:cs typeface="Aptos Display" pitchFamily="34" charset="-120"/>
              </a:rPr>
              <a:t>Appendix · one command for each evidence trail</a:t>
            </a:r>
            <a:endParaRPr lang="en-US" sz="3000" dirty="0"/>
          </a:p>
        </p:txBody>
      </p:sp>
      <p:sp>
        <p:nvSpPr>
          <p:cNvPr id="4" name="Text 2"/>
          <p:cNvSpPr/>
          <p:nvPr/>
        </p:nvSpPr>
        <p:spPr>
          <a:xfrm>
            <a:off x="548640" y="1280160"/>
            <a:ext cx="11064240" cy="420624"/>
          </a:xfrm>
          <a:prstGeom prst="rect">
            <a:avLst/>
          </a:prstGeom>
          <a:noFill/>
          <a:ln/>
        </p:spPr>
        <p:txBody>
          <a:bodyPr wrap="square" lIns="0" tIns="0" rIns="0" bIns="0" rtlCol="0" anchor="ctr">
            <a:normAutofit/>
          </a:bodyPr>
          <a:lstStyle/>
          <a:p>
            <a:pPr indent="0" marL="0">
              <a:buNone/>
            </a:pPr>
            <a:r>
              <a:rPr lang="en-US" sz="1600" dirty="0">
                <a:solidFill>
                  <a:srgbClr val="526571"/>
                </a:solidFill>
                <a:latin typeface="Aptos" pitchFamily="34" charset="0"/>
                <a:ea typeface="Aptos" pitchFamily="34" charset="-122"/>
                <a:cs typeface="Aptos" pitchFamily="34" charset="-120"/>
              </a:rPr>
              <a:t>Every lesson ends in a result JSON and an offline report section.</a:t>
            </a:r>
            <a:endParaRPr lang="en-US" sz="1600" dirty="0"/>
          </a:p>
        </p:txBody>
      </p:sp>
      <p:sp>
        <p:nvSpPr>
          <p:cNvPr id="5" name="Shape 3"/>
          <p:cNvSpPr/>
          <p:nvPr/>
        </p:nvSpPr>
        <p:spPr>
          <a:xfrm>
            <a:off x="548640" y="6364224"/>
            <a:ext cx="11064240" cy="0"/>
          </a:xfrm>
          <a:prstGeom prst="line">
            <a:avLst/>
          </a:prstGeom>
          <a:noFill/>
          <a:ln w="12700">
            <a:solidFill>
              <a:srgbClr val="D9E3E6"/>
            </a:solidFill>
            <a:prstDash val="solid"/>
          </a:ln>
        </p:spPr>
      </p:sp>
      <p:sp>
        <p:nvSpPr>
          <p:cNvPr id="6" name="Text 4"/>
          <p:cNvSpPr/>
          <p:nvPr/>
        </p:nvSpPr>
        <p:spPr>
          <a:xfrm>
            <a:off x="548640" y="6464808"/>
            <a:ext cx="10607040" cy="192024"/>
          </a:xfrm>
          <a:prstGeom prst="rect">
            <a:avLst/>
          </a:prstGeom>
          <a:noFill/>
          <a:ln/>
        </p:spPr>
        <p:txBody>
          <a:bodyPr wrap="square" lIns="0" tIns="0" rIns="0" bIns="0" rtlCol="0" anchor="ctr">
            <a:normAutofit/>
          </a:bodyPr>
          <a:lstStyle/>
          <a:p>
            <a:pPr indent="0" marL="0">
              <a:buNone/>
            </a:pPr>
            <a:r>
              <a:rPr lang="en-US" sz="900" dirty="0">
                <a:solidFill>
                  <a:srgbClr val="526571"/>
                </a:solidFill>
                <a:latin typeface="Aptos" pitchFamily="34" charset="0"/>
                <a:ea typeface="Aptos" pitchFamily="34" charset="-122"/>
                <a:cs typeface="Aptos" pitchFamily="34" charset="-120"/>
              </a:rPr>
              <a:t>Entrypoint: walkthrough.py • Optional notebook: Walkthrough.ipynb</a:t>
            </a:r>
            <a:endParaRPr lang="en-US" sz="900" dirty="0"/>
          </a:p>
        </p:txBody>
      </p:sp>
      <p:sp>
        <p:nvSpPr>
          <p:cNvPr id="7" name="Text 5"/>
          <p:cNvSpPr/>
          <p:nvPr/>
        </p:nvSpPr>
        <p:spPr>
          <a:xfrm>
            <a:off x="11082528" y="6446520"/>
            <a:ext cx="548640" cy="228600"/>
          </a:xfrm>
          <a:prstGeom prst="rect">
            <a:avLst/>
          </a:prstGeom>
          <a:noFill/>
          <a:ln/>
        </p:spPr>
        <p:txBody>
          <a:bodyPr wrap="square" lIns="0" tIns="0" rIns="0" bIns="0" rtlCol="0" anchor="ctr">
            <a:normAutofit/>
          </a:bodyPr>
          <a:lstStyle/>
          <a:p>
            <a:pPr algn="r" indent="0" marL="0">
              <a:buNone/>
            </a:pPr>
            <a:r>
              <a:rPr lang="en-US" sz="1100" dirty="0">
                <a:solidFill>
                  <a:srgbClr val="526571"/>
                </a:solidFill>
                <a:latin typeface="Aptos" pitchFamily="34" charset="0"/>
                <a:ea typeface="Aptos" pitchFamily="34" charset="-122"/>
                <a:cs typeface="Aptos" pitchFamily="34" charset="-120"/>
              </a:rPr>
              <a:t>21</a:t>
            </a:r>
            <a:endParaRPr lang="en-US" sz="1100" dirty="0"/>
          </a:p>
        </p:txBody>
      </p:sp>
      <p:sp>
        <p:nvSpPr>
          <p:cNvPr id="9" name="Shape 6"/>
          <p:cNvSpPr/>
          <p:nvPr/>
        </p:nvSpPr>
        <p:spPr>
          <a:xfrm>
            <a:off x="548640" y="1819656"/>
            <a:ext cx="731520" cy="484632"/>
          </a:xfrm>
          <a:prstGeom prst="rect">
            <a:avLst/>
          </a:prstGeom>
          <a:solidFill>
            <a:srgbClr val="112C39"/>
          </a:solidFill>
          <a:ln w="12700">
            <a:solidFill>
              <a:srgbClr val="FFFFFF"/>
            </a:solidFill>
            <a:prstDash val="solid"/>
          </a:ln>
        </p:spPr>
      </p:sp>
      <p:sp>
        <p:nvSpPr>
          <p:cNvPr id="10" name="Text 7"/>
          <p:cNvSpPr/>
          <p:nvPr/>
        </p:nvSpPr>
        <p:spPr>
          <a:xfrm>
            <a:off x="658368" y="1929384"/>
            <a:ext cx="512064" cy="347472"/>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Aptos" pitchFamily="34" charset="0"/>
                <a:ea typeface="Aptos" pitchFamily="34" charset="-122"/>
                <a:cs typeface="Aptos" pitchFamily="34" charset="-120"/>
              </a:rPr>
              <a:t>ID</a:t>
            </a:r>
            <a:endParaRPr lang="en-US" sz="1500" dirty="0"/>
          </a:p>
        </p:txBody>
      </p:sp>
      <p:sp>
        <p:nvSpPr>
          <p:cNvPr id="11" name="Shape 8"/>
          <p:cNvSpPr/>
          <p:nvPr/>
        </p:nvSpPr>
        <p:spPr>
          <a:xfrm>
            <a:off x="1280160" y="1819656"/>
            <a:ext cx="5943600" cy="484632"/>
          </a:xfrm>
          <a:prstGeom prst="rect">
            <a:avLst/>
          </a:prstGeom>
          <a:solidFill>
            <a:srgbClr val="112C39"/>
          </a:solidFill>
          <a:ln w="12700">
            <a:solidFill>
              <a:srgbClr val="FFFFFF"/>
            </a:solidFill>
            <a:prstDash val="solid"/>
          </a:ln>
        </p:spPr>
      </p:sp>
      <p:sp>
        <p:nvSpPr>
          <p:cNvPr id="12" name="Text 9"/>
          <p:cNvSpPr/>
          <p:nvPr/>
        </p:nvSpPr>
        <p:spPr>
          <a:xfrm>
            <a:off x="1389888" y="1929384"/>
            <a:ext cx="5724144" cy="347472"/>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Aptos" pitchFamily="34" charset="0"/>
                <a:ea typeface="Aptos" pitchFamily="34" charset="-122"/>
                <a:cs typeface="Aptos" pitchFamily="34" charset="-120"/>
              </a:rPr>
              <a:t>Run / inspect</a:t>
            </a:r>
            <a:endParaRPr lang="en-US" sz="1500" dirty="0"/>
          </a:p>
        </p:txBody>
      </p:sp>
      <p:sp>
        <p:nvSpPr>
          <p:cNvPr id="13" name="Shape 10"/>
          <p:cNvSpPr/>
          <p:nvPr/>
        </p:nvSpPr>
        <p:spPr>
          <a:xfrm>
            <a:off x="7223760" y="1819656"/>
            <a:ext cx="4389120" cy="484632"/>
          </a:xfrm>
          <a:prstGeom prst="rect">
            <a:avLst/>
          </a:prstGeom>
          <a:solidFill>
            <a:srgbClr val="112C39"/>
          </a:solidFill>
          <a:ln w="12700">
            <a:solidFill>
              <a:srgbClr val="FFFFFF"/>
            </a:solidFill>
            <a:prstDash val="solid"/>
          </a:ln>
        </p:spPr>
      </p:sp>
      <p:sp>
        <p:nvSpPr>
          <p:cNvPr id="14" name="Text 11"/>
          <p:cNvSpPr/>
          <p:nvPr/>
        </p:nvSpPr>
        <p:spPr>
          <a:xfrm>
            <a:off x="7333488" y="1929384"/>
            <a:ext cx="4169664" cy="347472"/>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Aptos" pitchFamily="34" charset="0"/>
                <a:ea typeface="Aptos" pitchFamily="34" charset="-122"/>
                <a:cs typeface="Aptos" pitchFamily="34" charset="-120"/>
              </a:rPr>
              <a:t>Classification</a:t>
            </a:r>
            <a:endParaRPr lang="en-US" sz="1500" dirty="0"/>
          </a:p>
        </p:txBody>
      </p:sp>
      <p:sp>
        <p:nvSpPr>
          <p:cNvPr id="15" name="Shape 12"/>
          <p:cNvSpPr/>
          <p:nvPr/>
        </p:nvSpPr>
        <p:spPr>
          <a:xfrm>
            <a:off x="548640" y="2304288"/>
            <a:ext cx="731520" cy="484632"/>
          </a:xfrm>
          <a:prstGeom prst="rect">
            <a:avLst/>
          </a:prstGeom>
          <a:solidFill>
            <a:srgbClr val="EFF5F6"/>
          </a:solidFill>
          <a:ln w="6350">
            <a:solidFill>
              <a:srgbClr val="D9E3E6"/>
            </a:solidFill>
            <a:prstDash val="solid"/>
          </a:ln>
        </p:spPr>
      </p:sp>
      <p:sp>
        <p:nvSpPr>
          <p:cNvPr id="16" name="Text 13"/>
          <p:cNvSpPr/>
          <p:nvPr/>
        </p:nvSpPr>
        <p:spPr>
          <a:xfrm>
            <a:off x="658368" y="2404872"/>
            <a:ext cx="512064" cy="329184"/>
          </a:xfrm>
          <a:prstGeom prst="rect">
            <a:avLst/>
          </a:prstGeom>
          <a:noFill/>
          <a:ln/>
        </p:spPr>
        <p:txBody>
          <a:bodyPr wrap="square" lIns="0" tIns="0" rIns="0" bIns="0" rtlCol="0" anchor="ctr">
            <a:normAutofit/>
          </a:bodyPr>
          <a:lstStyle/>
          <a:p>
            <a:pPr indent="0" marL="0">
              <a:buNone/>
            </a:pPr>
            <a:r>
              <a:rPr lang="en-US" sz="1500" dirty="0">
                <a:solidFill>
                  <a:srgbClr val="162733"/>
                </a:solidFill>
                <a:latin typeface="Aptos" pitchFamily="34" charset="0"/>
                <a:ea typeface="Aptos" pitchFamily="34" charset="-122"/>
                <a:cs typeface="Aptos" pitchFamily="34" charset="-120"/>
              </a:rPr>
              <a:t>01</a:t>
            </a:r>
            <a:endParaRPr lang="en-US" sz="1500" dirty="0"/>
          </a:p>
        </p:txBody>
      </p:sp>
      <p:sp>
        <p:nvSpPr>
          <p:cNvPr id="17" name="Shape 14"/>
          <p:cNvSpPr/>
          <p:nvPr/>
        </p:nvSpPr>
        <p:spPr>
          <a:xfrm>
            <a:off x="1280160" y="2304288"/>
            <a:ext cx="5943600" cy="484632"/>
          </a:xfrm>
          <a:prstGeom prst="rect">
            <a:avLst/>
          </a:prstGeom>
          <a:solidFill>
            <a:srgbClr val="EFF5F6"/>
          </a:solidFill>
          <a:ln w="6350">
            <a:solidFill>
              <a:srgbClr val="D9E3E6"/>
            </a:solidFill>
            <a:prstDash val="solid"/>
          </a:ln>
        </p:spPr>
      </p:sp>
      <p:sp>
        <p:nvSpPr>
          <p:cNvPr id="18" name="Text 15"/>
          <p:cNvSpPr/>
          <p:nvPr/>
        </p:nvSpPr>
        <p:spPr>
          <a:xfrm>
            <a:off x="1389888" y="2404872"/>
            <a:ext cx="5724144" cy="329184"/>
          </a:xfrm>
          <a:prstGeom prst="rect">
            <a:avLst/>
          </a:prstGeom>
          <a:noFill/>
          <a:ln/>
        </p:spPr>
        <p:txBody>
          <a:bodyPr wrap="square" lIns="0" tIns="0" rIns="0" bIns="0" rtlCol="0" anchor="ctr">
            <a:normAutofit/>
          </a:bodyPr>
          <a:lstStyle/>
          <a:p>
            <a:pPr indent="0" marL="0">
              <a:buNone/>
            </a:pPr>
            <a:r>
              <a:rPr lang="en-US" sz="1500" dirty="0">
                <a:solidFill>
                  <a:srgbClr val="162733"/>
                </a:solidFill>
                <a:latin typeface="Aptos" pitchFamily="34" charset="0"/>
                <a:ea typeface="Aptos" pitchFamily="34" charset="-122"/>
                <a:cs typeface="Aptos" pitchFamily="34" charset="-120"/>
              </a:rPr>
              <a:t>Rank fitting + corrected search</a:t>
            </a:r>
            <a:endParaRPr lang="en-US" sz="1500" dirty="0"/>
          </a:p>
        </p:txBody>
      </p:sp>
      <p:sp>
        <p:nvSpPr>
          <p:cNvPr id="19" name="Shape 16"/>
          <p:cNvSpPr/>
          <p:nvPr/>
        </p:nvSpPr>
        <p:spPr>
          <a:xfrm>
            <a:off x="7223760" y="2304288"/>
            <a:ext cx="4389120" cy="484632"/>
          </a:xfrm>
          <a:prstGeom prst="rect">
            <a:avLst/>
          </a:prstGeom>
          <a:solidFill>
            <a:srgbClr val="EFF5F6"/>
          </a:solidFill>
          <a:ln w="6350">
            <a:solidFill>
              <a:srgbClr val="D9E3E6"/>
            </a:solidFill>
            <a:prstDash val="solid"/>
          </a:ln>
        </p:spPr>
      </p:sp>
      <p:sp>
        <p:nvSpPr>
          <p:cNvPr id="20" name="Text 17"/>
          <p:cNvSpPr/>
          <p:nvPr/>
        </p:nvSpPr>
        <p:spPr>
          <a:xfrm>
            <a:off x="7333488" y="2404872"/>
            <a:ext cx="4169664" cy="329184"/>
          </a:xfrm>
          <a:prstGeom prst="rect">
            <a:avLst/>
          </a:prstGeom>
          <a:noFill/>
          <a:ln/>
        </p:spPr>
        <p:txBody>
          <a:bodyPr wrap="square" lIns="0" tIns="0" rIns="0" bIns="0" rtlCol="0" anchor="ctr">
            <a:normAutofit/>
          </a:bodyPr>
          <a:lstStyle/>
          <a:p>
            <a:pPr indent="0" marL="0">
              <a:buNone/>
            </a:pPr>
            <a:r>
              <a:rPr lang="en-US" sz="1500" dirty="0">
                <a:solidFill>
                  <a:srgbClr val="162733"/>
                </a:solidFill>
                <a:latin typeface="Aptos" pitchFamily="34" charset="0"/>
                <a:ea typeface="Aptos" pitchFamily="34" charset="-122"/>
                <a:cs typeface="Aptos" pitchFamily="34" charset="-120"/>
              </a:rPr>
              <a:t>Teaching model</a:t>
            </a:r>
            <a:endParaRPr lang="en-US" sz="1500" dirty="0"/>
          </a:p>
        </p:txBody>
      </p:sp>
      <p:sp>
        <p:nvSpPr>
          <p:cNvPr id="21" name="Shape 18"/>
          <p:cNvSpPr/>
          <p:nvPr/>
        </p:nvSpPr>
        <p:spPr>
          <a:xfrm>
            <a:off x="548640" y="2788920"/>
            <a:ext cx="731520" cy="484632"/>
          </a:xfrm>
          <a:prstGeom prst="rect">
            <a:avLst/>
          </a:prstGeom>
          <a:solidFill>
            <a:srgbClr val="FFFFFF"/>
          </a:solidFill>
          <a:ln w="6350">
            <a:solidFill>
              <a:srgbClr val="D9E3E6"/>
            </a:solidFill>
            <a:prstDash val="solid"/>
          </a:ln>
        </p:spPr>
      </p:sp>
      <p:sp>
        <p:nvSpPr>
          <p:cNvPr id="22" name="Text 19"/>
          <p:cNvSpPr/>
          <p:nvPr/>
        </p:nvSpPr>
        <p:spPr>
          <a:xfrm>
            <a:off x="658368" y="2889504"/>
            <a:ext cx="512064" cy="329184"/>
          </a:xfrm>
          <a:prstGeom prst="rect">
            <a:avLst/>
          </a:prstGeom>
          <a:noFill/>
          <a:ln/>
        </p:spPr>
        <p:txBody>
          <a:bodyPr wrap="square" lIns="0" tIns="0" rIns="0" bIns="0" rtlCol="0" anchor="ctr">
            <a:normAutofit/>
          </a:bodyPr>
          <a:lstStyle/>
          <a:p>
            <a:pPr indent="0" marL="0">
              <a:buNone/>
            </a:pPr>
            <a:r>
              <a:rPr lang="en-US" sz="1500" dirty="0">
                <a:solidFill>
                  <a:srgbClr val="162733"/>
                </a:solidFill>
                <a:latin typeface="Aptos" pitchFamily="34" charset="0"/>
                <a:ea typeface="Aptos" pitchFamily="34" charset="-122"/>
                <a:cs typeface="Aptos" pitchFamily="34" charset="-120"/>
              </a:rPr>
              <a:t>02</a:t>
            </a:r>
            <a:endParaRPr lang="en-US" sz="1500" dirty="0"/>
          </a:p>
        </p:txBody>
      </p:sp>
      <p:sp>
        <p:nvSpPr>
          <p:cNvPr id="23" name="Shape 20"/>
          <p:cNvSpPr/>
          <p:nvPr/>
        </p:nvSpPr>
        <p:spPr>
          <a:xfrm>
            <a:off x="1280160" y="2788920"/>
            <a:ext cx="5943600" cy="484632"/>
          </a:xfrm>
          <a:prstGeom prst="rect">
            <a:avLst/>
          </a:prstGeom>
          <a:solidFill>
            <a:srgbClr val="FFFFFF"/>
          </a:solidFill>
          <a:ln w="6350">
            <a:solidFill>
              <a:srgbClr val="D9E3E6"/>
            </a:solidFill>
            <a:prstDash val="solid"/>
          </a:ln>
        </p:spPr>
      </p:sp>
      <p:sp>
        <p:nvSpPr>
          <p:cNvPr id="24" name="Text 21"/>
          <p:cNvSpPr/>
          <p:nvPr/>
        </p:nvSpPr>
        <p:spPr>
          <a:xfrm>
            <a:off x="1389888" y="2889504"/>
            <a:ext cx="5724144" cy="329184"/>
          </a:xfrm>
          <a:prstGeom prst="rect">
            <a:avLst/>
          </a:prstGeom>
          <a:noFill/>
          <a:ln/>
        </p:spPr>
        <p:txBody>
          <a:bodyPr wrap="square" lIns="0" tIns="0" rIns="0" bIns="0" rtlCol="0" anchor="ctr">
            <a:normAutofit/>
          </a:bodyPr>
          <a:lstStyle/>
          <a:p>
            <a:pPr indent="0" marL="0">
              <a:buNone/>
            </a:pPr>
            <a:r>
              <a:rPr lang="en-US" sz="1500" dirty="0">
                <a:solidFill>
                  <a:srgbClr val="162733"/>
                </a:solidFill>
                <a:latin typeface="Aptos" pitchFamily="34" charset="0"/>
                <a:ea typeface="Aptos" pitchFamily="34" charset="-122"/>
                <a:cs typeface="Aptos" pitchFamily="34" charset="-120"/>
              </a:rPr>
              <a:t>RadixSpline / binary exact lower_bound</a:t>
            </a:r>
            <a:endParaRPr lang="en-US" sz="1500" dirty="0"/>
          </a:p>
        </p:txBody>
      </p:sp>
      <p:sp>
        <p:nvSpPr>
          <p:cNvPr id="25" name="Shape 22"/>
          <p:cNvSpPr/>
          <p:nvPr/>
        </p:nvSpPr>
        <p:spPr>
          <a:xfrm>
            <a:off x="7223760" y="2788920"/>
            <a:ext cx="4389120" cy="484632"/>
          </a:xfrm>
          <a:prstGeom prst="rect">
            <a:avLst/>
          </a:prstGeom>
          <a:solidFill>
            <a:srgbClr val="FFFFFF"/>
          </a:solidFill>
          <a:ln w="6350">
            <a:solidFill>
              <a:srgbClr val="D9E3E6"/>
            </a:solidFill>
            <a:prstDash val="solid"/>
          </a:ln>
        </p:spPr>
      </p:sp>
      <p:sp>
        <p:nvSpPr>
          <p:cNvPr id="26" name="Text 23"/>
          <p:cNvSpPr/>
          <p:nvPr/>
        </p:nvSpPr>
        <p:spPr>
          <a:xfrm>
            <a:off x="7333488" y="2889504"/>
            <a:ext cx="4169664" cy="329184"/>
          </a:xfrm>
          <a:prstGeom prst="rect">
            <a:avLst/>
          </a:prstGeom>
          <a:noFill/>
          <a:ln/>
        </p:spPr>
        <p:txBody>
          <a:bodyPr wrap="square" lIns="0" tIns="0" rIns="0" bIns="0" rtlCol="0" anchor="ctr">
            <a:normAutofit/>
          </a:bodyPr>
          <a:lstStyle/>
          <a:p>
            <a:pPr indent="0" marL="0">
              <a:buNone/>
            </a:pPr>
            <a:r>
              <a:rPr lang="en-US" sz="1500" dirty="0">
                <a:solidFill>
                  <a:srgbClr val="162733"/>
                </a:solidFill>
                <a:latin typeface="Aptos" pitchFamily="34" charset="0"/>
                <a:ea typeface="Aptos" pitchFamily="34" charset="-122"/>
                <a:cs typeface="Aptos" pitchFamily="34" charset="-120"/>
              </a:rPr>
              <a:t>Source-derived native</a:t>
            </a:r>
            <a:endParaRPr lang="en-US" sz="1500" dirty="0"/>
          </a:p>
        </p:txBody>
      </p:sp>
      <p:sp>
        <p:nvSpPr>
          <p:cNvPr id="27" name="Shape 24"/>
          <p:cNvSpPr/>
          <p:nvPr/>
        </p:nvSpPr>
        <p:spPr>
          <a:xfrm>
            <a:off x="548640" y="3273552"/>
            <a:ext cx="731520" cy="484632"/>
          </a:xfrm>
          <a:prstGeom prst="rect">
            <a:avLst/>
          </a:prstGeom>
          <a:solidFill>
            <a:srgbClr val="EFF5F6"/>
          </a:solidFill>
          <a:ln w="6350">
            <a:solidFill>
              <a:srgbClr val="D9E3E6"/>
            </a:solidFill>
            <a:prstDash val="solid"/>
          </a:ln>
        </p:spPr>
      </p:sp>
      <p:sp>
        <p:nvSpPr>
          <p:cNvPr id="28" name="Text 25"/>
          <p:cNvSpPr/>
          <p:nvPr/>
        </p:nvSpPr>
        <p:spPr>
          <a:xfrm>
            <a:off x="658368" y="3374136"/>
            <a:ext cx="512064" cy="329184"/>
          </a:xfrm>
          <a:prstGeom prst="rect">
            <a:avLst/>
          </a:prstGeom>
          <a:noFill/>
          <a:ln/>
        </p:spPr>
        <p:txBody>
          <a:bodyPr wrap="square" lIns="0" tIns="0" rIns="0" bIns="0" rtlCol="0" anchor="ctr">
            <a:normAutofit/>
          </a:bodyPr>
          <a:lstStyle/>
          <a:p>
            <a:pPr indent="0" marL="0">
              <a:buNone/>
            </a:pPr>
            <a:r>
              <a:rPr lang="en-US" sz="1500" dirty="0">
                <a:solidFill>
                  <a:srgbClr val="162733"/>
                </a:solidFill>
                <a:latin typeface="Aptos" pitchFamily="34" charset="0"/>
                <a:ea typeface="Aptos" pitchFamily="34" charset="-122"/>
                <a:cs typeface="Aptos" pitchFamily="34" charset="-120"/>
              </a:rPr>
              <a:t>03</a:t>
            </a:r>
            <a:endParaRPr lang="en-US" sz="1500" dirty="0"/>
          </a:p>
        </p:txBody>
      </p:sp>
      <p:sp>
        <p:nvSpPr>
          <p:cNvPr id="29" name="Shape 26"/>
          <p:cNvSpPr/>
          <p:nvPr/>
        </p:nvSpPr>
        <p:spPr>
          <a:xfrm>
            <a:off x="1280160" y="3273552"/>
            <a:ext cx="5943600" cy="484632"/>
          </a:xfrm>
          <a:prstGeom prst="rect">
            <a:avLst/>
          </a:prstGeom>
          <a:solidFill>
            <a:srgbClr val="EFF5F6"/>
          </a:solidFill>
          <a:ln w="6350">
            <a:solidFill>
              <a:srgbClr val="D9E3E6"/>
            </a:solidFill>
            <a:prstDash val="solid"/>
          </a:ln>
        </p:spPr>
      </p:sp>
      <p:sp>
        <p:nvSpPr>
          <p:cNvPr id="30" name="Text 27"/>
          <p:cNvSpPr/>
          <p:nvPr/>
        </p:nvSpPr>
        <p:spPr>
          <a:xfrm>
            <a:off x="1389888" y="3374136"/>
            <a:ext cx="5724144" cy="329184"/>
          </a:xfrm>
          <a:prstGeom prst="rect">
            <a:avLst/>
          </a:prstGeom>
          <a:noFill/>
          <a:ln/>
        </p:spPr>
        <p:txBody>
          <a:bodyPr wrap="square" lIns="0" tIns="0" rIns="0" bIns="0" rtlCol="0" anchor="ctr">
            <a:normAutofit/>
          </a:bodyPr>
          <a:lstStyle/>
          <a:p>
            <a:pPr indent="0" marL="0">
              <a:buNone/>
            </a:pPr>
            <a:r>
              <a:rPr lang="en-US" sz="1500" dirty="0">
                <a:solidFill>
                  <a:srgbClr val="162733"/>
                </a:solidFill>
                <a:latin typeface="Aptos" pitchFamily="34" charset="0"/>
                <a:ea typeface="Aptos" pitchFamily="34" charset="-122"/>
                <a:cs typeface="Aptos" pitchFamily="34" charset="-120"/>
              </a:rPr>
              <a:t>NFL table ratios + batching</a:t>
            </a:r>
            <a:endParaRPr lang="en-US" sz="1500" dirty="0"/>
          </a:p>
        </p:txBody>
      </p:sp>
      <p:sp>
        <p:nvSpPr>
          <p:cNvPr id="31" name="Shape 28"/>
          <p:cNvSpPr/>
          <p:nvPr/>
        </p:nvSpPr>
        <p:spPr>
          <a:xfrm>
            <a:off x="7223760" y="3273552"/>
            <a:ext cx="4389120" cy="484632"/>
          </a:xfrm>
          <a:prstGeom prst="rect">
            <a:avLst/>
          </a:prstGeom>
          <a:solidFill>
            <a:srgbClr val="EFF5F6"/>
          </a:solidFill>
          <a:ln w="6350">
            <a:solidFill>
              <a:srgbClr val="D9E3E6"/>
            </a:solidFill>
            <a:prstDash val="solid"/>
          </a:ln>
        </p:spPr>
      </p:sp>
      <p:sp>
        <p:nvSpPr>
          <p:cNvPr id="32" name="Text 29"/>
          <p:cNvSpPr/>
          <p:nvPr/>
        </p:nvSpPr>
        <p:spPr>
          <a:xfrm>
            <a:off x="7333488" y="3374136"/>
            <a:ext cx="4169664" cy="329184"/>
          </a:xfrm>
          <a:prstGeom prst="rect">
            <a:avLst/>
          </a:prstGeom>
          <a:noFill/>
          <a:ln/>
        </p:spPr>
        <p:txBody>
          <a:bodyPr wrap="square" lIns="0" tIns="0" rIns="0" bIns="0" rtlCol="0" anchor="ctr">
            <a:normAutofit/>
          </a:bodyPr>
          <a:lstStyle/>
          <a:p>
            <a:pPr indent="0" marL="0">
              <a:buNone/>
            </a:pPr>
            <a:r>
              <a:rPr lang="en-US" sz="1500" dirty="0">
                <a:solidFill>
                  <a:srgbClr val="162733"/>
                </a:solidFill>
                <a:latin typeface="Aptos" pitchFamily="34" charset="0"/>
                <a:ea typeface="Aptos" pitchFamily="34" charset="-122"/>
                <a:cs typeface="Aptos" pitchFamily="34" charset="-120"/>
              </a:rPr>
              <a:t>Published evidence</a:t>
            </a:r>
            <a:endParaRPr lang="en-US" sz="1500" dirty="0"/>
          </a:p>
        </p:txBody>
      </p:sp>
      <p:sp>
        <p:nvSpPr>
          <p:cNvPr id="33" name="Shape 30"/>
          <p:cNvSpPr/>
          <p:nvPr/>
        </p:nvSpPr>
        <p:spPr>
          <a:xfrm>
            <a:off x="548640" y="3758184"/>
            <a:ext cx="731520" cy="484632"/>
          </a:xfrm>
          <a:prstGeom prst="rect">
            <a:avLst/>
          </a:prstGeom>
          <a:solidFill>
            <a:srgbClr val="FFFFFF"/>
          </a:solidFill>
          <a:ln w="6350">
            <a:solidFill>
              <a:srgbClr val="D9E3E6"/>
            </a:solidFill>
            <a:prstDash val="solid"/>
          </a:ln>
        </p:spPr>
      </p:sp>
      <p:sp>
        <p:nvSpPr>
          <p:cNvPr id="34" name="Text 31"/>
          <p:cNvSpPr/>
          <p:nvPr/>
        </p:nvSpPr>
        <p:spPr>
          <a:xfrm>
            <a:off x="658368" y="3858768"/>
            <a:ext cx="512064" cy="329184"/>
          </a:xfrm>
          <a:prstGeom prst="rect">
            <a:avLst/>
          </a:prstGeom>
          <a:noFill/>
          <a:ln/>
        </p:spPr>
        <p:txBody>
          <a:bodyPr wrap="square" lIns="0" tIns="0" rIns="0" bIns="0" rtlCol="0" anchor="ctr">
            <a:normAutofit/>
          </a:bodyPr>
          <a:lstStyle/>
          <a:p>
            <a:pPr indent="0" marL="0">
              <a:buNone/>
            </a:pPr>
            <a:r>
              <a:rPr lang="en-US" sz="1500" dirty="0">
                <a:solidFill>
                  <a:srgbClr val="162733"/>
                </a:solidFill>
                <a:latin typeface="Aptos" pitchFamily="34" charset="0"/>
                <a:ea typeface="Aptos" pitchFamily="34" charset="-122"/>
                <a:cs typeface="Aptos" pitchFamily="34" charset="-120"/>
              </a:rPr>
              <a:t>04</a:t>
            </a:r>
            <a:endParaRPr lang="en-US" sz="1500" dirty="0"/>
          </a:p>
        </p:txBody>
      </p:sp>
      <p:sp>
        <p:nvSpPr>
          <p:cNvPr id="35" name="Shape 32"/>
          <p:cNvSpPr/>
          <p:nvPr/>
        </p:nvSpPr>
        <p:spPr>
          <a:xfrm>
            <a:off x="1280160" y="3758184"/>
            <a:ext cx="5943600" cy="484632"/>
          </a:xfrm>
          <a:prstGeom prst="rect">
            <a:avLst/>
          </a:prstGeom>
          <a:solidFill>
            <a:srgbClr val="FFFFFF"/>
          </a:solidFill>
          <a:ln w="6350">
            <a:solidFill>
              <a:srgbClr val="D9E3E6"/>
            </a:solidFill>
            <a:prstDash val="solid"/>
          </a:ln>
        </p:spPr>
      </p:sp>
      <p:sp>
        <p:nvSpPr>
          <p:cNvPr id="36" name="Text 33"/>
          <p:cNvSpPr/>
          <p:nvPr/>
        </p:nvSpPr>
        <p:spPr>
          <a:xfrm>
            <a:off x="1389888" y="3858768"/>
            <a:ext cx="5724144" cy="329184"/>
          </a:xfrm>
          <a:prstGeom prst="rect">
            <a:avLst/>
          </a:prstGeom>
          <a:noFill/>
          <a:ln/>
        </p:spPr>
        <p:txBody>
          <a:bodyPr wrap="square" lIns="0" tIns="0" rIns="0" bIns="0" rtlCol="0" anchor="ctr">
            <a:normAutofit/>
          </a:bodyPr>
          <a:lstStyle/>
          <a:p>
            <a:pPr indent="0" marL="0">
              <a:buNone/>
            </a:pPr>
            <a:r>
              <a:rPr lang="en-US" sz="1500" dirty="0">
                <a:solidFill>
                  <a:srgbClr val="162733"/>
                </a:solidFill>
                <a:latin typeface="Aptos" pitchFamily="34" charset="0"/>
                <a:ea typeface="Aptos" pitchFamily="34" charset="-122"/>
                <a:cs typeface="Aptos" pitchFamily="34" charset="-120"/>
              </a:rPr>
              <a:t>Matched compression and routing</a:t>
            </a:r>
            <a:endParaRPr lang="en-US" sz="1500" dirty="0"/>
          </a:p>
        </p:txBody>
      </p:sp>
      <p:sp>
        <p:nvSpPr>
          <p:cNvPr id="37" name="Shape 34"/>
          <p:cNvSpPr/>
          <p:nvPr/>
        </p:nvSpPr>
        <p:spPr>
          <a:xfrm>
            <a:off x="7223760" y="3758184"/>
            <a:ext cx="4389120" cy="484632"/>
          </a:xfrm>
          <a:prstGeom prst="rect">
            <a:avLst/>
          </a:prstGeom>
          <a:solidFill>
            <a:srgbClr val="FFFFFF"/>
          </a:solidFill>
          <a:ln w="6350">
            <a:solidFill>
              <a:srgbClr val="D9E3E6"/>
            </a:solidFill>
            <a:prstDash val="solid"/>
          </a:ln>
        </p:spPr>
      </p:sp>
      <p:sp>
        <p:nvSpPr>
          <p:cNvPr id="38" name="Text 35"/>
          <p:cNvSpPr/>
          <p:nvPr/>
        </p:nvSpPr>
        <p:spPr>
          <a:xfrm>
            <a:off x="7333488" y="3858768"/>
            <a:ext cx="4169664" cy="329184"/>
          </a:xfrm>
          <a:prstGeom prst="rect">
            <a:avLst/>
          </a:prstGeom>
          <a:noFill/>
          <a:ln/>
        </p:spPr>
        <p:txBody>
          <a:bodyPr wrap="square" lIns="0" tIns="0" rIns="0" bIns="0" rtlCol="0" anchor="ctr">
            <a:normAutofit/>
          </a:bodyPr>
          <a:lstStyle/>
          <a:p>
            <a:pPr indent="0" marL="0">
              <a:buNone/>
            </a:pPr>
            <a:r>
              <a:rPr lang="en-US" sz="1500" dirty="0">
                <a:solidFill>
                  <a:srgbClr val="162733"/>
                </a:solidFill>
                <a:latin typeface="Aptos" pitchFamily="34" charset="0"/>
                <a:ea typeface="Aptos" pitchFamily="34" charset="-122"/>
                <a:cs typeface="Aptos" pitchFamily="34" charset="-120"/>
              </a:rPr>
              <a:t>Experimental native map</a:t>
            </a:r>
            <a:endParaRPr lang="en-US" sz="1500" dirty="0"/>
          </a:p>
        </p:txBody>
      </p:sp>
      <p:sp>
        <p:nvSpPr>
          <p:cNvPr id="39" name="Shape 36"/>
          <p:cNvSpPr/>
          <p:nvPr/>
        </p:nvSpPr>
        <p:spPr>
          <a:xfrm>
            <a:off x="548640" y="4242816"/>
            <a:ext cx="731520" cy="484632"/>
          </a:xfrm>
          <a:prstGeom prst="rect">
            <a:avLst/>
          </a:prstGeom>
          <a:solidFill>
            <a:srgbClr val="EFF5F6"/>
          </a:solidFill>
          <a:ln w="6350">
            <a:solidFill>
              <a:srgbClr val="D9E3E6"/>
            </a:solidFill>
            <a:prstDash val="solid"/>
          </a:ln>
        </p:spPr>
      </p:sp>
      <p:sp>
        <p:nvSpPr>
          <p:cNvPr id="40" name="Text 37"/>
          <p:cNvSpPr/>
          <p:nvPr/>
        </p:nvSpPr>
        <p:spPr>
          <a:xfrm>
            <a:off x="658368" y="4343400"/>
            <a:ext cx="512064" cy="329184"/>
          </a:xfrm>
          <a:prstGeom prst="rect">
            <a:avLst/>
          </a:prstGeom>
          <a:noFill/>
          <a:ln/>
        </p:spPr>
        <p:txBody>
          <a:bodyPr wrap="square" lIns="0" tIns="0" rIns="0" bIns="0" rtlCol="0" anchor="ctr">
            <a:normAutofit/>
          </a:bodyPr>
          <a:lstStyle/>
          <a:p>
            <a:pPr indent="0" marL="0">
              <a:buNone/>
            </a:pPr>
            <a:r>
              <a:rPr lang="en-US" sz="1500" dirty="0">
                <a:solidFill>
                  <a:srgbClr val="162733"/>
                </a:solidFill>
                <a:latin typeface="Aptos" pitchFamily="34" charset="0"/>
                <a:ea typeface="Aptos" pitchFamily="34" charset="-122"/>
                <a:cs typeface="Aptos" pitchFamily="34" charset="-120"/>
              </a:rPr>
              <a:t>05</a:t>
            </a:r>
            <a:endParaRPr lang="en-US" sz="1500" dirty="0"/>
          </a:p>
        </p:txBody>
      </p:sp>
      <p:sp>
        <p:nvSpPr>
          <p:cNvPr id="41" name="Shape 38"/>
          <p:cNvSpPr/>
          <p:nvPr/>
        </p:nvSpPr>
        <p:spPr>
          <a:xfrm>
            <a:off x="1280160" y="4242816"/>
            <a:ext cx="5943600" cy="484632"/>
          </a:xfrm>
          <a:prstGeom prst="rect">
            <a:avLst/>
          </a:prstGeom>
          <a:solidFill>
            <a:srgbClr val="EFF5F6"/>
          </a:solidFill>
          <a:ln w="6350">
            <a:solidFill>
              <a:srgbClr val="D9E3E6"/>
            </a:solidFill>
            <a:prstDash val="solid"/>
          </a:ln>
        </p:spPr>
      </p:sp>
      <p:sp>
        <p:nvSpPr>
          <p:cNvPr id="42" name="Text 39"/>
          <p:cNvSpPr/>
          <p:nvPr/>
        </p:nvSpPr>
        <p:spPr>
          <a:xfrm>
            <a:off x="1389888" y="4343400"/>
            <a:ext cx="5724144" cy="329184"/>
          </a:xfrm>
          <a:prstGeom prst="rect">
            <a:avLst/>
          </a:prstGeom>
          <a:noFill/>
          <a:ln/>
        </p:spPr>
        <p:txBody>
          <a:bodyPr wrap="square" lIns="0" tIns="0" rIns="0" bIns="0" rtlCol="0" anchor="ctr">
            <a:normAutofit/>
          </a:bodyPr>
          <a:lstStyle/>
          <a:p>
            <a:pPr indent="0" marL="0">
              <a:buNone/>
            </a:pPr>
            <a:r>
              <a:rPr lang="en-US" sz="1500" dirty="0">
                <a:solidFill>
                  <a:srgbClr val="162733"/>
                </a:solidFill>
                <a:latin typeface="Aptos" pitchFamily="34" charset="0"/>
                <a:ea typeface="Aptos" pitchFamily="34" charset="-122"/>
                <a:cs typeface="Aptos" pitchFamily="34" charset="-120"/>
              </a:rPr>
              <a:t>Greedy / exhaustive virtual points</a:t>
            </a:r>
            <a:endParaRPr lang="en-US" sz="1500" dirty="0"/>
          </a:p>
        </p:txBody>
      </p:sp>
      <p:sp>
        <p:nvSpPr>
          <p:cNvPr id="43" name="Shape 40"/>
          <p:cNvSpPr/>
          <p:nvPr/>
        </p:nvSpPr>
        <p:spPr>
          <a:xfrm>
            <a:off x="7223760" y="4242816"/>
            <a:ext cx="4389120" cy="484632"/>
          </a:xfrm>
          <a:prstGeom prst="rect">
            <a:avLst/>
          </a:prstGeom>
          <a:solidFill>
            <a:srgbClr val="EFF5F6"/>
          </a:solidFill>
          <a:ln w="6350">
            <a:solidFill>
              <a:srgbClr val="D9E3E6"/>
            </a:solidFill>
            <a:prstDash val="solid"/>
          </a:ln>
        </p:spPr>
      </p:sp>
      <p:sp>
        <p:nvSpPr>
          <p:cNvPr id="44" name="Text 41"/>
          <p:cNvSpPr/>
          <p:nvPr/>
        </p:nvSpPr>
        <p:spPr>
          <a:xfrm>
            <a:off x="7333488" y="4343400"/>
            <a:ext cx="4169664" cy="329184"/>
          </a:xfrm>
          <a:prstGeom prst="rect">
            <a:avLst/>
          </a:prstGeom>
          <a:noFill/>
          <a:ln/>
        </p:spPr>
        <p:txBody>
          <a:bodyPr wrap="square" lIns="0" tIns="0" rIns="0" bIns="0" rtlCol="0" anchor="ctr">
            <a:normAutofit/>
          </a:bodyPr>
          <a:lstStyle/>
          <a:p>
            <a:pPr indent="0" marL="0">
              <a:buNone/>
            </a:pPr>
            <a:r>
              <a:rPr lang="en-US" sz="1500" dirty="0">
                <a:solidFill>
                  <a:srgbClr val="162733"/>
                </a:solidFill>
                <a:latin typeface="Aptos" pitchFamily="34" charset="0"/>
                <a:ea typeface="Aptos" pitchFamily="34" charset="-122"/>
                <a:cs typeface="Aptos" pitchFamily="34" charset="-120"/>
              </a:rPr>
              <a:t>Teaching model</a:t>
            </a:r>
            <a:endParaRPr lang="en-US" sz="1500" dirty="0"/>
          </a:p>
        </p:txBody>
      </p:sp>
      <p:sp>
        <p:nvSpPr>
          <p:cNvPr id="45" name="Shape 42"/>
          <p:cNvSpPr/>
          <p:nvPr/>
        </p:nvSpPr>
        <p:spPr>
          <a:xfrm>
            <a:off x="548640" y="4727448"/>
            <a:ext cx="731520" cy="484632"/>
          </a:xfrm>
          <a:prstGeom prst="rect">
            <a:avLst/>
          </a:prstGeom>
          <a:solidFill>
            <a:srgbClr val="FFFFFF"/>
          </a:solidFill>
          <a:ln w="6350">
            <a:solidFill>
              <a:srgbClr val="D9E3E6"/>
            </a:solidFill>
            <a:prstDash val="solid"/>
          </a:ln>
        </p:spPr>
      </p:sp>
      <p:sp>
        <p:nvSpPr>
          <p:cNvPr id="46" name="Text 43"/>
          <p:cNvSpPr/>
          <p:nvPr/>
        </p:nvSpPr>
        <p:spPr>
          <a:xfrm>
            <a:off x="658368" y="4828032"/>
            <a:ext cx="512064" cy="329184"/>
          </a:xfrm>
          <a:prstGeom prst="rect">
            <a:avLst/>
          </a:prstGeom>
          <a:noFill/>
          <a:ln/>
        </p:spPr>
        <p:txBody>
          <a:bodyPr wrap="square" lIns="0" tIns="0" rIns="0" bIns="0" rtlCol="0" anchor="ctr">
            <a:normAutofit/>
          </a:bodyPr>
          <a:lstStyle/>
          <a:p>
            <a:pPr indent="0" marL="0">
              <a:buNone/>
            </a:pPr>
            <a:r>
              <a:rPr lang="en-US" sz="1500" dirty="0">
                <a:solidFill>
                  <a:srgbClr val="162733"/>
                </a:solidFill>
                <a:latin typeface="Aptos" pitchFamily="34" charset="0"/>
                <a:ea typeface="Aptos" pitchFamily="34" charset="-122"/>
                <a:cs typeface="Aptos" pitchFamily="34" charset="-120"/>
              </a:rPr>
              <a:t>06</a:t>
            </a:r>
            <a:endParaRPr lang="en-US" sz="1500" dirty="0"/>
          </a:p>
        </p:txBody>
      </p:sp>
      <p:sp>
        <p:nvSpPr>
          <p:cNvPr id="47" name="Shape 44"/>
          <p:cNvSpPr/>
          <p:nvPr/>
        </p:nvSpPr>
        <p:spPr>
          <a:xfrm>
            <a:off x="1280160" y="4727448"/>
            <a:ext cx="5943600" cy="484632"/>
          </a:xfrm>
          <a:prstGeom prst="rect">
            <a:avLst/>
          </a:prstGeom>
          <a:solidFill>
            <a:srgbClr val="FFFFFF"/>
          </a:solidFill>
          <a:ln w="6350">
            <a:solidFill>
              <a:srgbClr val="D9E3E6"/>
            </a:solidFill>
            <a:prstDash val="solid"/>
          </a:ln>
        </p:spPr>
      </p:sp>
      <p:sp>
        <p:nvSpPr>
          <p:cNvPr id="48" name="Text 45"/>
          <p:cNvSpPr/>
          <p:nvPr/>
        </p:nvSpPr>
        <p:spPr>
          <a:xfrm>
            <a:off x="1389888" y="4828032"/>
            <a:ext cx="5724144" cy="329184"/>
          </a:xfrm>
          <a:prstGeom prst="rect">
            <a:avLst/>
          </a:prstGeom>
          <a:noFill/>
          <a:ln/>
        </p:spPr>
        <p:txBody>
          <a:bodyPr wrap="square" lIns="0" tIns="0" rIns="0" bIns="0" rtlCol="0" anchor="ctr">
            <a:normAutofit/>
          </a:bodyPr>
          <a:lstStyle/>
          <a:p>
            <a:pPr indent="0" marL="0">
              <a:buNone/>
            </a:pPr>
            <a:r>
              <a:rPr lang="en-US" sz="1500" dirty="0">
                <a:solidFill>
                  <a:srgbClr val="162733"/>
                </a:solidFill>
                <a:latin typeface="Aptos" pitchFamily="34" charset="0"/>
                <a:ea typeface="Aptos" pitchFamily="34" charset="-122"/>
                <a:cs typeface="Aptos" pitchFamily="34" charset="-120"/>
              </a:rPr>
              <a:t>Geometry + matched mutation tails</a:t>
            </a:r>
            <a:endParaRPr lang="en-US" sz="1500" dirty="0"/>
          </a:p>
        </p:txBody>
      </p:sp>
      <p:sp>
        <p:nvSpPr>
          <p:cNvPr id="49" name="Shape 46"/>
          <p:cNvSpPr/>
          <p:nvPr/>
        </p:nvSpPr>
        <p:spPr>
          <a:xfrm>
            <a:off x="7223760" y="4727448"/>
            <a:ext cx="4389120" cy="484632"/>
          </a:xfrm>
          <a:prstGeom prst="rect">
            <a:avLst/>
          </a:prstGeom>
          <a:solidFill>
            <a:srgbClr val="FFFFFF"/>
          </a:solidFill>
          <a:ln w="6350">
            <a:solidFill>
              <a:srgbClr val="D9E3E6"/>
            </a:solidFill>
            <a:prstDash val="solid"/>
          </a:ln>
        </p:spPr>
      </p:sp>
      <p:sp>
        <p:nvSpPr>
          <p:cNvPr id="50" name="Text 47"/>
          <p:cNvSpPr/>
          <p:nvPr/>
        </p:nvSpPr>
        <p:spPr>
          <a:xfrm>
            <a:off x="7333488" y="4828032"/>
            <a:ext cx="4169664" cy="329184"/>
          </a:xfrm>
          <a:prstGeom prst="rect">
            <a:avLst/>
          </a:prstGeom>
          <a:noFill/>
          <a:ln/>
        </p:spPr>
        <p:txBody>
          <a:bodyPr wrap="square" lIns="0" tIns="0" rIns="0" bIns="0" rtlCol="0" anchor="ctr">
            <a:normAutofit/>
          </a:bodyPr>
          <a:lstStyle/>
          <a:p>
            <a:pPr indent="0" marL="0">
              <a:buNone/>
            </a:pPr>
            <a:r>
              <a:rPr lang="en-US" sz="1500" dirty="0">
                <a:solidFill>
                  <a:srgbClr val="162733"/>
                </a:solidFill>
                <a:latin typeface="Aptos" pitchFamily="34" charset="0"/>
                <a:ea typeface="Aptos" pitchFamily="34" charset="-122"/>
                <a:cs typeface="Aptos" pitchFamily="34" charset="-120"/>
              </a:rPr>
              <a:t>Experimental native map</a:t>
            </a:r>
            <a:endParaRPr lang="en-US" sz="1500" dirty="0"/>
          </a:p>
        </p:txBody>
      </p:sp>
      <p:sp>
        <p:nvSpPr>
          <p:cNvPr id="51" name="Shape 48"/>
          <p:cNvSpPr/>
          <p:nvPr/>
        </p:nvSpPr>
        <p:spPr>
          <a:xfrm>
            <a:off x="548640" y="5212080"/>
            <a:ext cx="731520" cy="484632"/>
          </a:xfrm>
          <a:prstGeom prst="rect">
            <a:avLst/>
          </a:prstGeom>
          <a:solidFill>
            <a:srgbClr val="EFF5F6"/>
          </a:solidFill>
          <a:ln w="6350">
            <a:solidFill>
              <a:srgbClr val="D9E3E6"/>
            </a:solidFill>
            <a:prstDash val="solid"/>
          </a:ln>
        </p:spPr>
      </p:sp>
      <p:sp>
        <p:nvSpPr>
          <p:cNvPr id="52" name="Text 49"/>
          <p:cNvSpPr/>
          <p:nvPr/>
        </p:nvSpPr>
        <p:spPr>
          <a:xfrm>
            <a:off x="658368" y="5312664"/>
            <a:ext cx="512064" cy="329184"/>
          </a:xfrm>
          <a:prstGeom prst="rect">
            <a:avLst/>
          </a:prstGeom>
          <a:noFill/>
          <a:ln/>
        </p:spPr>
        <p:txBody>
          <a:bodyPr wrap="square" lIns="0" tIns="0" rIns="0" bIns="0" rtlCol="0" anchor="ctr">
            <a:normAutofit/>
          </a:bodyPr>
          <a:lstStyle/>
          <a:p>
            <a:pPr indent="0" marL="0">
              <a:buNone/>
            </a:pPr>
            <a:r>
              <a:rPr lang="en-US" sz="1500" dirty="0">
                <a:solidFill>
                  <a:srgbClr val="162733"/>
                </a:solidFill>
                <a:latin typeface="Aptos" pitchFamily="34" charset="0"/>
                <a:ea typeface="Aptos" pitchFamily="34" charset="-122"/>
                <a:cs typeface="Aptos" pitchFamily="34" charset="-120"/>
              </a:rPr>
              <a:t>07</a:t>
            </a:r>
            <a:endParaRPr lang="en-US" sz="1500" dirty="0"/>
          </a:p>
        </p:txBody>
      </p:sp>
      <p:sp>
        <p:nvSpPr>
          <p:cNvPr id="53" name="Shape 50"/>
          <p:cNvSpPr/>
          <p:nvPr/>
        </p:nvSpPr>
        <p:spPr>
          <a:xfrm>
            <a:off x="1280160" y="5212080"/>
            <a:ext cx="5943600" cy="484632"/>
          </a:xfrm>
          <a:prstGeom prst="rect">
            <a:avLst/>
          </a:prstGeom>
          <a:solidFill>
            <a:srgbClr val="EFF5F6"/>
          </a:solidFill>
          <a:ln w="6350">
            <a:solidFill>
              <a:srgbClr val="D9E3E6"/>
            </a:solidFill>
            <a:prstDash val="solid"/>
          </a:ln>
        </p:spPr>
      </p:sp>
      <p:sp>
        <p:nvSpPr>
          <p:cNvPr id="54" name="Text 51"/>
          <p:cNvSpPr/>
          <p:nvPr/>
        </p:nvSpPr>
        <p:spPr>
          <a:xfrm>
            <a:off x="1389888" y="5312664"/>
            <a:ext cx="5724144" cy="329184"/>
          </a:xfrm>
          <a:prstGeom prst="rect">
            <a:avLst/>
          </a:prstGeom>
          <a:noFill/>
          <a:ln/>
        </p:spPr>
        <p:txBody>
          <a:bodyPr wrap="square" lIns="0" tIns="0" rIns="0" bIns="0" rtlCol="0" anchor="ctr">
            <a:normAutofit/>
          </a:bodyPr>
          <a:lstStyle/>
          <a:p>
            <a:pPr indent="0" marL="0">
              <a:buNone/>
            </a:pPr>
            <a:r>
              <a:rPr lang="en-US" sz="1500" dirty="0">
                <a:solidFill>
                  <a:srgbClr val="162733"/>
                </a:solidFill>
                <a:latin typeface="Aptos" pitchFamily="34" charset="0"/>
                <a:ea typeface="Aptos" pitchFamily="34" charset="-122"/>
                <a:cs typeface="Aptos" pitchFamily="34" charset="-120"/>
              </a:rPr>
              <a:t>Archive / Mac evidence checks</a:t>
            </a:r>
            <a:endParaRPr lang="en-US" sz="1500" dirty="0"/>
          </a:p>
        </p:txBody>
      </p:sp>
      <p:sp>
        <p:nvSpPr>
          <p:cNvPr id="55" name="Shape 52"/>
          <p:cNvSpPr/>
          <p:nvPr/>
        </p:nvSpPr>
        <p:spPr>
          <a:xfrm>
            <a:off x="7223760" y="5212080"/>
            <a:ext cx="4389120" cy="484632"/>
          </a:xfrm>
          <a:prstGeom prst="rect">
            <a:avLst/>
          </a:prstGeom>
          <a:solidFill>
            <a:srgbClr val="EFF5F6"/>
          </a:solidFill>
          <a:ln w="6350">
            <a:solidFill>
              <a:srgbClr val="D9E3E6"/>
            </a:solidFill>
            <a:prstDash val="solid"/>
          </a:ln>
        </p:spPr>
      </p:sp>
      <p:sp>
        <p:nvSpPr>
          <p:cNvPr id="56" name="Text 53"/>
          <p:cNvSpPr/>
          <p:nvPr/>
        </p:nvSpPr>
        <p:spPr>
          <a:xfrm>
            <a:off x="7333488" y="5312664"/>
            <a:ext cx="4169664" cy="329184"/>
          </a:xfrm>
          <a:prstGeom prst="rect">
            <a:avLst/>
          </a:prstGeom>
          <a:noFill/>
          <a:ln/>
        </p:spPr>
        <p:txBody>
          <a:bodyPr wrap="square" lIns="0" tIns="0" rIns="0" bIns="0" rtlCol="0" anchor="ctr">
            <a:normAutofit/>
          </a:bodyPr>
          <a:lstStyle/>
          <a:p>
            <a:pPr indent="0" marL="0">
              <a:buNone/>
            </a:pPr>
            <a:r>
              <a:rPr lang="en-US" sz="1500" dirty="0">
                <a:solidFill>
                  <a:srgbClr val="162733"/>
                </a:solidFill>
                <a:latin typeface="Aptos" pitchFamily="34" charset="0"/>
                <a:ea typeface="Aptos" pitchFamily="34" charset="-122"/>
                <a:cs typeface="Aptos" pitchFamily="34" charset="-120"/>
              </a:rPr>
              <a:t>Audit; no fresh timing</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46888"/>
            <a:ext cx="10424160" cy="201168"/>
          </a:xfrm>
          <a:prstGeom prst="rect">
            <a:avLst/>
          </a:prstGeom>
          <a:noFill/>
          <a:ln/>
        </p:spPr>
        <p:txBody>
          <a:bodyPr wrap="square" lIns="0" tIns="0" rIns="0" bIns="0" rtlCol="0" anchor="ctr">
            <a:normAutofit/>
          </a:bodyPr>
          <a:lstStyle/>
          <a:p>
            <a:pPr indent="0" marL="0">
              <a:buNone/>
            </a:pPr>
            <a:r>
              <a:rPr lang="en-US" sz="1000" b="1" spc="110" kern="0" dirty="0">
                <a:solidFill>
                  <a:srgbClr val="11727B"/>
                </a:solidFill>
                <a:latin typeface="Aptos" pitchFamily="34" charset="0"/>
                <a:ea typeface="Aptos" pitchFamily="34" charset="-122"/>
                <a:cs typeface="Aptos" pitchFamily="34" charset="-120"/>
              </a:rPr>
              <a:t>REHEARSAL</a:t>
            </a:r>
            <a:endParaRPr lang="en-US" sz="1000" dirty="0"/>
          </a:p>
        </p:txBody>
      </p:sp>
      <p:sp>
        <p:nvSpPr>
          <p:cNvPr id="3" name="Text 1"/>
          <p:cNvSpPr/>
          <p:nvPr/>
        </p:nvSpPr>
        <p:spPr>
          <a:xfrm>
            <a:off x="548640" y="640080"/>
            <a:ext cx="11064240" cy="603504"/>
          </a:xfrm>
          <a:prstGeom prst="rect">
            <a:avLst/>
          </a:prstGeom>
          <a:noFill/>
          <a:ln/>
        </p:spPr>
        <p:txBody>
          <a:bodyPr wrap="square" lIns="0" tIns="0" rIns="0" bIns="0" rtlCol="0" anchor="ctr">
            <a:normAutofit/>
          </a:bodyPr>
          <a:lstStyle/>
          <a:p>
            <a:pPr indent="0" marL="0">
              <a:buNone/>
            </a:pPr>
            <a:r>
              <a:rPr lang="en-US" sz="3000" b="1" dirty="0">
                <a:solidFill>
                  <a:srgbClr val="162733"/>
                </a:solidFill>
                <a:latin typeface="Aptos Display" pitchFamily="34" charset="0"/>
                <a:ea typeface="Aptos Display" pitchFamily="34" charset="-122"/>
                <a:cs typeface="Aptos Display" pitchFamily="34" charset="-120"/>
              </a:rPr>
              <a:t>Appendix · rehearse once; keep a fallback open</a:t>
            </a:r>
            <a:endParaRPr lang="en-US" sz="3000" dirty="0"/>
          </a:p>
        </p:txBody>
      </p:sp>
      <p:sp>
        <p:nvSpPr>
          <p:cNvPr id="4" name="Text 2"/>
          <p:cNvSpPr/>
          <p:nvPr/>
        </p:nvSpPr>
        <p:spPr>
          <a:xfrm>
            <a:off x="548640" y="1280160"/>
            <a:ext cx="11064240" cy="420624"/>
          </a:xfrm>
          <a:prstGeom prst="rect">
            <a:avLst/>
          </a:prstGeom>
          <a:noFill/>
          <a:ln/>
        </p:spPr>
        <p:txBody>
          <a:bodyPr wrap="square" lIns="0" tIns="0" rIns="0" bIns="0" rtlCol="0" anchor="ctr">
            <a:normAutofit/>
          </a:bodyPr>
          <a:lstStyle/>
          <a:p>
            <a:pPr indent="0" marL="0">
              <a:buNone/>
            </a:pPr>
            <a:r>
              <a:rPr lang="en-US" sz="1600" dirty="0">
                <a:solidFill>
                  <a:srgbClr val="526571"/>
                </a:solidFill>
                <a:latin typeface="Aptos" pitchFamily="34" charset="0"/>
                <a:ea typeface="Aptos" pitchFamily="34" charset="-122"/>
                <a:cs typeface="Aptos" pitchFamily="34" charset="-120"/>
              </a:rPr>
              <a:t>Do not debug installations or download datasets during the meeting.</a:t>
            </a:r>
            <a:endParaRPr lang="en-US" sz="1600" dirty="0"/>
          </a:p>
        </p:txBody>
      </p:sp>
      <p:sp>
        <p:nvSpPr>
          <p:cNvPr id="5" name="Shape 3"/>
          <p:cNvSpPr/>
          <p:nvPr/>
        </p:nvSpPr>
        <p:spPr>
          <a:xfrm>
            <a:off x="548640" y="6364224"/>
            <a:ext cx="11064240" cy="0"/>
          </a:xfrm>
          <a:prstGeom prst="line">
            <a:avLst/>
          </a:prstGeom>
          <a:noFill/>
          <a:ln w="12700">
            <a:solidFill>
              <a:srgbClr val="D9E3E6"/>
            </a:solidFill>
            <a:prstDash val="solid"/>
          </a:ln>
        </p:spPr>
      </p:sp>
      <p:sp>
        <p:nvSpPr>
          <p:cNvPr id="6" name="Text 4"/>
          <p:cNvSpPr/>
          <p:nvPr/>
        </p:nvSpPr>
        <p:spPr>
          <a:xfrm>
            <a:off x="548640" y="6464808"/>
            <a:ext cx="10607040" cy="192024"/>
          </a:xfrm>
          <a:prstGeom prst="rect">
            <a:avLst/>
          </a:prstGeom>
          <a:noFill/>
          <a:ln/>
        </p:spPr>
        <p:txBody>
          <a:bodyPr wrap="square" lIns="0" tIns="0" rIns="0" bIns="0" rtlCol="0" anchor="ctr">
            <a:normAutofit/>
          </a:bodyPr>
          <a:lstStyle/>
          <a:p>
            <a:pPr indent="0" marL="0">
              <a:buNone/>
            </a:pPr>
            <a:r>
              <a:rPr lang="en-US" sz="900" dirty="0">
                <a:solidFill>
                  <a:srgbClr val="526571"/>
                </a:solidFill>
                <a:latin typeface="Aptos" pitchFamily="34" charset="0"/>
                <a:ea typeface="Aptos" pitchFamily="34" charset="-122"/>
                <a:cs typeface="Aptos" pitchFamily="34" charset="-120"/>
              </a:rPr>
              <a:t>docs/REHEARSAL.md • All timings are machine-dependent</a:t>
            </a:r>
            <a:endParaRPr lang="en-US" sz="900" dirty="0"/>
          </a:p>
        </p:txBody>
      </p:sp>
      <p:sp>
        <p:nvSpPr>
          <p:cNvPr id="7" name="Text 5"/>
          <p:cNvSpPr/>
          <p:nvPr/>
        </p:nvSpPr>
        <p:spPr>
          <a:xfrm>
            <a:off x="11082528" y="6446520"/>
            <a:ext cx="548640" cy="228600"/>
          </a:xfrm>
          <a:prstGeom prst="rect">
            <a:avLst/>
          </a:prstGeom>
          <a:noFill/>
          <a:ln/>
        </p:spPr>
        <p:txBody>
          <a:bodyPr wrap="square" lIns="0" tIns="0" rIns="0" bIns="0" rtlCol="0" anchor="ctr">
            <a:normAutofit/>
          </a:bodyPr>
          <a:lstStyle/>
          <a:p>
            <a:pPr algn="r" indent="0" marL="0">
              <a:buNone/>
            </a:pPr>
            <a:r>
              <a:rPr lang="en-US" sz="1100" dirty="0">
                <a:solidFill>
                  <a:srgbClr val="526571"/>
                </a:solidFill>
                <a:latin typeface="Aptos" pitchFamily="34" charset="0"/>
                <a:ea typeface="Aptos" pitchFamily="34" charset="-122"/>
                <a:cs typeface="Aptos" pitchFamily="34" charset="-120"/>
              </a:rPr>
              <a:t>22</a:t>
            </a:r>
            <a:endParaRPr lang="en-US" sz="1100" dirty="0"/>
          </a:p>
        </p:txBody>
      </p:sp>
      <p:sp>
        <p:nvSpPr>
          <p:cNvPr id="9" name="Shape 6"/>
          <p:cNvSpPr/>
          <p:nvPr/>
        </p:nvSpPr>
        <p:spPr>
          <a:xfrm>
            <a:off x="548640" y="1874520"/>
            <a:ext cx="5486400" cy="1325880"/>
          </a:xfrm>
          <a:prstGeom prst="rect">
            <a:avLst/>
          </a:prstGeom>
          <a:solidFill>
            <a:srgbClr val="EFF5F6"/>
          </a:solidFill>
          <a:ln w="12700">
            <a:solidFill>
              <a:srgbClr val="EFF5F6"/>
            </a:solidFill>
            <a:prstDash val="solid"/>
          </a:ln>
        </p:spPr>
      </p:sp>
      <p:sp>
        <p:nvSpPr>
          <p:cNvPr id="10" name="Text 7"/>
          <p:cNvSpPr/>
          <p:nvPr/>
        </p:nvSpPr>
        <p:spPr>
          <a:xfrm>
            <a:off x="704088" y="1984248"/>
            <a:ext cx="5175504" cy="246888"/>
          </a:xfrm>
          <a:prstGeom prst="rect">
            <a:avLst/>
          </a:prstGeom>
          <a:noFill/>
          <a:ln/>
        </p:spPr>
        <p:txBody>
          <a:bodyPr wrap="square" lIns="0" tIns="0" rIns="0" bIns="0" rtlCol="0" anchor="ctr">
            <a:normAutofit/>
          </a:bodyPr>
          <a:lstStyle/>
          <a:p>
            <a:pPr indent="0" marL="0">
              <a:buNone/>
            </a:pPr>
            <a:r>
              <a:rPr lang="en-US" sz="1400" b="1" dirty="0">
                <a:solidFill>
                  <a:srgbClr val="11727B"/>
                </a:solidFill>
                <a:latin typeface="Aptos" pitchFamily="34" charset="0"/>
                <a:ea typeface="Aptos" pitchFamily="34" charset="-122"/>
                <a:cs typeface="Aptos" pitchFamily="34" charset="-120"/>
              </a:rPr>
              <a:t>BEFORE THE MEETING</a:t>
            </a:r>
            <a:endParaRPr lang="en-US" sz="1400" dirty="0"/>
          </a:p>
        </p:txBody>
      </p:sp>
      <p:sp>
        <p:nvSpPr>
          <p:cNvPr id="11" name="Text 8"/>
          <p:cNvSpPr/>
          <p:nvPr/>
        </p:nvSpPr>
        <p:spPr>
          <a:xfrm>
            <a:off x="704088" y="2304288"/>
            <a:ext cx="5175504" cy="832104"/>
          </a:xfrm>
          <a:prstGeom prst="rect">
            <a:avLst/>
          </a:prstGeom>
          <a:noFill/>
          <a:ln/>
        </p:spPr>
        <p:txBody>
          <a:bodyPr wrap="square" lIns="0" tIns="0" rIns="0" bIns="0" rtlCol="0" anchor="ctr">
            <a:normAutofit/>
          </a:bodyPr>
          <a:lstStyle/>
          <a:p>
            <a:pPr indent="0" marL="0">
              <a:buNone/>
            </a:pPr>
            <a:r>
              <a:rPr lang="en-US" sz="1700" dirty="0">
                <a:solidFill>
                  <a:srgbClr val="162733"/>
                </a:solidFill>
                <a:latin typeface="Aptos" pitchFamily="34" charset="0"/>
                <a:ea typeface="Aptos" pitchFamily="34" charset="-122"/>
                <a:cs typeface="Aptos" pitchFamily="34" charset="-120"/>
              </a:rPr>
              <a:t>python3 walkthrough.py prepare</a:t>
            </a:r>
            <a:endParaRPr lang="en-US" sz="1700" dirty="0"/>
          </a:p>
          <a:p>
            <a:pPr indent="0" marL="0">
              <a:buNone/>
            </a:pPr>
            <a:r>
              <a:rPr lang="en-US" sz="1700" dirty="0">
                <a:solidFill>
                  <a:srgbClr val="162733"/>
                </a:solidFill>
                <a:latin typeface="Aptos" pitchFamily="34" charset="0"/>
                <a:ea typeface="Aptos" pitchFamily="34" charset="-122"/>
                <a:cs typeface="Aptos" pitchFamily="34" charset="-120"/>
              </a:rPr>
              <a:t>python3 walkthrough.py demo all</a:t>
            </a:r>
            <a:endParaRPr lang="en-US" sz="1700" dirty="0"/>
          </a:p>
        </p:txBody>
      </p:sp>
      <p:sp>
        <p:nvSpPr>
          <p:cNvPr id="12" name="Shape 9"/>
          <p:cNvSpPr/>
          <p:nvPr/>
        </p:nvSpPr>
        <p:spPr>
          <a:xfrm>
            <a:off x="548640" y="3429000"/>
            <a:ext cx="5486400" cy="1645920"/>
          </a:xfrm>
          <a:prstGeom prst="rect">
            <a:avLst/>
          </a:prstGeom>
          <a:solidFill>
            <a:srgbClr val="EFF5F6"/>
          </a:solidFill>
          <a:ln w="12700">
            <a:solidFill>
              <a:srgbClr val="EFF5F6"/>
            </a:solidFill>
            <a:prstDash val="solid"/>
          </a:ln>
        </p:spPr>
      </p:sp>
      <p:sp>
        <p:nvSpPr>
          <p:cNvPr id="13" name="Text 10"/>
          <p:cNvSpPr/>
          <p:nvPr/>
        </p:nvSpPr>
        <p:spPr>
          <a:xfrm>
            <a:off x="704088" y="3538728"/>
            <a:ext cx="5175504" cy="246888"/>
          </a:xfrm>
          <a:prstGeom prst="rect">
            <a:avLst/>
          </a:prstGeom>
          <a:noFill/>
          <a:ln/>
        </p:spPr>
        <p:txBody>
          <a:bodyPr wrap="square" lIns="0" tIns="0" rIns="0" bIns="0" rtlCol="0" anchor="ctr">
            <a:normAutofit/>
          </a:bodyPr>
          <a:lstStyle/>
          <a:p>
            <a:pPr indent="0" marL="0">
              <a:buNone/>
            </a:pPr>
            <a:r>
              <a:rPr lang="en-US" sz="1400" b="1" dirty="0">
                <a:solidFill>
                  <a:srgbClr val="11727B"/>
                </a:solidFill>
                <a:latin typeface="Aptos" pitchFamily="34" charset="0"/>
                <a:ea typeface="Aptos" pitchFamily="34" charset="-122"/>
                <a:cs typeface="Aptos" pitchFamily="34" charset="-120"/>
              </a:rPr>
              <a:t>LIVE: ONLY THREE COMMANDS</a:t>
            </a:r>
            <a:endParaRPr lang="en-US" sz="1400" dirty="0"/>
          </a:p>
        </p:txBody>
      </p:sp>
      <p:sp>
        <p:nvSpPr>
          <p:cNvPr id="14" name="Text 11"/>
          <p:cNvSpPr/>
          <p:nvPr/>
        </p:nvSpPr>
        <p:spPr>
          <a:xfrm>
            <a:off x="704088" y="3858768"/>
            <a:ext cx="5175504" cy="1152144"/>
          </a:xfrm>
          <a:prstGeom prst="rect">
            <a:avLst/>
          </a:prstGeom>
          <a:noFill/>
          <a:ln/>
        </p:spPr>
        <p:txBody>
          <a:bodyPr wrap="square" lIns="0" tIns="0" rIns="0" bIns="0" rtlCol="0" anchor="ctr">
            <a:normAutofit/>
          </a:bodyPr>
          <a:lstStyle/>
          <a:p>
            <a:pPr indent="0" marL="0">
              <a:buNone/>
            </a:pPr>
            <a:r>
              <a:rPr lang="en-US" sz="1700" dirty="0">
                <a:solidFill>
                  <a:srgbClr val="162733"/>
                </a:solidFill>
                <a:latin typeface="Aptos" pitchFamily="34" charset="0"/>
                <a:ea typeface="Aptos" pitchFamily="34" charset="-122"/>
                <a:cs typeface="Aptos" pitchFamily="34" charset="-120"/>
              </a:rPr>
              <a:t>demo 02</a:t>
            </a:r>
            <a:endParaRPr lang="en-US" sz="1700" dirty="0"/>
          </a:p>
          <a:p>
            <a:pPr indent="0" marL="0">
              <a:buNone/>
            </a:pPr>
            <a:r>
              <a:rPr lang="en-US" sz="1700" dirty="0">
                <a:solidFill>
                  <a:srgbClr val="162733"/>
                </a:solidFill>
                <a:latin typeface="Aptos" pitchFamily="34" charset="0"/>
                <a:ea typeface="Aptos" pitchFamily="34" charset="-122"/>
                <a:cs typeface="Aptos" pitchFamily="34" charset="-120"/>
              </a:rPr>
              <a:t>demo 05</a:t>
            </a:r>
            <a:endParaRPr lang="en-US" sz="1700" dirty="0"/>
          </a:p>
          <a:p>
            <a:pPr indent="0" marL="0">
              <a:buNone/>
            </a:pPr>
            <a:r>
              <a:rPr lang="en-US" sz="1700" dirty="0">
                <a:solidFill>
                  <a:srgbClr val="162733"/>
                </a:solidFill>
                <a:latin typeface="Aptos" pitchFamily="34" charset="0"/>
                <a:ea typeface="Aptos" pitchFamily="34" charset="-122"/>
                <a:cs typeface="Aptos" pitchFamily="34" charset="-120"/>
              </a:rPr>
              <a:t>demo 06</a:t>
            </a:r>
            <a:endParaRPr lang="en-US" sz="1700" dirty="0"/>
          </a:p>
        </p:txBody>
      </p:sp>
      <p:sp>
        <p:nvSpPr>
          <p:cNvPr id="15" name="Shape 12"/>
          <p:cNvSpPr/>
          <p:nvPr/>
        </p:nvSpPr>
        <p:spPr>
          <a:xfrm>
            <a:off x="6400800" y="1874520"/>
            <a:ext cx="5212080" cy="1508760"/>
          </a:xfrm>
          <a:prstGeom prst="rect">
            <a:avLst/>
          </a:prstGeom>
          <a:solidFill>
            <a:srgbClr val="EFF5F6"/>
          </a:solidFill>
          <a:ln w="12700">
            <a:solidFill>
              <a:srgbClr val="EFF5F6"/>
            </a:solidFill>
            <a:prstDash val="solid"/>
          </a:ln>
        </p:spPr>
      </p:sp>
      <p:sp>
        <p:nvSpPr>
          <p:cNvPr id="16" name="Text 13"/>
          <p:cNvSpPr/>
          <p:nvPr/>
        </p:nvSpPr>
        <p:spPr>
          <a:xfrm>
            <a:off x="6556248" y="1984248"/>
            <a:ext cx="4901184" cy="246888"/>
          </a:xfrm>
          <a:prstGeom prst="rect">
            <a:avLst/>
          </a:prstGeom>
          <a:noFill/>
          <a:ln/>
        </p:spPr>
        <p:txBody>
          <a:bodyPr wrap="square" lIns="0" tIns="0" rIns="0" bIns="0" rtlCol="0" anchor="ctr">
            <a:normAutofit/>
          </a:bodyPr>
          <a:lstStyle/>
          <a:p>
            <a:pPr indent="0" marL="0">
              <a:buNone/>
            </a:pPr>
            <a:r>
              <a:rPr lang="en-US" sz="1400" b="1" dirty="0">
                <a:solidFill>
                  <a:srgbClr val="11727B"/>
                </a:solidFill>
                <a:latin typeface="Aptos" pitchFamily="34" charset="0"/>
                <a:ea typeface="Aptos" pitchFamily="34" charset="-122"/>
                <a:cs typeface="Aptos" pitchFamily="34" charset="-120"/>
              </a:rPr>
              <a:t>IF A RUN FAILS</a:t>
            </a:r>
            <a:endParaRPr lang="en-US" sz="1400" dirty="0"/>
          </a:p>
        </p:txBody>
      </p:sp>
      <p:sp>
        <p:nvSpPr>
          <p:cNvPr id="17" name="Text 14"/>
          <p:cNvSpPr/>
          <p:nvPr/>
        </p:nvSpPr>
        <p:spPr>
          <a:xfrm>
            <a:off x="6556248" y="2304288"/>
            <a:ext cx="4901184" cy="1014984"/>
          </a:xfrm>
          <a:prstGeom prst="rect">
            <a:avLst/>
          </a:prstGeom>
          <a:noFill/>
          <a:ln/>
        </p:spPr>
        <p:txBody>
          <a:bodyPr wrap="square" lIns="0" tIns="0" rIns="0" bIns="0" rtlCol="0" anchor="ctr">
            <a:normAutofit/>
          </a:bodyPr>
          <a:lstStyle/>
          <a:p>
            <a:pPr indent="0" marL="0">
              <a:buNone/>
            </a:pPr>
            <a:r>
              <a:rPr lang="en-US" sz="1700" dirty="0">
                <a:solidFill>
                  <a:srgbClr val="162733"/>
                </a:solidFill>
                <a:latin typeface="Aptos" pitchFamily="34" charset="0"/>
                <a:ea typeface="Aptos" pitchFamily="34" charset="-122"/>
                <a:cs typeface="Aptos" pitchFamily="34" charset="-120"/>
              </a:rPr>
              <a:t>Open results/saved/report.html. Explain that these are recorded runs with their environment.</a:t>
            </a:r>
            <a:endParaRPr lang="en-US" sz="1700" dirty="0"/>
          </a:p>
        </p:txBody>
      </p:sp>
      <p:sp>
        <p:nvSpPr>
          <p:cNvPr id="18" name="Shape 15"/>
          <p:cNvSpPr/>
          <p:nvPr/>
        </p:nvSpPr>
        <p:spPr>
          <a:xfrm>
            <a:off x="6400800" y="3657600"/>
            <a:ext cx="5212080" cy="1417320"/>
          </a:xfrm>
          <a:prstGeom prst="rect">
            <a:avLst/>
          </a:prstGeom>
          <a:solidFill>
            <a:srgbClr val="EFF5F6"/>
          </a:solidFill>
          <a:ln w="12700">
            <a:solidFill>
              <a:srgbClr val="EFF5F6"/>
            </a:solidFill>
            <a:prstDash val="solid"/>
          </a:ln>
        </p:spPr>
      </p:sp>
      <p:sp>
        <p:nvSpPr>
          <p:cNvPr id="19" name="Text 16"/>
          <p:cNvSpPr/>
          <p:nvPr/>
        </p:nvSpPr>
        <p:spPr>
          <a:xfrm>
            <a:off x="6556248" y="3767328"/>
            <a:ext cx="4901184" cy="246888"/>
          </a:xfrm>
          <a:prstGeom prst="rect">
            <a:avLst/>
          </a:prstGeom>
          <a:noFill/>
          <a:ln/>
        </p:spPr>
        <p:txBody>
          <a:bodyPr wrap="square" lIns="0" tIns="0" rIns="0" bIns="0" rtlCol="0" anchor="ctr">
            <a:normAutofit/>
          </a:bodyPr>
          <a:lstStyle/>
          <a:p>
            <a:pPr indent="0" marL="0">
              <a:buNone/>
            </a:pPr>
            <a:r>
              <a:rPr lang="en-US" sz="1400" b="1" dirty="0">
                <a:solidFill>
                  <a:srgbClr val="11727B"/>
                </a:solidFill>
                <a:latin typeface="Aptos" pitchFamily="34" charset="0"/>
                <a:ea typeface="Aptos" pitchFamily="34" charset="-122"/>
                <a:cs typeface="Aptos" pitchFamily="34" charset="-120"/>
              </a:rPr>
              <a:t>WHICH TAB?</a:t>
            </a:r>
            <a:endParaRPr lang="en-US" sz="1400" dirty="0"/>
          </a:p>
        </p:txBody>
      </p:sp>
      <p:sp>
        <p:nvSpPr>
          <p:cNvPr id="20" name="Text 17"/>
          <p:cNvSpPr/>
          <p:nvPr/>
        </p:nvSpPr>
        <p:spPr>
          <a:xfrm>
            <a:off x="6556248" y="4087368"/>
            <a:ext cx="4901184" cy="923544"/>
          </a:xfrm>
          <a:prstGeom prst="rect">
            <a:avLst/>
          </a:prstGeom>
          <a:noFill/>
          <a:ln/>
        </p:spPr>
        <p:txBody>
          <a:bodyPr wrap="square" lIns="0" tIns="0" rIns="0" bIns="0" rtlCol="0" anchor="ctr">
            <a:normAutofit/>
          </a:bodyPr>
          <a:lstStyle/>
          <a:p>
            <a:pPr indent="0" marL="0">
              <a:buNone/>
            </a:pPr>
            <a:r>
              <a:rPr lang="en-US" sz="1700" dirty="0">
                <a:solidFill>
                  <a:srgbClr val="162733"/>
                </a:solidFill>
                <a:latin typeface="Aptos" pitchFamily="34" charset="0"/>
                <a:ea typeface="Aptos" pitchFamily="34" charset="-122"/>
                <a:cs typeface="Aptos" pitchFamily="34" charset="-120"/>
              </a:rPr>
              <a:t>Use this deck and the numbered result page. The older code guide is only a reference.</a:t>
            </a:r>
            <a:endParaRPr lang="en-US" sz="1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46888"/>
            <a:ext cx="10424160" cy="201168"/>
          </a:xfrm>
          <a:prstGeom prst="rect">
            <a:avLst/>
          </a:prstGeom>
          <a:noFill/>
          <a:ln/>
        </p:spPr>
        <p:txBody>
          <a:bodyPr wrap="square" lIns="0" tIns="0" rIns="0" bIns="0" rtlCol="0" anchor="ctr">
            <a:normAutofit/>
          </a:bodyPr>
          <a:lstStyle/>
          <a:p>
            <a:pPr indent="0" marL="0">
              <a:buNone/>
            </a:pPr>
            <a:r>
              <a:rPr lang="en-US" sz="1000" b="1" spc="110" kern="0" dirty="0">
                <a:solidFill>
                  <a:srgbClr val="11727B"/>
                </a:solidFill>
                <a:latin typeface="Aptos" pitchFamily="34" charset="0"/>
                <a:ea typeface="Aptos" pitchFamily="34" charset="-122"/>
                <a:cs typeface="Aptos" pitchFamily="34" charset="-120"/>
              </a:rPr>
              <a:t>PRIMARY SOURCES</a:t>
            </a:r>
            <a:endParaRPr lang="en-US" sz="1000" dirty="0"/>
          </a:p>
        </p:txBody>
      </p:sp>
      <p:sp>
        <p:nvSpPr>
          <p:cNvPr id="3" name="Text 1"/>
          <p:cNvSpPr/>
          <p:nvPr/>
        </p:nvSpPr>
        <p:spPr>
          <a:xfrm>
            <a:off x="548640" y="640080"/>
            <a:ext cx="11064240" cy="603504"/>
          </a:xfrm>
          <a:prstGeom prst="rect">
            <a:avLst/>
          </a:prstGeom>
          <a:noFill/>
          <a:ln/>
        </p:spPr>
        <p:txBody>
          <a:bodyPr wrap="square" lIns="0" tIns="0" rIns="0" bIns="0" rtlCol="0" anchor="ctr">
            <a:normAutofit/>
          </a:bodyPr>
          <a:lstStyle/>
          <a:p>
            <a:pPr indent="0" marL="0">
              <a:buNone/>
            </a:pPr>
            <a:r>
              <a:rPr lang="en-US" sz="3000" b="1" dirty="0">
                <a:solidFill>
                  <a:srgbClr val="162733"/>
                </a:solidFill>
                <a:latin typeface="Aptos Display" pitchFamily="34" charset="0"/>
                <a:ea typeface="Aptos Display" pitchFamily="34" charset="-122"/>
                <a:cs typeface="Aptos Display" pitchFamily="34" charset="-120"/>
              </a:rPr>
              <a:t>Appendix · source map, foundations</a:t>
            </a:r>
            <a:endParaRPr lang="en-US" sz="3000" dirty="0"/>
          </a:p>
        </p:txBody>
      </p:sp>
      <p:sp>
        <p:nvSpPr>
          <p:cNvPr id="4" name="Text 2"/>
          <p:cNvSpPr/>
          <p:nvPr/>
        </p:nvSpPr>
        <p:spPr>
          <a:xfrm>
            <a:off x="548640" y="1280160"/>
            <a:ext cx="11064240" cy="420624"/>
          </a:xfrm>
          <a:prstGeom prst="rect">
            <a:avLst/>
          </a:prstGeom>
          <a:noFill/>
          <a:ln/>
        </p:spPr>
        <p:txBody>
          <a:bodyPr wrap="square" lIns="0" tIns="0" rIns="0" bIns="0" rtlCol="0" anchor="ctr">
            <a:normAutofit/>
          </a:bodyPr>
          <a:lstStyle/>
          <a:p>
            <a:pPr indent="0" marL="0">
              <a:buNone/>
            </a:pPr>
            <a:r>
              <a:rPr lang="en-US" sz="1600" dirty="0">
                <a:solidFill>
                  <a:srgbClr val="526571"/>
                </a:solidFill>
                <a:latin typeface="Aptos" pitchFamily="34" charset="0"/>
                <a:ea typeface="Aptos" pitchFamily="34" charset="-122"/>
                <a:cs typeface="Aptos" pitchFamily="34" charset="-120"/>
              </a:rPr>
              <a:t>The user-provided NFL and CSV versions are preserved in sources/.</a:t>
            </a:r>
            <a:endParaRPr lang="en-US" sz="1600" dirty="0"/>
          </a:p>
        </p:txBody>
      </p:sp>
      <p:sp>
        <p:nvSpPr>
          <p:cNvPr id="5" name="Shape 3"/>
          <p:cNvSpPr/>
          <p:nvPr/>
        </p:nvSpPr>
        <p:spPr>
          <a:xfrm>
            <a:off x="548640" y="6364224"/>
            <a:ext cx="11064240" cy="0"/>
          </a:xfrm>
          <a:prstGeom prst="line">
            <a:avLst/>
          </a:prstGeom>
          <a:noFill/>
          <a:ln w="12700">
            <a:solidFill>
              <a:srgbClr val="D9E3E6"/>
            </a:solidFill>
            <a:prstDash val="solid"/>
          </a:ln>
        </p:spPr>
      </p:sp>
      <p:sp>
        <p:nvSpPr>
          <p:cNvPr id="6" name="Text 4"/>
          <p:cNvSpPr/>
          <p:nvPr/>
        </p:nvSpPr>
        <p:spPr>
          <a:xfrm>
            <a:off x="548640" y="6464808"/>
            <a:ext cx="10607040" cy="192024"/>
          </a:xfrm>
          <a:prstGeom prst="rect">
            <a:avLst/>
          </a:prstGeom>
          <a:noFill/>
          <a:ln/>
        </p:spPr>
        <p:txBody>
          <a:bodyPr wrap="square" lIns="0" tIns="0" rIns="0" bIns="0" rtlCol="0" anchor="ctr">
            <a:normAutofit/>
          </a:bodyPr>
          <a:lstStyle/>
          <a:p>
            <a:pPr indent="0" marL="0">
              <a:buNone/>
            </a:pPr>
            <a:r>
              <a:rPr lang="en-US" sz="900" dirty="0">
                <a:solidFill>
                  <a:srgbClr val="526571"/>
                </a:solidFill>
                <a:latin typeface="Aptos" pitchFamily="34" charset="0"/>
                <a:ea typeface="Aptos" pitchFamily="34" charset="-122"/>
                <a:cs typeface="Aptos" pitchFamily="34" charset="-120"/>
              </a:rPr>
              <a:t>Full references and URLs: sources/registry.json</a:t>
            </a:r>
            <a:endParaRPr lang="en-US" sz="900" dirty="0"/>
          </a:p>
        </p:txBody>
      </p:sp>
      <p:sp>
        <p:nvSpPr>
          <p:cNvPr id="7" name="Text 5"/>
          <p:cNvSpPr/>
          <p:nvPr/>
        </p:nvSpPr>
        <p:spPr>
          <a:xfrm>
            <a:off x="11082528" y="6446520"/>
            <a:ext cx="548640" cy="228600"/>
          </a:xfrm>
          <a:prstGeom prst="rect">
            <a:avLst/>
          </a:prstGeom>
          <a:noFill/>
          <a:ln/>
        </p:spPr>
        <p:txBody>
          <a:bodyPr wrap="square" lIns="0" tIns="0" rIns="0" bIns="0" rtlCol="0" anchor="ctr">
            <a:normAutofit/>
          </a:bodyPr>
          <a:lstStyle/>
          <a:p>
            <a:pPr algn="r" indent="0" marL="0">
              <a:buNone/>
            </a:pPr>
            <a:r>
              <a:rPr lang="en-US" sz="1100" dirty="0">
                <a:solidFill>
                  <a:srgbClr val="526571"/>
                </a:solidFill>
                <a:latin typeface="Aptos" pitchFamily="34" charset="0"/>
                <a:ea typeface="Aptos" pitchFamily="34" charset="-122"/>
                <a:cs typeface="Aptos" pitchFamily="34" charset="-120"/>
              </a:rPr>
              <a:t>23</a:t>
            </a:r>
            <a:endParaRPr lang="en-US" sz="1100" dirty="0"/>
          </a:p>
        </p:txBody>
      </p:sp>
      <p:sp>
        <p:nvSpPr>
          <p:cNvPr id="9" name="Shape 6"/>
          <p:cNvSpPr/>
          <p:nvPr/>
        </p:nvSpPr>
        <p:spPr>
          <a:xfrm>
            <a:off x="548640" y="1828800"/>
            <a:ext cx="6583680" cy="548640"/>
          </a:xfrm>
          <a:prstGeom prst="rect">
            <a:avLst/>
          </a:prstGeom>
          <a:solidFill>
            <a:srgbClr val="112C39"/>
          </a:solidFill>
          <a:ln w="12700">
            <a:solidFill>
              <a:srgbClr val="FFFFFF"/>
            </a:solidFill>
            <a:prstDash val="solid"/>
          </a:ln>
        </p:spPr>
      </p:sp>
      <p:sp>
        <p:nvSpPr>
          <p:cNvPr id="10" name="Text 7"/>
          <p:cNvSpPr/>
          <p:nvPr/>
        </p:nvSpPr>
        <p:spPr>
          <a:xfrm>
            <a:off x="658368" y="1938528"/>
            <a:ext cx="6364224" cy="411480"/>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Aptos" pitchFamily="34" charset="0"/>
                <a:ea typeface="Aptos" pitchFamily="34" charset="-122"/>
                <a:cs typeface="Aptos" pitchFamily="34" charset="-120"/>
              </a:rPr>
              <a:t>Source</a:t>
            </a:r>
            <a:endParaRPr lang="en-US" sz="1500" dirty="0"/>
          </a:p>
        </p:txBody>
      </p:sp>
      <p:sp>
        <p:nvSpPr>
          <p:cNvPr id="11" name="Shape 8"/>
          <p:cNvSpPr/>
          <p:nvPr/>
        </p:nvSpPr>
        <p:spPr>
          <a:xfrm>
            <a:off x="7132320" y="1828800"/>
            <a:ext cx="4480560" cy="548640"/>
          </a:xfrm>
          <a:prstGeom prst="rect">
            <a:avLst/>
          </a:prstGeom>
          <a:solidFill>
            <a:srgbClr val="112C39"/>
          </a:solidFill>
          <a:ln w="12700">
            <a:solidFill>
              <a:srgbClr val="FFFFFF"/>
            </a:solidFill>
            <a:prstDash val="solid"/>
          </a:ln>
        </p:spPr>
      </p:sp>
      <p:sp>
        <p:nvSpPr>
          <p:cNvPr id="12" name="Text 9"/>
          <p:cNvSpPr/>
          <p:nvPr/>
        </p:nvSpPr>
        <p:spPr>
          <a:xfrm>
            <a:off x="7242048" y="1938528"/>
            <a:ext cx="4261104" cy="411480"/>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Aptos" pitchFamily="34" charset="0"/>
                <a:ea typeface="Aptos" pitchFamily="34" charset="-122"/>
                <a:cs typeface="Aptos" pitchFamily="34" charset="-120"/>
              </a:rPr>
              <a:t>Read for</a:t>
            </a:r>
            <a:endParaRPr lang="en-US" sz="1500" dirty="0"/>
          </a:p>
        </p:txBody>
      </p:sp>
      <p:sp>
        <p:nvSpPr>
          <p:cNvPr id="13" name="Shape 10"/>
          <p:cNvSpPr/>
          <p:nvPr/>
        </p:nvSpPr>
        <p:spPr>
          <a:xfrm>
            <a:off x="548640" y="2377440"/>
            <a:ext cx="6583680" cy="548640"/>
          </a:xfrm>
          <a:prstGeom prst="rect">
            <a:avLst/>
          </a:prstGeom>
          <a:solidFill>
            <a:srgbClr val="EFF5F6"/>
          </a:solidFill>
          <a:ln w="6350">
            <a:solidFill>
              <a:srgbClr val="D9E3E6"/>
            </a:solidFill>
            <a:prstDash val="solid"/>
          </a:ln>
        </p:spPr>
      </p:sp>
      <p:sp>
        <p:nvSpPr>
          <p:cNvPr id="14" name="Text 11"/>
          <p:cNvSpPr/>
          <p:nvPr/>
        </p:nvSpPr>
        <p:spPr>
          <a:xfrm>
            <a:off x="658368" y="2478024"/>
            <a:ext cx="6364224" cy="393192"/>
          </a:xfrm>
          <a:prstGeom prst="rect">
            <a:avLst/>
          </a:prstGeom>
          <a:noFill/>
          <a:ln/>
        </p:spPr>
        <p:txBody>
          <a:bodyPr wrap="square" lIns="0" tIns="0" rIns="0" bIns="0" rtlCol="0" anchor="ctr">
            <a:normAutofit/>
          </a:bodyPr>
          <a:lstStyle/>
          <a:p>
            <a:pPr indent="0" marL="0">
              <a:buNone/>
            </a:pPr>
            <a:r>
              <a:rPr lang="en-US" sz="1500" dirty="0">
                <a:solidFill>
                  <a:srgbClr val="162733"/>
                </a:solidFill>
                <a:latin typeface="Aptos" pitchFamily="34" charset="0"/>
                <a:ea typeface="Aptos" pitchFamily="34" charset="-122"/>
                <a:cs typeface="Aptos" pitchFamily="34" charset="-120"/>
              </a:rPr>
              <a:t>Kraska et al. • SIGMOD 2018 • arXiv:1712.01208</a:t>
            </a:r>
            <a:endParaRPr lang="en-US" sz="1500" dirty="0"/>
          </a:p>
        </p:txBody>
      </p:sp>
      <p:sp>
        <p:nvSpPr>
          <p:cNvPr id="15" name="Shape 12"/>
          <p:cNvSpPr/>
          <p:nvPr/>
        </p:nvSpPr>
        <p:spPr>
          <a:xfrm>
            <a:off x="7132320" y="2377440"/>
            <a:ext cx="4480560" cy="548640"/>
          </a:xfrm>
          <a:prstGeom prst="rect">
            <a:avLst/>
          </a:prstGeom>
          <a:solidFill>
            <a:srgbClr val="EFF5F6"/>
          </a:solidFill>
          <a:ln w="6350">
            <a:solidFill>
              <a:srgbClr val="D9E3E6"/>
            </a:solidFill>
            <a:prstDash val="solid"/>
          </a:ln>
        </p:spPr>
      </p:sp>
      <p:sp>
        <p:nvSpPr>
          <p:cNvPr id="16" name="Text 13"/>
          <p:cNvSpPr/>
          <p:nvPr/>
        </p:nvSpPr>
        <p:spPr>
          <a:xfrm>
            <a:off x="7242048" y="2478024"/>
            <a:ext cx="4261104" cy="393192"/>
          </a:xfrm>
          <a:prstGeom prst="rect">
            <a:avLst/>
          </a:prstGeom>
          <a:noFill/>
          <a:ln/>
        </p:spPr>
        <p:txBody>
          <a:bodyPr wrap="square" lIns="0" tIns="0" rIns="0" bIns="0" rtlCol="0" anchor="ctr">
            <a:normAutofit/>
          </a:bodyPr>
          <a:lstStyle/>
          <a:p>
            <a:pPr indent="0" marL="0">
              <a:buNone/>
            </a:pPr>
            <a:r>
              <a:rPr lang="en-US" sz="1500" dirty="0">
                <a:solidFill>
                  <a:srgbClr val="162733"/>
                </a:solidFill>
                <a:latin typeface="Aptos" pitchFamily="34" charset="0"/>
                <a:ea typeface="Aptos" pitchFamily="34" charset="-122"/>
                <a:cs typeface="Aptos" pitchFamily="34" charset="-120"/>
              </a:rPr>
              <a:t>RMI / learned key-to-position viewpoint</a:t>
            </a:r>
            <a:endParaRPr lang="en-US" sz="1500" dirty="0"/>
          </a:p>
        </p:txBody>
      </p:sp>
      <p:sp>
        <p:nvSpPr>
          <p:cNvPr id="17" name="Shape 14"/>
          <p:cNvSpPr/>
          <p:nvPr/>
        </p:nvSpPr>
        <p:spPr>
          <a:xfrm>
            <a:off x="548640" y="2926080"/>
            <a:ext cx="6583680" cy="548640"/>
          </a:xfrm>
          <a:prstGeom prst="rect">
            <a:avLst/>
          </a:prstGeom>
          <a:solidFill>
            <a:srgbClr val="FFFFFF"/>
          </a:solidFill>
          <a:ln w="6350">
            <a:solidFill>
              <a:srgbClr val="D9E3E6"/>
            </a:solidFill>
            <a:prstDash val="solid"/>
          </a:ln>
        </p:spPr>
      </p:sp>
      <p:sp>
        <p:nvSpPr>
          <p:cNvPr id="18" name="Text 15"/>
          <p:cNvSpPr/>
          <p:nvPr/>
        </p:nvSpPr>
        <p:spPr>
          <a:xfrm>
            <a:off x="658368" y="3026664"/>
            <a:ext cx="6364224" cy="393192"/>
          </a:xfrm>
          <a:prstGeom prst="rect">
            <a:avLst/>
          </a:prstGeom>
          <a:noFill/>
          <a:ln/>
        </p:spPr>
        <p:txBody>
          <a:bodyPr wrap="square" lIns="0" tIns="0" rIns="0" bIns="0" rtlCol="0" anchor="ctr">
            <a:normAutofit/>
          </a:bodyPr>
          <a:lstStyle/>
          <a:p>
            <a:pPr indent="0" marL="0">
              <a:buNone/>
            </a:pPr>
            <a:r>
              <a:rPr lang="en-US" sz="1500" dirty="0">
                <a:solidFill>
                  <a:srgbClr val="162733"/>
                </a:solidFill>
                <a:latin typeface="Aptos" pitchFamily="34" charset="0"/>
                <a:ea typeface="Aptos" pitchFamily="34" charset="-122"/>
                <a:cs typeface="Aptos" pitchFamily="34" charset="-120"/>
              </a:rPr>
              <a:t>Galakatos et al. • SIGMOD 2019 • arXiv:1801.10207</a:t>
            </a:r>
            <a:endParaRPr lang="en-US" sz="1500" dirty="0"/>
          </a:p>
        </p:txBody>
      </p:sp>
      <p:sp>
        <p:nvSpPr>
          <p:cNvPr id="19" name="Shape 16"/>
          <p:cNvSpPr/>
          <p:nvPr/>
        </p:nvSpPr>
        <p:spPr>
          <a:xfrm>
            <a:off x="7132320" y="2926080"/>
            <a:ext cx="4480560" cy="548640"/>
          </a:xfrm>
          <a:prstGeom prst="rect">
            <a:avLst/>
          </a:prstGeom>
          <a:solidFill>
            <a:srgbClr val="FFFFFF"/>
          </a:solidFill>
          <a:ln w="6350">
            <a:solidFill>
              <a:srgbClr val="D9E3E6"/>
            </a:solidFill>
            <a:prstDash val="solid"/>
          </a:ln>
        </p:spPr>
      </p:sp>
      <p:sp>
        <p:nvSpPr>
          <p:cNvPr id="20" name="Text 17"/>
          <p:cNvSpPr/>
          <p:nvPr/>
        </p:nvSpPr>
        <p:spPr>
          <a:xfrm>
            <a:off x="7242048" y="3026664"/>
            <a:ext cx="4261104" cy="393192"/>
          </a:xfrm>
          <a:prstGeom prst="rect">
            <a:avLst/>
          </a:prstGeom>
          <a:noFill/>
          <a:ln/>
        </p:spPr>
        <p:txBody>
          <a:bodyPr wrap="square" lIns="0" tIns="0" rIns="0" bIns="0" rtlCol="0" anchor="ctr">
            <a:normAutofit/>
          </a:bodyPr>
          <a:lstStyle/>
          <a:p>
            <a:pPr indent="0" marL="0">
              <a:buNone/>
            </a:pPr>
            <a:r>
              <a:rPr lang="en-US" sz="1500" dirty="0">
                <a:solidFill>
                  <a:srgbClr val="162733"/>
                </a:solidFill>
                <a:latin typeface="Aptos" pitchFamily="34" charset="0"/>
                <a:ea typeface="Aptos" pitchFamily="34" charset="-122"/>
                <a:cs typeface="Aptos" pitchFamily="34" charset="-120"/>
              </a:rPr>
              <a:t>FITing-Tree / bounded approximation</a:t>
            </a:r>
            <a:endParaRPr lang="en-US" sz="1500" dirty="0"/>
          </a:p>
        </p:txBody>
      </p:sp>
      <p:sp>
        <p:nvSpPr>
          <p:cNvPr id="21" name="Shape 18"/>
          <p:cNvSpPr/>
          <p:nvPr/>
        </p:nvSpPr>
        <p:spPr>
          <a:xfrm>
            <a:off x="548640" y="3474720"/>
            <a:ext cx="6583680" cy="548640"/>
          </a:xfrm>
          <a:prstGeom prst="rect">
            <a:avLst/>
          </a:prstGeom>
          <a:solidFill>
            <a:srgbClr val="EFF5F6"/>
          </a:solidFill>
          <a:ln w="6350">
            <a:solidFill>
              <a:srgbClr val="D9E3E6"/>
            </a:solidFill>
            <a:prstDash val="solid"/>
          </a:ln>
        </p:spPr>
      </p:sp>
      <p:sp>
        <p:nvSpPr>
          <p:cNvPr id="22" name="Text 19"/>
          <p:cNvSpPr/>
          <p:nvPr/>
        </p:nvSpPr>
        <p:spPr>
          <a:xfrm>
            <a:off x="658368" y="3575304"/>
            <a:ext cx="6364224" cy="393192"/>
          </a:xfrm>
          <a:prstGeom prst="rect">
            <a:avLst/>
          </a:prstGeom>
          <a:noFill/>
          <a:ln/>
        </p:spPr>
        <p:txBody>
          <a:bodyPr wrap="square" lIns="0" tIns="0" rIns="0" bIns="0" rtlCol="0" anchor="ctr">
            <a:normAutofit/>
          </a:bodyPr>
          <a:lstStyle/>
          <a:p>
            <a:pPr indent="0" marL="0">
              <a:buNone/>
            </a:pPr>
            <a:r>
              <a:rPr lang="en-US" sz="1500" dirty="0">
                <a:solidFill>
                  <a:srgbClr val="162733"/>
                </a:solidFill>
                <a:latin typeface="Aptos" pitchFamily="34" charset="0"/>
                <a:ea typeface="Aptos" pitchFamily="34" charset="-122"/>
                <a:cs typeface="Aptos" pitchFamily="34" charset="-120"/>
              </a:rPr>
              <a:t>Ferragina &amp; Vinciguerra • PVLDB 2020</a:t>
            </a:r>
            <a:endParaRPr lang="en-US" sz="1500" dirty="0"/>
          </a:p>
        </p:txBody>
      </p:sp>
      <p:sp>
        <p:nvSpPr>
          <p:cNvPr id="23" name="Shape 20"/>
          <p:cNvSpPr/>
          <p:nvPr/>
        </p:nvSpPr>
        <p:spPr>
          <a:xfrm>
            <a:off x="7132320" y="3474720"/>
            <a:ext cx="4480560" cy="548640"/>
          </a:xfrm>
          <a:prstGeom prst="rect">
            <a:avLst/>
          </a:prstGeom>
          <a:solidFill>
            <a:srgbClr val="EFF5F6"/>
          </a:solidFill>
          <a:ln w="6350">
            <a:solidFill>
              <a:srgbClr val="D9E3E6"/>
            </a:solidFill>
            <a:prstDash val="solid"/>
          </a:ln>
        </p:spPr>
      </p:sp>
      <p:sp>
        <p:nvSpPr>
          <p:cNvPr id="24" name="Text 21"/>
          <p:cNvSpPr/>
          <p:nvPr/>
        </p:nvSpPr>
        <p:spPr>
          <a:xfrm>
            <a:off x="7242048" y="3575304"/>
            <a:ext cx="4261104" cy="393192"/>
          </a:xfrm>
          <a:prstGeom prst="rect">
            <a:avLst/>
          </a:prstGeom>
          <a:noFill/>
          <a:ln/>
        </p:spPr>
        <p:txBody>
          <a:bodyPr wrap="square" lIns="0" tIns="0" rIns="0" bIns="0" rtlCol="0" anchor="ctr">
            <a:normAutofit/>
          </a:bodyPr>
          <a:lstStyle/>
          <a:p>
            <a:pPr indent="0" marL="0">
              <a:buNone/>
            </a:pPr>
            <a:r>
              <a:rPr lang="en-US" sz="1500" dirty="0">
                <a:solidFill>
                  <a:srgbClr val="162733"/>
                </a:solidFill>
                <a:latin typeface="Aptos" pitchFamily="34" charset="0"/>
                <a:ea typeface="Aptos" pitchFamily="34" charset="-122"/>
                <a:cs typeface="Aptos" pitchFamily="34" charset="-120"/>
              </a:rPr>
              <a:t>PGM / recursive models and variants</a:t>
            </a:r>
            <a:endParaRPr lang="en-US" sz="1500" dirty="0"/>
          </a:p>
        </p:txBody>
      </p:sp>
      <p:sp>
        <p:nvSpPr>
          <p:cNvPr id="25" name="Shape 22"/>
          <p:cNvSpPr/>
          <p:nvPr/>
        </p:nvSpPr>
        <p:spPr>
          <a:xfrm>
            <a:off x="548640" y="4023360"/>
            <a:ext cx="6583680" cy="548640"/>
          </a:xfrm>
          <a:prstGeom prst="rect">
            <a:avLst/>
          </a:prstGeom>
          <a:solidFill>
            <a:srgbClr val="FFFFFF"/>
          </a:solidFill>
          <a:ln w="6350">
            <a:solidFill>
              <a:srgbClr val="D9E3E6"/>
            </a:solidFill>
            <a:prstDash val="solid"/>
          </a:ln>
        </p:spPr>
      </p:sp>
      <p:sp>
        <p:nvSpPr>
          <p:cNvPr id="26" name="Text 23"/>
          <p:cNvSpPr/>
          <p:nvPr/>
        </p:nvSpPr>
        <p:spPr>
          <a:xfrm>
            <a:off x="658368" y="4123944"/>
            <a:ext cx="6364224" cy="393192"/>
          </a:xfrm>
          <a:prstGeom prst="rect">
            <a:avLst/>
          </a:prstGeom>
          <a:noFill/>
          <a:ln/>
        </p:spPr>
        <p:txBody>
          <a:bodyPr wrap="square" lIns="0" tIns="0" rIns="0" bIns="0" rtlCol="0" anchor="ctr">
            <a:normAutofit/>
          </a:bodyPr>
          <a:lstStyle/>
          <a:p>
            <a:pPr indent="0" marL="0">
              <a:buNone/>
            </a:pPr>
            <a:r>
              <a:rPr lang="en-US" sz="1500" dirty="0">
                <a:solidFill>
                  <a:srgbClr val="162733"/>
                </a:solidFill>
                <a:latin typeface="Aptos" pitchFamily="34" charset="0"/>
                <a:ea typeface="Aptos" pitchFamily="34" charset="-122"/>
                <a:cs typeface="Aptos" pitchFamily="34" charset="-120"/>
              </a:rPr>
              <a:t>Kipf et al. • aiDM 2020 • arXiv:2004.14541</a:t>
            </a:r>
            <a:endParaRPr lang="en-US" sz="1500" dirty="0"/>
          </a:p>
        </p:txBody>
      </p:sp>
      <p:sp>
        <p:nvSpPr>
          <p:cNvPr id="27" name="Shape 24"/>
          <p:cNvSpPr/>
          <p:nvPr/>
        </p:nvSpPr>
        <p:spPr>
          <a:xfrm>
            <a:off x="7132320" y="4023360"/>
            <a:ext cx="4480560" cy="548640"/>
          </a:xfrm>
          <a:prstGeom prst="rect">
            <a:avLst/>
          </a:prstGeom>
          <a:solidFill>
            <a:srgbClr val="FFFFFF"/>
          </a:solidFill>
          <a:ln w="6350">
            <a:solidFill>
              <a:srgbClr val="D9E3E6"/>
            </a:solidFill>
            <a:prstDash val="solid"/>
          </a:ln>
        </p:spPr>
      </p:sp>
      <p:sp>
        <p:nvSpPr>
          <p:cNvPr id="28" name="Text 25"/>
          <p:cNvSpPr/>
          <p:nvPr/>
        </p:nvSpPr>
        <p:spPr>
          <a:xfrm>
            <a:off x="7242048" y="4123944"/>
            <a:ext cx="4261104" cy="393192"/>
          </a:xfrm>
          <a:prstGeom prst="rect">
            <a:avLst/>
          </a:prstGeom>
          <a:noFill/>
          <a:ln/>
        </p:spPr>
        <p:txBody>
          <a:bodyPr wrap="square" lIns="0" tIns="0" rIns="0" bIns="0" rtlCol="0" anchor="ctr">
            <a:normAutofit/>
          </a:bodyPr>
          <a:lstStyle/>
          <a:p>
            <a:pPr indent="0" marL="0">
              <a:buNone/>
            </a:pPr>
            <a:r>
              <a:rPr lang="en-US" sz="1500" dirty="0">
                <a:solidFill>
                  <a:srgbClr val="162733"/>
                </a:solidFill>
                <a:latin typeface="Aptos" pitchFamily="34" charset="0"/>
                <a:ea typeface="Aptos" pitchFamily="34" charset="-122"/>
                <a:cs typeface="Aptos" pitchFamily="34" charset="-120"/>
              </a:rPr>
              <a:t>RadixSpline / single-pass construction</a:t>
            </a:r>
            <a:endParaRPr lang="en-US" sz="1500" dirty="0"/>
          </a:p>
        </p:txBody>
      </p:sp>
      <p:sp>
        <p:nvSpPr>
          <p:cNvPr id="29" name="Shape 26"/>
          <p:cNvSpPr/>
          <p:nvPr/>
        </p:nvSpPr>
        <p:spPr>
          <a:xfrm>
            <a:off x="548640" y="4572000"/>
            <a:ext cx="6583680" cy="548640"/>
          </a:xfrm>
          <a:prstGeom prst="rect">
            <a:avLst/>
          </a:prstGeom>
          <a:solidFill>
            <a:srgbClr val="EFF5F6"/>
          </a:solidFill>
          <a:ln w="6350">
            <a:solidFill>
              <a:srgbClr val="D9E3E6"/>
            </a:solidFill>
            <a:prstDash val="solid"/>
          </a:ln>
        </p:spPr>
      </p:sp>
      <p:sp>
        <p:nvSpPr>
          <p:cNvPr id="30" name="Text 27"/>
          <p:cNvSpPr/>
          <p:nvPr/>
        </p:nvSpPr>
        <p:spPr>
          <a:xfrm>
            <a:off x="658368" y="4672584"/>
            <a:ext cx="6364224" cy="393192"/>
          </a:xfrm>
          <a:prstGeom prst="rect">
            <a:avLst/>
          </a:prstGeom>
          <a:noFill/>
          <a:ln/>
        </p:spPr>
        <p:txBody>
          <a:bodyPr wrap="square" lIns="0" tIns="0" rIns="0" bIns="0" rtlCol="0" anchor="ctr">
            <a:normAutofit/>
          </a:bodyPr>
          <a:lstStyle/>
          <a:p>
            <a:pPr indent="0" marL="0">
              <a:buNone/>
            </a:pPr>
            <a:r>
              <a:rPr lang="en-US" sz="1500" dirty="0">
                <a:solidFill>
                  <a:srgbClr val="162733"/>
                </a:solidFill>
                <a:latin typeface="Aptos" pitchFamily="34" charset="0"/>
                <a:ea typeface="Aptos" pitchFamily="34" charset="-122"/>
                <a:cs typeface="Aptos" pitchFamily="34" charset="-120"/>
              </a:rPr>
              <a:t>Ding et al. • SIGMOD 2020 • microsoft/ALEX</a:t>
            </a:r>
            <a:endParaRPr lang="en-US" sz="1500" dirty="0"/>
          </a:p>
        </p:txBody>
      </p:sp>
      <p:sp>
        <p:nvSpPr>
          <p:cNvPr id="31" name="Shape 28"/>
          <p:cNvSpPr/>
          <p:nvPr/>
        </p:nvSpPr>
        <p:spPr>
          <a:xfrm>
            <a:off x="7132320" y="4572000"/>
            <a:ext cx="4480560" cy="548640"/>
          </a:xfrm>
          <a:prstGeom prst="rect">
            <a:avLst/>
          </a:prstGeom>
          <a:solidFill>
            <a:srgbClr val="EFF5F6"/>
          </a:solidFill>
          <a:ln w="6350">
            <a:solidFill>
              <a:srgbClr val="D9E3E6"/>
            </a:solidFill>
            <a:prstDash val="solid"/>
          </a:ln>
        </p:spPr>
      </p:sp>
      <p:sp>
        <p:nvSpPr>
          <p:cNvPr id="32" name="Text 29"/>
          <p:cNvSpPr/>
          <p:nvPr/>
        </p:nvSpPr>
        <p:spPr>
          <a:xfrm>
            <a:off x="7242048" y="4672584"/>
            <a:ext cx="4261104" cy="393192"/>
          </a:xfrm>
          <a:prstGeom prst="rect">
            <a:avLst/>
          </a:prstGeom>
          <a:noFill/>
          <a:ln/>
        </p:spPr>
        <p:txBody>
          <a:bodyPr wrap="square" lIns="0" tIns="0" rIns="0" bIns="0" rtlCol="0" anchor="ctr">
            <a:normAutofit/>
          </a:bodyPr>
          <a:lstStyle/>
          <a:p>
            <a:pPr indent="0" marL="0">
              <a:buNone/>
            </a:pPr>
            <a:r>
              <a:rPr lang="en-US" sz="1500" dirty="0">
                <a:solidFill>
                  <a:srgbClr val="162733"/>
                </a:solidFill>
                <a:latin typeface="Aptos" pitchFamily="34" charset="0"/>
                <a:ea typeface="Aptos" pitchFamily="34" charset="-122"/>
                <a:cs typeface="Aptos" pitchFamily="34" charset="-120"/>
              </a:rPr>
              <a:t>ALEX / adaptive dynamic structure</a:t>
            </a:r>
            <a:endParaRPr lang="en-US" sz="1500" dirty="0"/>
          </a:p>
        </p:txBody>
      </p:sp>
      <p:sp>
        <p:nvSpPr>
          <p:cNvPr id="33" name="Shape 30"/>
          <p:cNvSpPr/>
          <p:nvPr/>
        </p:nvSpPr>
        <p:spPr>
          <a:xfrm>
            <a:off x="548640" y="5120640"/>
            <a:ext cx="6583680" cy="548640"/>
          </a:xfrm>
          <a:prstGeom prst="rect">
            <a:avLst/>
          </a:prstGeom>
          <a:solidFill>
            <a:srgbClr val="FFFFFF"/>
          </a:solidFill>
          <a:ln w="6350">
            <a:solidFill>
              <a:srgbClr val="D9E3E6"/>
            </a:solidFill>
            <a:prstDash val="solid"/>
          </a:ln>
        </p:spPr>
      </p:sp>
      <p:sp>
        <p:nvSpPr>
          <p:cNvPr id="34" name="Text 31"/>
          <p:cNvSpPr/>
          <p:nvPr/>
        </p:nvSpPr>
        <p:spPr>
          <a:xfrm>
            <a:off x="658368" y="5221224"/>
            <a:ext cx="6364224" cy="393192"/>
          </a:xfrm>
          <a:prstGeom prst="rect">
            <a:avLst/>
          </a:prstGeom>
          <a:noFill/>
          <a:ln/>
        </p:spPr>
        <p:txBody>
          <a:bodyPr wrap="square" lIns="0" tIns="0" rIns="0" bIns="0" rtlCol="0" anchor="ctr">
            <a:normAutofit/>
          </a:bodyPr>
          <a:lstStyle/>
          <a:p>
            <a:pPr indent="0" marL="0">
              <a:buNone/>
            </a:pPr>
            <a:r>
              <a:rPr lang="en-US" sz="1500" dirty="0">
                <a:solidFill>
                  <a:srgbClr val="162733"/>
                </a:solidFill>
                <a:latin typeface="Aptos" pitchFamily="34" charset="0"/>
                <a:ea typeface="Aptos" pitchFamily="34" charset="-122"/>
                <a:cs typeface="Aptos" pitchFamily="34" charset="-120"/>
              </a:rPr>
              <a:t>Wu et al. • PVLDB 2021 • p1276-wu.pdf</a:t>
            </a:r>
            <a:endParaRPr lang="en-US" sz="1500" dirty="0"/>
          </a:p>
        </p:txBody>
      </p:sp>
      <p:sp>
        <p:nvSpPr>
          <p:cNvPr id="35" name="Shape 32"/>
          <p:cNvSpPr/>
          <p:nvPr/>
        </p:nvSpPr>
        <p:spPr>
          <a:xfrm>
            <a:off x="7132320" y="5120640"/>
            <a:ext cx="4480560" cy="548640"/>
          </a:xfrm>
          <a:prstGeom prst="rect">
            <a:avLst/>
          </a:prstGeom>
          <a:solidFill>
            <a:srgbClr val="FFFFFF"/>
          </a:solidFill>
          <a:ln w="6350">
            <a:solidFill>
              <a:srgbClr val="D9E3E6"/>
            </a:solidFill>
            <a:prstDash val="solid"/>
          </a:ln>
        </p:spPr>
      </p:sp>
      <p:sp>
        <p:nvSpPr>
          <p:cNvPr id="36" name="Text 33"/>
          <p:cNvSpPr/>
          <p:nvPr/>
        </p:nvSpPr>
        <p:spPr>
          <a:xfrm>
            <a:off x="7242048" y="5221224"/>
            <a:ext cx="4261104" cy="393192"/>
          </a:xfrm>
          <a:prstGeom prst="rect">
            <a:avLst/>
          </a:prstGeom>
          <a:noFill/>
          <a:ln/>
        </p:spPr>
        <p:txBody>
          <a:bodyPr wrap="square" lIns="0" tIns="0" rIns="0" bIns="0" rtlCol="0" anchor="ctr">
            <a:normAutofit/>
          </a:bodyPr>
          <a:lstStyle/>
          <a:p>
            <a:pPr indent="0" marL="0">
              <a:buNone/>
            </a:pPr>
            <a:r>
              <a:rPr lang="en-US" sz="1500" dirty="0">
                <a:solidFill>
                  <a:srgbClr val="162733"/>
                </a:solidFill>
                <a:latin typeface="Aptos" pitchFamily="34" charset="0"/>
                <a:ea typeface="Aptos" pitchFamily="34" charset="-122"/>
                <a:cs typeface="Aptos" pitchFamily="34" charset="-120"/>
              </a:rPr>
              <a:t>LIPP / precise placement</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46888"/>
            <a:ext cx="10424160" cy="201168"/>
          </a:xfrm>
          <a:prstGeom prst="rect">
            <a:avLst/>
          </a:prstGeom>
          <a:noFill/>
          <a:ln/>
        </p:spPr>
        <p:txBody>
          <a:bodyPr wrap="square" lIns="0" tIns="0" rIns="0" bIns="0" rtlCol="0" anchor="ctr">
            <a:normAutofit/>
          </a:bodyPr>
          <a:lstStyle/>
          <a:p>
            <a:pPr indent="0" marL="0">
              <a:buNone/>
            </a:pPr>
            <a:r>
              <a:rPr lang="en-US" sz="1000" b="1" spc="110" kern="0" dirty="0">
                <a:solidFill>
                  <a:srgbClr val="11727B"/>
                </a:solidFill>
                <a:latin typeface="Aptos" pitchFamily="34" charset="0"/>
                <a:ea typeface="Aptos" pitchFamily="34" charset="-122"/>
                <a:cs typeface="Aptos" pitchFamily="34" charset="-120"/>
              </a:rPr>
              <a:t>PRIMARY SOURCES</a:t>
            </a:r>
            <a:endParaRPr lang="en-US" sz="1000" dirty="0"/>
          </a:p>
        </p:txBody>
      </p:sp>
      <p:sp>
        <p:nvSpPr>
          <p:cNvPr id="3" name="Text 1"/>
          <p:cNvSpPr/>
          <p:nvPr/>
        </p:nvSpPr>
        <p:spPr>
          <a:xfrm>
            <a:off x="548640" y="640080"/>
            <a:ext cx="11064240" cy="603504"/>
          </a:xfrm>
          <a:prstGeom prst="rect">
            <a:avLst/>
          </a:prstGeom>
          <a:noFill/>
          <a:ln/>
        </p:spPr>
        <p:txBody>
          <a:bodyPr wrap="square" lIns="0" tIns="0" rIns="0" bIns="0" rtlCol="0" anchor="ctr">
            <a:normAutofit/>
          </a:bodyPr>
          <a:lstStyle/>
          <a:p>
            <a:pPr indent="0" marL="0">
              <a:buNone/>
            </a:pPr>
            <a:r>
              <a:rPr lang="en-US" sz="3000" b="1" dirty="0">
                <a:solidFill>
                  <a:srgbClr val="162733"/>
                </a:solidFill>
                <a:latin typeface="Aptos Display" pitchFamily="34" charset="0"/>
                <a:ea typeface="Aptos Display" pitchFamily="34" charset="-122"/>
                <a:cs typeface="Aptos Display" pitchFamily="34" charset="-120"/>
              </a:rPr>
              <a:t>Appendix · source map, transformation and compression</a:t>
            </a:r>
            <a:endParaRPr lang="en-US" sz="3000" dirty="0"/>
          </a:p>
        </p:txBody>
      </p:sp>
      <p:sp>
        <p:nvSpPr>
          <p:cNvPr id="4" name="Text 2"/>
          <p:cNvSpPr/>
          <p:nvPr/>
        </p:nvSpPr>
        <p:spPr>
          <a:xfrm>
            <a:off x="548640" y="1280160"/>
            <a:ext cx="11064240" cy="420624"/>
          </a:xfrm>
          <a:prstGeom prst="rect">
            <a:avLst/>
          </a:prstGeom>
          <a:noFill/>
          <a:ln/>
        </p:spPr>
        <p:txBody>
          <a:bodyPr wrap="square" lIns="0" tIns="0" rIns="0" bIns="0" rtlCol="0" anchor="ctr">
            <a:normAutofit/>
          </a:bodyPr>
          <a:lstStyle/>
          <a:p>
            <a:pPr indent="0" marL="0">
              <a:buNone/>
            </a:pPr>
            <a:r>
              <a:rPr lang="en-US" sz="1600" dirty="0">
                <a:solidFill>
                  <a:srgbClr val="526571"/>
                </a:solidFill>
                <a:latin typeface="Aptos" pitchFamily="34" charset="0"/>
                <a:ea typeface="Aptos" pitchFamily="34" charset="-122"/>
                <a:cs typeface="Aptos" pitchFamily="34" charset="-120"/>
              </a:rPr>
              <a:t>Keep each result attached to its own experimental contract.</a:t>
            </a:r>
            <a:endParaRPr lang="en-US" sz="1600" dirty="0"/>
          </a:p>
        </p:txBody>
      </p:sp>
      <p:sp>
        <p:nvSpPr>
          <p:cNvPr id="5" name="Shape 3"/>
          <p:cNvSpPr/>
          <p:nvPr/>
        </p:nvSpPr>
        <p:spPr>
          <a:xfrm>
            <a:off x="548640" y="6364224"/>
            <a:ext cx="11064240" cy="0"/>
          </a:xfrm>
          <a:prstGeom prst="line">
            <a:avLst/>
          </a:prstGeom>
          <a:noFill/>
          <a:ln w="12700">
            <a:solidFill>
              <a:srgbClr val="D9E3E6"/>
            </a:solidFill>
            <a:prstDash val="solid"/>
          </a:ln>
        </p:spPr>
      </p:sp>
      <p:sp>
        <p:nvSpPr>
          <p:cNvPr id="6" name="Text 4"/>
          <p:cNvSpPr/>
          <p:nvPr/>
        </p:nvSpPr>
        <p:spPr>
          <a:xfrm>
            <a:off x="548640" y="6464808"/>
            <a:ext cx="10607040" cy="192024"/>
          </a:xfrm>
          <a:prstGeom prst="rect">
            <a:avLst/>
          </a:prstGeom>
          <a:noFill/>
          <a:ln/>
        </p:spPr>
        <p:txBody>
          <a:bodyPr wrap="square" lIns="0" tIns="0" rIns="0" bIns="0" rtlCol="0" anchor="ctr">
            <a:normAutofit/>
          </a:bodyPr>
          <a:lstStyle/>
          <a:p>
            <a:pPr indent="0" marL="0">
              <a:buNone/>
            </a:pPr>
            <a:r>
              <a:rPr lang="en-US" sz="900" dirty="0">
                <a:solidFill>
                  <a:srgbClr val="526571"/>
                </a:solidFill>
                <a:latin typeface="Aptos" pitchFamily="34" charset="0"/>
                <a:ea typeface="Aptos" pitchFamily="34" charset="-122"/>
                <a:cs typeface="Aptos" pitchFamily="34" charset="-120"/>
              </a:rPr>
              <a:t>Full references and URLs: sources/registry.json</a:t>
            </a:r>
            <a:endParaRPr lang="en-US" sz="900" dirty="0"/>
          </a:p>
        </p:txBody>
      </p:sp>
      <p:sp>
        <p:nvSpPr>
          <p:cNvPr id="7" name="Text 5"/>
          <p:cNvSpPr/>
          <p:nvPr/>
        </p:nvSpPr>
        <p:spPr>
          <a:xfrm>
            <a:off x="11082528" y="6446520"/>
            <a:ext cx="548640" cy="228600"/>
          </a:xfrm>
          <a:prstGeom prst="rect">
            <a:avLst/>
          </a:prstGeom>
          <a:noFill/>
          <a:ln/>
        </p:spPr>
        <p:txBody>
          <a:bodyPr wrap="square" lIns="0" tIns="0" rIns="0" bIns="0" rtlCol="0" anchor="ctr">
            <a:normAutofit/>
          </a:bodyPr>
          <a:lstStyle/>
          <a:p>
            <a:pPr algn="r" indent="0" marL="0">
              <a:buNone/>
            </a:pPr>
            <a:r>
              <a:rPr lang="en-US" sz="1100" dirty="0">
                <a:solidFill>
                  <a:srgbClr val="526571"/>
                </a:solidFill>
                <a:latin typeface="Aptos" pitchFamily="34" charset="0"/>
                <a:ea typeface="Aptos" pitchFamily="34" charset="-122"/>
                <a:cs typeface="Aptos" pitchFamily="34" charset="-120"/>
              </a:rPr>
              <a:t>24</a:t>
            </a:r>
            <a:endParaRPr lang="en-US" sz="1100" dirty="0"/>
          </a:p>
        </p:txBody>
      </p:sp>
      <p:sp>
        <p:nvSpPr>
          <p:cNvPr id="9" name="Shape 6"/>
          <p:cNvSpPr/>
          <p:nvPr/>
        </p:nvSpPr>
        <p:spPr>
          <a:xfrm>
            <a:off x="548640" y="1828800"/>
            <a:ext cx="6583680" cy="548640"/>
          </a:xfrm>
          <a:prstGeom prst="rect">
            <a:avLst/>
          </a:prstGeom>
          <a:solidFill>
            <a:srgbClr val="112C39"/>
          </a:solidFill>
          <a:ln w="12700">
            <a:solidFill>
              <a:srgbClr val="FFFFFF"/>
            </a:solidFill>
            <a:prstDash val="solid"/>
          </a:ln>
        </p:spPr>
      </p:sp>
      <p:sp>
        <p:nvSpPr>
          <p:cNvPr id="10" name="Text 7"/>
          <p:cNvSpPr/>
          <p:nvPr/>
        </p:nvSpPr>
        <p:spPr>
          <a:xfrm>
            <a:off x="658368" y="1938528"/>
            <a:ext cx="6364224" cy="411480"/>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Aptos" pitchFamily="34" charset="0"/>
                <a:ea typeface="Aptos" pitchFamily="34" charset="-122"/>
                <a:cs typeface="Aptos" pitchFamily="34" charset="-120"/>
              </a:rPr>
              <a:t>Source</a:t>
            </a:r>
            <a:endParaRPr lang="en-US" sz="1500" dirty="0"/>
          </a:p>
        </p:txBody>
      </p:sp>
      <p:sp>
        <p:nvSpPr>
          <p:cNvPr id="11" name="Shape 8"/>
          <p:cNvSpPr/>
          <p:nvPr/>
        </p:nvSpPr>
        <p:spPr>
          <a:xfrm>
            <a:off x="7132320" y="1828800"/>
            <a:ext cx="4480560" cy="548640"/>
          </a:xfrm>
          <a:prstGeom prst="rect">
            <a:avLst/>
          </a:prstGeom>
          <a:solidFill>
            <a:srgbClr val="112C39"/>
          </a:solidFill>
          <a:ln w="12700">
            <a:solidFill>
              <a:srgbClr val="FFFFFF"/>
            </a:solidFill>
            <a:prstDash val="solid"/>
          </a:ln>
        </p:spPr>
      </p:sp>
      <p:sp>
        <p:nvSpPr>
          <p:cNvPr id="12" name="Text 9"/>
          <p:cNvSpPr/>
          <p:nvPr/>
        </p:nvSpPr>
        <p:spPr>
          <a:xfrm>
            <a:off x="7242048" y="1938528"/>
            <a:ext cx="4261104" cy="411480"/>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Aptos" pitchFamily="34" charset="0"/>
                <a:ea typeface="Aptos" pitchFamily="34" charset="-122"/>
                <a:cs typeface="Aptos" pitchFamily="34" charset="-120"/>
              </a:rPr>
              <a:t>Read for</a:t>
            </a:r>
            <a:endParaRPr lang="en-US" sz="1500" dirty="0"/>
          </a:p>
        </p:txBody>
      </p:sp>
      <p:sp>
        <p:nvSpPr>
          <p:cNvPr id="13" name="Shape 10"/>
          <p:cNvSpPr/>
          <p:nvPr/>
        </p:nvSpPr>
        <p:spPr>
          <a:xfrm>
            <a:off x="548640" y="2377440"/>
            <a:ext cx="6583680" cy="548640"/>
          </a:xfrm>
          <a:prstGeom prst="rect">
            <a:avLst/>
          </a:prstGeom>
          <a:solidFill>
            <a:srgbClr val="EFF5F6"/>
          </a:solidFill>
          <a:ln w="6350">
            <a:solidFill>
              <a:srgbClr val="D9E3E6"/>
            </a:solidFill>
            <a:prstDash val="solid"/>
          </a:ln>
        </p:spPr>
      </p:sp>
      <p:sp>
        <p:nvSpPr>
          <p:cNvPr id="14" name="Text 11"/>
          <p:cNvSpPr/>
          <p:nvPr/>
        </p:nvSpPr>
        <p:spPr>
          <a:xfrm>
            <a:off x="658368" y="2478024"/>
            <a:ext cx="6364224" cy="393192"/>
          </a:xfrm>
          <a:prstGeom prst="rect">
            <a:avLst/>
          </a:prstGeom>
          <a:noFill/>
          <a:ln/>
        </p:spPr>
        <p:txBody>
          <a:bodyPr wrap="square" lIns="0" tIns="0" rIns="0" bIns="0" rtlCol="0" anchor="ctr">
            <a:normAutofit/>
          </a:bodyPr>
          <a:lstStyle/>
          <a:p>
            <a:pPr indent="0" marL="0">
              <a:buNone/>
            </a:pPr>
            <a:r>
              <a:rPr lang="en-US" sz="1500" dirty="0">
                <a:solidFill>
                  <a:srgbClr val="162733"/>
                </a:solidFill>
                <a:latin typeface="Aptos" pitchFamily="34" charset="0"/>
                <a:ea typeface="Aptos" pitchFamily="34" charset="-122"/>
                <a:cs typeface="Aptos" pitchFamily="34" charset="-120"/>
              </a:rPr>
              <a:t>NFL • uploaded 2205.11807v1.pdf</a:t>
            </a:r>
            <a:endParaRPr lang="en-US" sz="1500" dirty="0"/>
          </a:p>
        </p:txBody>
      </p:sp>
      <p:sp>
        <p:nvSpPr>
          <p:cNvPr id="15" name="Shape 12"/>
          <p:cNvSpPr/>
          <p:nvPr/>
        </p:nvSpPr>
        <p:spPr>
          <a:xfrm>
            <a:off x="7132320" y="2377440"/>
            <a:ext cx="4480560" cy="548640"/>
          </a:xfrm>
          <a:prstGeom prst="rect">
            <a:avLst/>
          </a:prstGeom>
          <a:solidFill>
            <a:srgbClr val="EFF5F6"/>
          </a:solidFill>
          <a:ln w="6350">
            <a:solidFill>
              <a:srgbClr val="D9E3E6"/>
            </a:solidFill>
            <a:prstDash val="solid"/>
          </a:ln>
        </p:spPr>
      </p:sp>
      <p:sp>
        <p:nvSpPr>
          <p:cNvPr id="16" name="Text 13"/>
          <p:cNvSpPr/>
          <p:nvPr/>
        </p:nvSpPr>
        <p:spPr>
          <a:xfrm>
            <a:off x="7242048" y="2478024"/>
            <a:ext cx="4261104" cy="393192"/>
          </a:xfrm>
          <a:prstGeom prst="rect">
            <a:avLst/>
          </a:prstGeom>
          <a:noFill/>
          <a:ln/>
        </p:spPr>
        <p:txBody>
          <a:bodyPr wrap="square" lIns="0" tIns="0" rIns="0" bIns="0" rtlCol="0" anchor="ctr">
            <a:normAutofit/>
          </a:bodyPr>
          <a:lstStyle/>
          <a:p>
            <a:pPr indent="0" marL="0">
              <a:buNone/>
            </a:pPr>
            <a:r>
              <a:rPr lang="en-US" sz="1500" dirty="0">
                <a:solidFill>
                  <a:srgbClr val="162733"/>
                </a:solidFill>
                <a:latin typeface="Aptos" pitchFamily="34" charset="0"/>
                <a:ea typeface="Aptos" pitchFamily="34" charset="-122"/>
                <a:cs typeface="Aptos" pitchFamily="34" charset="-120"/>
              </a:rPr>
              <a:t>Tables 1–2; batching and latency definitions</a:t>
            </a:r>
            <a:endParaRPr lang="en-US" sz="1500" dirty="0"/>
          </a:p>
        </p:txBody>
      </p:sp>
      <p:sp>
        <p:nvSpPr>
          <p:cNvPr id="17" name="Shape 14"/>
          <p:cNvSpPr/>
          <p:nvPr/>
        </p:nvSpPr>
        <p:spPr>
          <a:xfrm>
            <a:off x="548640" y="2926080"/>
            <a:ext cx="6583680" cy="548640"/>
          </a:xfrm>
          <a:prstGeom prst="rect">
            <a:avLst/>
          </a:prstGeom>
          <a:solidFill>
            <a:srgbClr val="FFFFFF"/>
          </a:solidFill>
          <a:ln w="6350">
            <a:solidFill>
              <a:srgbClr val="D9E3E6"/>
            </a:solidFill>
            <a:prstDash val="solid"/>
          </a:ln>
        </p:spPr>
      </p:sp>
      <p:sp>
        <p:nvSpPr>
          <p:cNvPr id="18" name="Text 15"/>
          <p:cNvSpPr/>
          <p:nvPr/>
        </p:nvSpPr>
        <p:spPr>
          <a:xfrm>
            <a:off x="658368" y="3026664"/>
            <a:ext cx="6364224" cy="393192"/>
          </a:xfrm>
          <a:prstGeom prst="rect">
            <a:avLst/>
          </a:prstGeom>
          <a:noFill/>
          <a:ln/>
        </p:spPr>
        <p:txBody>
          <a:bodyPr wrap="square" lIns="0" tIns="0" rIns="0" bIns="0" rtlCol="0" anchor="ctr">
            <a:normAutofit/>
          </a:bodyPr>
          <a:lstStyle/>
          <a:p>
            <a:pPr indent="0" marL="0">
              <a:buNone/>
            </a:pPr>
            <a:r>
              <a:rPr lang="en-US" sz="1500" dirty="0">
                <a:solidFill>
                  <a:srgbClr val="162733"/>
                </a:solidFill>
                <a:latin typeface="Aptos" pitchFamily="34" charset="0"/>
                <a:ea typeface="Aptos" pitchFamily="34" charset="-122"/>
                <a:cs typeface="Aptos" pitchFamily="34" charset="-120"/>
              </a:rPr>
              <a:t>CSV • uploaded 2408.06134v3.pdf</a:t>
            </a:r>
            <a:endParaRPr lang="en-US" sz="1500" dirty="0"/>
          </a:p>
        </p:txBody>
      </p:sp>
      <p:sp>
        <p:nvSpPr>
          <p:cNvPr id="19" name="Shape 16"/>
          <p:cNvSpPr/>
          <p:nvPr/>
        </p:nvSpPr>
        <p:spPr>
          <a:xfrm>
            <a:off x="7132320" y="2926080"/>
            <a:ext cx="4480560" cy="548640"/>
          </a:xfrm>
          <a:prstGeom prst="rect">
            <a:avLst/>
          </a:prstGeom>
          <a:solidFill>
            <a:srgbClr val="FFFFFF"/>
          </a:solidFill>
          <a:ln w="6350">
            <a:solidFill>
              <a:srgbClr val="D9E3E6"/>
            </a:solidFill>
            <a:prstDash val="solid"/>
          </a:ln>
        </p:spPr>
      </p:sp>
      <p:sp>
        <p:nvSpPr>
          <p:cNvPr id="20" name="Text 17"/>
          <p:cNvSpPr/>
          <p:nvPr/>
        </p:nvSpPr>
        <p:spPr>
          <a:xfrm>
            <a:off x="7242048" y="3026664"/>
            <a:ext cx="4261104" cy="393192"/>
          </a:xfrm>
          <a:prstGeom prst="rect">
            <a:avLst/>
          </a:prstGeom>
          <a:noFill/>
          <a:ln/>
        </p:spPr>
        <p:txBody>
          <a:bodyPr wrap="square" lIns="0" tIns="0" rIns="0" bIns="0" rtlCol="0" anchor="ctr">
            <a:normAutofit/>
          </a:bodyPr>
          <a:lstStyle/>
          <a:p>
            <a:pPr indent="0" marL="0">
              <a:buNone/>
            </a:pPr>
            <a:r>
              <a:rPr lang="en-US" sz="1500" dirty="0">
                <a:solidFill>
                  <a:srgbClr val="162733"/>
                </a:solidFill>
                <a:latin typeface="Aptos" pitchFamily="34" charset="0"/>
                <a:ea typeface="Aptos" pitchFamily="34" charset="-122"/>
                <a:cs typeface="Aptos" pitchFamily="34" charset="-120"/>
              </a:rPr>
              <a:t>Algorithms 1–2; promoted-key measurements</a:t>
            </a:r>
            <a:endParaRPr lang="en-US" sz="1500" dirty="0"/>
          </a:p>
        </p:txBody>
      </p:sp>
      <p:sp>
        <p:nvSpPr>
          <p:cNvPr id="21" name="Shape 18"/>
          <p:cNvSpPr/>
          <p:nvPr/>
        </p:nvSpPr>
        <p:spPr>
          <a:xfrm>
            <a:off x="548640" y="3474720"/>
            <a:ext cx="6583680" cy="548640"/>
          </a:xfrm>
          <a:prstGeom prst="rect">
            <a:avLst/>
          </a:prstGeom>
          <a:solidFill>
            <a:srgbClr val="EFF5F6"/>
          </a:solidFill>
          <a:ln w="6350">
            <a:solidFill>
              <a:srgbClr val="D9E3E6"/>
            </a:solidFill>
            <a:prstDash val="solid"/>
          </a:ln>
        </p:spPr>
      </p:sp>
      <p:sp>
        <p:nvSpPr>
          <p:cNvPr id="22" name="Text 19"/>
          <p:cNvSpPr/>
          <p:nvPr/>
        </p:nvSpPr>
        <p:spPr>
          <a:xfrm>
            <a:off x="658368" y="3575304"/>
            <a:ext cx="6364224" cy="393192"/>
          </a:xfrm>
          <a:prstGeom prst="rect">
            <a:avLst/>
          </a:prstGeom>
          <a:noFill/>
          <a:ln/>
        </p:spPr>
        <p:txBody>
          <a:bodyPr wrap="square" lIns="0" tIns="0" rIns="0" bIns="0" rtlCol="0" anchor="ctr">
            <a:normAutofit/>
          </a:bodyPr>
          <a:lstStyle/>
          <a:p>
            <a:pPr indent="0" marL="0">
              <a:buNone/>
            </a:pPr>
            <a:r>
              <a:rPr lang="en-US" sz="1500" dirty="0">
                <a:solidFill>
                  <a:srgbClr val="162733"/>
                </a:solidFill>
                <a:latin typeface="Aptos" pitchFamily="34" charset="0"/>
                <a:ea typeface="Aptos" pitchFamily="34" charset="-122"/>
                <a:cs typeface="Aptos" pitchFamily="34" charset="-120"/>
              </a:rPr>
              <a:t>Boffa et al. • ALENEX 2021</a:t>
            </a:r>
            <a:endParaRPr lang="en-US" sz="1500" dirty="0"/>
          </a:p>
        </p:txBody>
      </p:sp>
      <p:sp>
        <p:nvSpPr>
          <p:cNvPr id="23" name="Shape 20"/>
          <p:cNvSpPr/>
          <p:nvPr/>
        </p:nvSpPr>
        <p:spPr>
          <a:xfrm>
            <a:off x="7132320" y="3474720"/>
            <a:ext cx="4480560" cy="548640"/>
          </a:xfrm>
          <a:prstGeom prst="rect">
            <a:avLst/>
          </a:prstGeom>
          <a:solidFill>
            <a:srgbClr val="EFF5F6"/>
          </a:solidFill>
          <a:ln w="6350">
            <a:solidFill>
              <a:srgbClr val="D9E3E6"/>
            </a:solidFill>
            <a:prstDash val="solid"/>
          </a:ln>
        </p:spPr>
      </p:sp>
      <p:sp>
        <p:nvSpPr>
          <p:cNvPr id="24" name="Text 21"/>
          <p:cNvSpPr/>
          <p:nvPr/>
        </p:nvSpPr>
        <p:spPr>
          <a:xfrm>
            <a:off x="7242048" y="3575304"/>
            <a:ext cx="4261104" cy="393192"/>
          </a:xfrm>
          <a:prstGeom prst="rect">
            <a:avLst/>
          </a:prstGeom>
          <a:noFill/>
          <a:ln/>
        </p:spPr>
        <p:txBody>
          <a:bodyPr wrap="square" lIns="0" tIns="0" rIns="0" bIns="0" rtlCol="0" anchor="ctr">
            <a:normAutofit/>
          </a:bodyPr>
          <a:lstStyle/>
          <a:p>
            <a:pPr indent="0" marL="0">
              <a:buNone/>
            </a:pPr>
            <a:r>
              <a:rPr lang="en-US" sz="1500" dirty="0">
                <a:solidFill>
                  <a:srgbClr val="162733"/>
                </a:solidFill>
                <a:latin typeface="Aptos" pitchFamily="34" charset="0"/>
                <a:ea typeface="Aptos" pitchFamily="34" charset="-122"/>
                <a:cs typeface="Aptos" pitchFamily="34" charset="-120"/>
              </a:rPr>
              <a:t>LA-vector / learned compressed rank/select</a:t>
            </a:r>
            <a:endParaRPr lang="en-US" sz="1500" dirty="0"/>
          </a:p>
        </p:txBody>
      </p:sp>
      <p:sp>
        <p:nvSpPr>
          <p:cNvPr id="25" name="Shape 22"/>
          <p:cNvSpPr/>
          <p:nvPr/>
        </p:nvSpPr>
        <p:spPr>
          <a:xfrm>
            <a:off x="548640" y="4023360"/>
            <a:ext cx="6583680" cy="548640"/>
          </a:xfrm>
          <a:prstGeom prst="rect">
            <a:avLst/>
          </a:prstGeom>
          <a:solidFill>
            <a:srgbClr val="FFFFFF"/>
          </a:solidFill>
          <a:ln w="6350">
            <a:solidFill>
              <a:srgbClr val="D9E3E6"/>
            </a:solidFill>
            <a:prstDash val="solid"/>
          </a:ln>
        </p:spPr>
      </p:sp>
      <p:sp>
        <p:nvSpPr>
          <p:cNvPr id="26" name="Text 23"/>
          <p:cNvSpPr/>
          <p:nvPr/>
        </p:nvSpPr>
        <p:spPr>
          <a:xfrm>
            <a:off x="658368" y="4123944"/>
            <a:ext cx="6364224" cy="393192"/>
          </a:xfrm>
          <a:prstGeom prst="rect">
            <a:avLst/>
          </a:prstGeom>
          <a:noFill/>
          <a:ln/>
        </p:spPr>
        <p:txBody>
          <a:bodyPr wrap="square" lIns="0" tIns="0" rIns="0" bIns="0" rtlCol="0" anchor="ctr">
            <a:normAutofit/>
          </a:bodyPr>
          <a:lstStyle/>
          <a:p>
            <a:pPr indent="0" marL="0">
              <a:buNone/>
            </a:pPr>
            <a:r>
              <a:rPr lang="en-US" sz="1500" dirty="0">
                <a:solidFill>
                  <a:srgbClr val="162733"/>
                </a:solidFill>
                <a:latin typeface="Aptos" pitchFamily="34" charset="0"/>
                <a:ea typeface="Aptos" pitchFamily="34" charset="-122"/>
                <a:cs typeface="Aptos" pitchFamily="34" charset="-120"/>
              </a:rPr>
              <a:t>LeCo • SIGMOD 2024 • arXiv:2306.15374</a:t>
            </a:r>
            <a:endParaRPr lang="en-US" sz="1500" dirty="0"/>
          </a:p>
        </p:txBody>
      </p:sp>
      <p:sp>
        <p:nvSpPr>
          <p:cNvPr id="27" name="Shape 24"/>
          <p:cNvSpPr/>
          <p:nvPr/>
        </p:nvSpPr>
        <p:spPr>
          <a:xfrm>
            <a:off x="7132320" y="4023360"/>
            <a:ext cx="4480560" cy="548640"/>
          </a:xfrm>
          <a:prstGeom prst="rect">
            <a:avLst/>
          </a:prstGeom>
          <a:solidFill>
            <a:srgbClr val="FFFFFF"/>
          </a:solidFill>
          <a:ln w="6350">
            <a:solidFill>
              <a:srgbClr val="D9E3E6"/>
            </a:solidFill>
            <a:prstDash val="solid"/>
          </a:ln>
        </p:spPr>
      </p:sp>
      <p:sp>
        <p:nvSpPr>
          <p:cNvPr id="28" name="Text 25"/>
          <p:cNvSpPr/>
          <p:nvPr/>
        </p:nvSpPr>
        <p:spPr>
          <a:xfrm>
            <a:off x="7242048" y="4123944"/>
            <a:ext cx="4261104" cy="393192"/>
          </a:xfrm>
          <a:prstGeom prst="rect">
            <a:avLst/>
          </a:prstGeom>
          <a:noFill/>
          <a:ln/>
        </p:spPr>
        <p:txBody>
          <a:bodyPr wrap="square" lIns="0" tIns="0" rIns="0" bIns="0" rtlCol="0" anchor="ctr">
            <a:normAutofit/>
          </a:bodyPr>
          <a:lstStyle/>
          <a:p>
            <a:pPr indent="0" marL="0">
              <a:buNone/>
            </a:pPr>
            <a:r>
              <a:rPr lang="en-US" sz="1500" dirty="0">
                <a:solidFill>
                  <a:srgbClr val="162733"/>
                </a:solidFill>
                <a:latin typeface="Aptos" pitchFamily="34" charset="0"/>
                <a:ea typeface="Aptos" pitchFamily="34" charset="-122"/>
                <a:cs typeface="Aptos" pitchFamily="34" charset="-120"/>
              </a:rPr>
              <a:t>Serial correlations / random access</a:t>
            </a:r>
            <a:endParaRPr lang="en-US" sz="1500" dirty="0"/>
          </a:p>
        </p:txBody>
      </p:sp>
      <p:sp>
        <p:nvSpPr>
          <p:cNvPr id="29" name="Shape 26"/>
          <p:cNvSpPr/>
          <p:nvPr/>
        </p:nvSpPr>
        <p:spPr>
          <a:xfrm>
            <a:off x="548640" y="4572000"/>
            <a:ext cx="6583680" cy="548640"/>
          </a:xfrm>
          <a:prstGeom prst="rect">
            <a:avLst/>
          </a:prstGeom>
          <a:solidFill>
            <a:srgbClr val="EFF5F6"/>
          </a:solidFill>
          <a:ln w="6350">
            <a:solidFill>
              <a:srgbClr val="D9E3E6"/>
            </a:solidFill>
            <a:prstDash val="solid"/>
          </a:ln>
        </p:spPr>
      </p:sp>
      <p:sp>
        <p:nvSpPr>
          <p:cNvPr id="30" name="Text 27"/>
          <p:cNvSpPr/>
          <p:nvPr/>
        </p:nvSpPr>
        <p:spPr>
          <a:xfrm>
            <a:off x="658368" y="4672584"/>
            <a:ext cx="6364224" cy="393192"/>
          </a:xfrm>
          <a:prstGeom prst="rect">
            <a:avLst/>
          </a:prstGeom>
          <a:noFill/>
          <a:ln/>
        </p:spPr>
        <p:txBody>
          <a:bodyPr wrap="square" lIns="0" tIns="0" rIns="0" bIns="0" rtlCol="0" anchor="ctr">
            <a:normAutofit/>
          </a:bodyPr>
          <a:lstStyle/>
          <a:p>
            <a:pPr indent="0" marL="0">
              <a:buNone/>
            </a:pPr>
            <a:r>
              <a:rPr lang="en-US" sz="1500" dirty="0">
                <a:solidFill>
                  <a:srgbClr val="162733"/>
                </a:solidFill>
                <a:latin typeface="Aptos" pitchFamily="34" charset="0"/>
                <a:ea typeface="Aptos" pitchFamily="34" charset="-122"/>
                <a:cs typeface="Aptos" pitchFamily="34" charset="-120"/>
              </a:rPr>
              <a:t>SEA 2025 • doi:10.4230/LIPIcs.SEA.2025.5</a:t>
            </a:r>
            <a:endParaRPr lang="en-US" sz="1500" dirty="0"/>
          </a:p>
        </p:txBody>
      </p:sp>
      <p:sp>
        <p:nvSpPr>
          <p:cNvPr id="31" name="Shape 28"/>
          <p:cNvSpPr/>
          <p:nvPr/>
        </p:nvSpPr>
        <p:spPr>
          <a:xfrm>
            <a:off x="7132320" y="4572000"/>
            <a:ext cx="4480560" cy="548640"/>
          </a:xfrm>
          <a:prstGeom prst="rect">
            <a:avLst/>
          </a:prstGeom>
          <a:solidFill>
            <a:srgbClr val="EFF5F6"/>
          </a:solidFill>
          <a:ln w="6350">
            <a:solidFill>
              <a:srgbClr val="D9E3E6"/>
            </a:solidFill>
            <a:prstDash val="solid"/>
          </a:ln>
        </p:spPr>
      </p:sp>
      <p:sp>
        <p:nvSpPr>
          <p:cNvPr id="32" name="Text 29"/>
          <p:cNvSpPr/>
          <p:nvPr/>
        </p:nvSpPr>
        <p:spPr>
          <a:xfrm>
            <a:off x="7242048" y="4672584"/>
            <a:ext cx="4261104" cy="393192"/>
          </a:xfrm>
          <a:prstGeom prst="rect">
            <a:avLst/>
          </a:prstGeom>
          <a:noFill/>
          <a:ln/>
        </p:spPr>
        <p:txBody>
          <a:bodyPr wrap="square" lIns="0" tIns="0" rIns="0" bIns="0" rtlCol="0" anchor="ctr">
            <a:normAutofit/>
          </a:bodyPr>
          <a:lstStyle/>
          <a:p>
            <a:pPr indent="0" marL="0">
              <a:buNone/>
            </a:pPr>
            <a:r>
              <a:rPr lang="en-US" sz="1500" dirty="0">
                <a:solidFill>
                  <a:srgbClr val="162733"/>
                </a:solidFill>
                <a:latin typeface="Aptos" pitchFamily="34" charset="0"/>
                <a:ea typeface="Aptos" pitchFamily="34" charset="-122"/>
                <a:cs typeface="Aptos" pitchFamily="34" charset="-120"/>
              </a:rPr>
              <a:t>Strong static comparisons</a:t>
            </a:r>
            <a:endParaRPr lang="en-US" sz="1500" dirty="0"/>
          </a:p>
        </p:txBody>
      </p:sp>
      <p:sp>
        <p:nvSpPr>
          <p:cNvPr id="33" name="Shape 30"/>
          <p:cNvSpPr/>
          <p:nvPr/>
        </p:nvSpPr>
        <p:spPr>
          <a:xfrm>
            <a:off x="548640" y="5120640"/>
            <a:ext cx="6583680" cy="548640"/>
          </a:xfrm>
          <a:prstGeom prst="rect">
            <a:avLst/>
          </a:prstGeom>
          <a:solidFill>
            <a:srgbClr val="FFFFFF"/>
          </a:solidFill>
          <a:ln w="6350">
            <a:solidFill>
              <a:srgbClr val="D9E3E6"/>
            </a:solidFill>
            <a:prstDash val="solid"/>
          </a:ln>
        </p:spPr>
      </p:sp>
      <p:sp>
        <p:nvSpPr>
          <p:cNvPr id="34" name="Text 31"/>
          <p:cNvSpPr/>
          <p:nvPr/>
        </p:nvSpPr>
        <p:spPr>
          <a:xfrm>
            <a:off x="658368" y="5221224"/>
            <a:ext cx="6364224" cy="393192"/>
          </a:xfrm>
          <a:prstGeom prst="rect">
            <a:avLst/>
          </a:prstGeom>
          <a:noFill/>
          <a:ln/>
        </p:spPr>
        <p:txBody>
          <a:bodyPr wrap="square" lIns="0" tIns="0" rIns="0" bIns="0" rtlCol="0" anchor="ctr">
            <a:normAutofit/>
          </a:bodyPr>
          <a:lstStyle/>
          <a:p>
            <a:pPr indent="0" marL="0">
              <a:buNone/>
            </a:pPr>
            <a:r>
              <a:rPr lang="en-US" sz="1500" dirty="0">
                <a:solidFill>
                  <a:srgbClr val="162733"/>
                </a:solidFill>
                <a:latin typeface="Aptos" pitchFamily="34" charset="0"/>
                <a:ea typeface="Aptos" pitchFamily="34" charset="-122"/>
                <a:cs typeface="Aptos" pitchFamily="34" charset="-120"/>
              </a:rPr>
              <a:t>RoBin • doi:10.1145/3749188; LINE • 3802080</a:t>
            </a:r>
            <a:endParaRPr lang="en-US" sz="1500" dirty="0"/>
          </a:p>
        </p:txBody>
      </p:sp>
      <p:sp>
        <p:nvSpPr>
          <p:cNvPr id="35" name="Shape 32"/>
          <p:cNvSpPr/>
          <p:nvPr/>
        </p:nvSpPr>
        <p:spPr>
          <a:xfrm>
            <a:off x="7132320" y="5120640"/>
            <a:ext cx="4480560" cy="548640"/>
          </a:xfrm>
          <a:prstGeom prst="rect">
            <a:avLst/>
          </a:prstGeom>
          <a:solidFill>
            <a:srgbClr val="FFFFFF"/>
          </a:solidFill>
          <a:ln w="6350">
            <a:solidFill>
              <a:srgbClr val="D9E3E6"/>
            </a:solidFill>
            <a:prstDash val="solid"/>
          </a:ln>
        </p:spPr>
      </p:sp>
      <p:sp>
        <p:nvSpPr>
          <p:cNvPr id="36" name="Text 33"/>
          <p:cNvSpPr/>
          <p:nvPr/>
        </p:nvSpPr>
        <p:spPr>
          <a:xfrm>
            <a:off x="7242048" y="5221224"/>
            <a:ext cx="4261104" cy="393192"/>
          </a:xfrm>
          <a:prstGeom prst="rect">
            <a:avLst/>
          </a:prstGeom>
          <a:noFill/>
          <a:ln/>
        </p:spPr>
        <p:txBody>
          <a:bodyPr wrap="square" lIns="0" tIns="0" rIns="0" bIns="0" rtlCol="0" anchor="ctr">
            <a:normAutofit/>
          </a:bodyPr>
          <a:lstStyle/>
          <a:p>
            <a:pPr indent="0" marL="0">
              <a:buNone/>
            </a:pPr>
            <a:r>
              <a:rPr lang="en-US" sz="1500" dirty="0">
                <a:solidFill>
                  <a:srgbClr val="162733"/>
                </a:solidFill>
                <a:latin typeface="Aptos" pitchFamily="34" charset="0"/>
                <a:ea typeface="Aptos" pitchFamily="34" charset="-122"/>
                <a:cs typeface="Aptos" pitchFamily="34" charset="-120"/>
              </a:rPr>
              <a:t>Robustness / maintenance frontier</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Research meeting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Learned indexes: from positions to compressed layouts</dc:title>
  <dc:subject>History, reproducible mechanisms and baseline preparation</dc:subject>
  <dc:creator>SCALE-LI research walkthrough</dc:creator>
  <cp:lastModifiedBy>SCALE-LI research walkthrough</cp:lastModifiedBy>
  <cp:revision>1</cp:revision>
  <dcterms:created xsi:type="dcterms:W3CDTF">2026-09-07T23:49:59Z</dcterms:created>
  <dcterms:modified xsi:type="dcterms:W3CDTF">2026-09-07T23:49:59Z</dcterms:modified>
</cp:coreProperties>
</file>